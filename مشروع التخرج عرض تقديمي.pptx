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91" r:id="rId29"/>
    <p:sldId id="283" r:id="rId30"/>
    <p:sldId id="284" r:id="rId31"/>
    <p:sldId id="285" r:id="rId32"/>
    <p:sldId id="286" r:id="rId33"/>
    <p:sldId id="287" r:id="rId34"/>
    <p:sldId id="288" r:id="rId35"/>
    <p:sldId id="289" r:id="rId36"/>
    <p:sldId id="290" r:id="rId37"/>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530327-B6D0-41F5-A4A9-CC438EAB50F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 name="Untitled Section" id="{8365EE0C-A326-44B4-8706-12710AECA352}">
          <p14:sldIdLst>
            <p14:sldId id="277"/>
            <p14:sldId id="278"/>
            <p14:sldId id="279"/>
            <p14:sldId id="280"/>
            <p14:sldId id="281"/>
            <p14:sldId id="282"/>
            <p14:sldId id="291"/>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ADD05-2A7B-4B5F-B16E-FF574E18951F}" type="datetimeFigureOut">
              <a:rPr lang="en-US" smtClean="0"/>
              <a:t>4/25/2021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0A2B92-335E-4B94-825C-B3D17508BA2A}" type="slidenum">
              <a:rPr lang="en-US" smtClean="0"/>
              <a:t>‹#›</a:t>
            </a:fld>
            <a:endParaRPr lang="en-US"/>
          </a:p>
        </p:txBody>
      </p:sp>
    </p:spTree>
    <p:extLst>
      <p:ext uri="{BB962C8B-B14F-4D97-AF65-F5344CB8AC3E}">
        <p14:creationId xmlns:p14="http://schemas.microsoft.com/office/powerpoint/2010/main" val="3234286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0A2B92-335E-4B94-825C-B3D17508BA2A}" type="slidenum">
              <a:rPr lang="en-US" smtClean="0"/>
              <a:t>25</a:t>
            </a:fld>
            <a:endParaRPr lang="en-US"/>
          </a:p>
        </p:txBody>
      </p:sp>
    </p:spTree>
    <p:extLst>
      <p:ext uri="{BB962C8B-B14F-4D97-AF65-F5344CB8AC3E}">
        <p14:creationId xmlns:p14="http://schemas.microsoft.com/office/powerpoint/2010/main" val="556664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AC0A2B92-335E-4B94-825C-B3D17508BA2A}" type="slidenum">
              <a:rPr lang="en-US" smtClean="0"/>
              <a:t>27</a:t>
            </a:fld>
            <a:endParaRPr lang="en-US"/>
          </a:p>
        </p:txBody>
      </p:sp>
    </p:spTree>
    <p:extLst>
      <p:ext uri="{BB962C8B-B14F-4D97-AF65-F5344CB8AC3E}">
        <p14:creationId xmlns:p14="http://schemas.microsoft.com/office/powerpoint/2010/main" val="3960917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AC0A2B92-335E-4B94-825C-B3D17508BA2A}" type="slidenum">
              <a:rPr lang="en-US" smtClean="0"/>
              <a:t>33</a:t>
            </a:fld>
            <a:endParaRPr lang="en-US"/>
          </a:p>
        </p:txBody>
      </p:sp>
    </p:spTree>
    <p:extLst>
      <p:ext uri="{BB962C8B-B14F-4D97-AF65-F5344CB8AC3E}">
        <p14:creationId xmlns:p14="http://schemas.microsoft.com/office/powerpoint/2010/main" val="1738909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BCAE95E-514B-4B74-8FF2-DC6A6A0C334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endParaRPr lang="en-US"/>
          </a:p>
        </p:txBody>
      </p:sp>
      <p:sp>
        <p:nvSpPr>
          <p:cNvPr id="3" name="عنوان فرعي 2">
            <a:extLst>
              <a:ext uri="{FF2B5EF4-FFF2-40B4-BE49-F238E27FC236}">
                <a16:creationId xmlns:a16="http://schemas.microsoft.com/office/drawing/2014/main" id="{BB82C403-2DA4-45F1-9B8E-5C6977CDFA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en-US"/>
          </a:p>
        </p:txBody>
      </p:sp>
      <p:sp>
        <p:nvSpPr>
          <p:cNvPr id="4" name="عنصر نائب للتاريخ 3">
            <a:extLst>
              <a:ext uri="{FF2B5EF4-FFF2-40B4-BE49-F238E27FC236}">
                <a16:creationId xmlns:a16="http://schemas.microsoft.com/office/drawing/2014/main" id="{6561BE7F-5239-4537-96CA-E1823D88578E}"/>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5" name="عنصر نائب للتذييل 4">
            <a:extLst>
              <a:ext uri="{FF2B5EF4-FFF2-40B4-BE49-F238E27FC236}">
                <a16:creationId xmlns:a16="http://schemas.microsoft.com/office/drawing/2014/main" id="{92B2BD03-3F61-4E87-A363-30D08FEC45A6}"/>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74AEC21D-B6F9-46F6-A174-2C814AA21CA2}"/>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1691239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8329676-808C-432E-AC1A-B3454F9AA777}"/>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محتوى 2">
            <a:extLst>
              <a:ext uri="{FF2B5EF4-FFF2-40B4-BE49-F238E27FC236}">
                <a16:creationId xmlns:a16="http://schemas.microsoft.com/office/drawing/2014/main" id="{4A98F967-1019-4A86-81BE-D462116EA350}"/>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FA466B4D-9001-4172-B2DB-61907F9C1C40}"/>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5" name="عنصر نائب للتذييل 4">
            <a:extLst>
              <a:ext uri="{FF2B5EF4-FFF2-40B4-BE49-F238E27FC236}">
                <a16:creationId xmlns:a16="http://schemas.microsoft.com/office/drawing/2014/main" id="{6CCF2EA5-2967-4C31-8626-42E83E0DCBD1}"/>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62B82D7A-58C6-42ED-A644-3D62A7E41BA1}"/>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536761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CAD1BEE-731A-44B5-9134-12570D2B2E5A}"/>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endParaRPr lang="en-US"/>
          </a:p>
        </p:txBody>
      </p:sp>
      <p:sp>
        <p:nvSpPr>
          <p:cNvPr id="3" name="عنصر نائب للنص 2">
            <a:extLst>
              <a:ext uri="{FF2B5EF4-FFF2-40B4-BE49-F238E27FC236}">
                <a16:creationId xmlns:a16="http://schemas.microsoft.com/office/drawing/2014/main" id="{85D9A705-F5B5-4379-9747-ACEC789E92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55485ED5-0779-421F-A1B0-416C716CD260}"/>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5" name="عنصر نائب للتذييل 4">
            <a:extLst>
              <a:ext uri="{FF2B5EF4-FFF2-40B4-BE49-F238E27FC236}">
                <a16:creationId xmlns:a16="http://schemas.microsoft.com/office/drawing/2014/main" id="{27147182-F99A-4C65-B7C1-199A505147E0}"/>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E78DAFED-EBE2-4D10-88CD-E896A5139837}"/>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3639213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01B241-DC4F-4384-97FF-AFE5C0615607}"/>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محتوى 2">
            <a:extLst>
              <a:ext uri="{FF2B5EF4-FFF2-40B4-BE49-F238E27FC236}">
                <a16:creationId xmlns:a16="http://schemas.microsoft.com/office/drawing/2014/main" id="{C2F72ED6-9011-4D41-8C26-5E13B1061226}"/>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محتوى 3">
            <a:extLst>
              <a:ext uri="{FF2B5EF4-FFF2-40B4-BE49-F238E27FC236}">
                <a16:creationId xmlns:a16="http://schemas.microsoft.com/office/drawing/2014/main" id="{5AE873CE-27F6-4ED3-83C2-1F6C4F8D0981}"/>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5" name="عنصر نائب للتاريخ 4">
            <a:extLst>
              <a:ext uri="{FF2B5EF4-FFF2-40B4-BE49-F238E27FC236}">
                <a16:creationId xmlns:a16="http://schemas.microsoft.com/office/drawing/2014/main" id="{3CFE591B-51BA-466D-8D74-95CED0ED15C1}"/>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6" name="عنصر نائب للتذييل 5">
            <a:extLst>
              <a:ext uri="{FF2B5EF4-FFF2-40B4-BE49-F238E27FC236}">
                <a16:creationId xmlns:a16="http://schemas.microsoft.com/office/drawing/2014/main" id="{547A3C3F-96EC-4785-8BC6-1EC5E36D935A}"/>
              </a:ext>
            </a:extLst>
          </p:cNvPr>
          <p:cNvSpPr>
            <a:spLocks noGrp="1"/>
          </p:cNvSpPr>
          <p:nvPr>
            <p:ph type="ftr" sz="quarter" idx="11"/>
          </p:nvPr>
        </p:nvSpPr>
        <p:spPr/>
        <p:txBody>
          <a:bodyPr/>
          <a:lstStyle/>
          <a:p>
            <a:endParaRPr lang="en-US"/>
          </a:p>
        </p:txBody>
      </p:sp>
      <p:sp>
        <p:nvSpPr>
          <p:cNvPr id="7" name="عنصر نائب لرقم الشريحة 6">
            <a:extLst>
              <a:ext uri="{FF2B5EF4-FFF2-40B4-BE49-F238E27FC236}">
                <a16:creationId xmlns:a16="http://schemas.microsoft.com/office/drawing/2014/main" id="{9C66B31B-C9C5-472B-AC01-792D9F735281}"/>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394897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1B02DB6-FA66-48D0-91C5-A3CFF11F2A48}"/>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endParaRPr lang="en-US"/>
          </a:p>
        </p:txBody>
      </p:sp>
      <p:sp>
        <p:nvSpPr>
          <p:cNvPr id="3" name="عنصر نائب للنص 2">
            <a:extLst>
              <a:ext uri="{FF2B5EF4-FFF2-40B4-BE49-F238E27FC236}">
                <a16:creationId xmlns:a16="http://schemas.microsoft.com/office/drawing/2014/main" id="{B6FC3915-2042-4F81-8AEE-EFE9784FEB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F7EB5182-52DA-41D2-B751-DAB556DC1949}"/>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5" name="عنصر نائب للنص 4">
            <a:extLst>
              <a:ext uri="{FF2B5EF4-FFF2-40B4-BE49-F238E27FC236}">
                <a16:creationId xmlns:a16="http://schemas.microsoft.com/office/drawing/2014/main" id="{97488A13-25C0-4F7A-A1ED-3D72219383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F6A94CD2-F3AF-40E8-A9E8-E3E1C0929445}"/>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7" name="عنصر نائب للتاريخ 6">
            <a:extLst>
              <a:ext uri="{FF2B5EF4-FFF2-40B4-BE49-F238E27FC236}">
                <a16:creationId xmlns:a16="http://schemas.microsoft.com/office/drawing/2014/main" id="{13B87BB4-BC40-48D6-AF1E-785C3DD5FD1A}"/>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8" name="عنصر نائب للتذييل 7">
            <a:extLst>
              <a:ext uri="{FF2B5EF4-FFF2-40B4-BE49-F238E27FC236}">
                <a16:creationId xmlns:a16="http://schemas.microsoft.com/office/drawing/2014/main" id="{19DA3C56-C00B-45FE-ACFE-23F7B20B2DF2}"/>
              </a:ext>
            </a:extLst>
          </p:cNvPr>
          <p:cNvSpPr>
            <a:spLocks noGrp="1"/>
          </p:cNvSpPr>
          <p:nvPr>
            <p:ph type="ftr" sz="quarter" idx="11"/>
          </p:nvPr>
        </p:nvSpPr>
        <p:spPr/>
        <p:txBody>
          <a:bodyPr/>
          <a:lstStyle/>
          <a:p>
            <a:endParaRPr lang="en-US"/>
          </a:p>
        </p:txBody>
      </p:sp>
      <p:sp>
        <p:nvSpPr>
          <p:cNvPr id="9" name="عنصر نائب لرقم الشريحة 8">
            <a:extLst>
              <a:ext uri="{FF2B5EF4-FFF2-40B4-BE49-F238E27FC236}">
                <a16:creationId xmlns:a16="http://schemas.microsoft.com/office/drawing/2014/main" id="{A1C4851B-8738-468E-B0A5-7C0948082FF7}"/>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411484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346B08C-CBB9-47D1-847A-66DC923855D0}"/>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تاريخ 2">
            <a:extLst>
              <a:ext uri="{FF2B5EF4-FFF2-40B4-BE49-F238E27FC236}">
                <a16:creationId xmlns:a16="http://schemas.microsoft.com/office/drawing/2014/main" id="{B752BA3F-CD0C-40D1-B7BF-A755840FBCF9}"/>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4" name="عنصر نائب للتذييل 3">
            <a:extLst>
              <a:ext uri="{FF2B5EF4-FFF2-40B4-BE49-F238E27FC236}">
                <a16:creationId xmlns:a16="http://schemas.microsoft.com/office/drawing/2014/main" id="{3B992119-F8D7-4DAB-B861-71743B590C24}"/>
              </a:ext>
            </a:extLst>
          </p:cNvPr>
          <p:cNvSpPr>
            <a:spLocks noGrp="1"/>
          </p:cNvSpPr>
          <p:nvPr>
            <p:ph type="ftr" sz="quarter" idx="11"/>
          </p:nvPr>
        </p:nvSpPr>
        <p:spPr/>
        <p:txBody>
          <a:bodyPr/>
          <a:lstStyle/>
          <a:p>
            <a:endParaRPr lang="en-US"/>
          </a:p>
        </p:txBody>
      </p:sp>
      <p:sp>
        <p:nvSpPr>
          <p:cNvPr id="5" name="عنصر نائب لرقم الشريحة 4">
            <a:extLst>
              <a:ext uri="{FF2B5EF4-FFF2-40B4-BE49-F238E27FC236}">
                <a16:creationId xmlns:a16="http://schemas.microsoft.com/office/drawing/2014/main" id="{A6C7FE00-A9CC-4B63-927C-24C33A8DB2FA}"/>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1936538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703FD060-1032-4213-ADEF-EF83DB41BCED}"/>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3" name="عنصر نائب للتذييل 2">
            <a:extLst>
              <a:ext uri="{FF2B5EF4-FFF2-40B4-BE49-F238E27FC236}">
                <a16:creationId xmlns:a16="http://schemas.microsoft.com/office/drawing/2014/main" id="{4D94C320-EA98-4DF4-94FC-B7FDEEA4DAE0}"/>
              </a:ext>
            </a:extLst>
          </p:cNvPr>
          <p:cNvSpPr>
            <a:spLocks noGrp="1"/>
          </p:cNvSpPr>
          <p:nvPr>
            <p:ph type="ftr" sz="quarter" idx="11"/>
          </p:nvPr>
        </p:nvSpPr>
        <p:spPr/>
        <p:txBody>
          <a:bodyPr/>
          <a:lstStyle/>
          <a:p>
            <a:endParaRPr lang="en-US"/>
          </a:p>
        </p:txBody>
      </p:sp>
      <p:sp>
        <p:nvSpPr>
          <p:cNvPr id="4" name="عنصر نائب لرقم الشريحة 3">
            <a:extLst>
              <a:ext uri="{FF2B5EF4-FFF2-40B4-BE49-F238E27FC236}">
                <a16:creationId xmlns:a16="http://schemas.microsoft.com/office/drawing/2014/main" id="{658CC4E3-8526-417D-B5AB-FA598E93D854}"/>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169200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55E30C7-C7FF-45A2-80CB-E1A157901F29}"/>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a:p>
        </p:txBody>
      </p:sp>
      <p:sp>
        <p:nvSpPr>
          <p:cNvPr id="3" name="عنصر نائب للمحتوى 2">
            <a:extLst>
              <a:ext uri="{FF2B5EF4-FFF2-40B4-BE49-F238E27FC236}">
                <a16:creationId xmlns:a16="http://schemas.microsoft.com/office/drawing/2014/main" id="{C9309DB7-508B-4545-968D-6277F34865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نص 3">
            <a:extLst>
              <a:ext uri="{FF2B5EF4-FFF2-40B4-BE49-F238E27FC236}">
                <a16:creationId xmlns:a16="http://schemas.microsoft.com/office/drawing/2014/main" id="{387362DA-B8EB-46B8-AEA8-BB303981EA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7FE0D4EF-2396-4541-9A14-A8F292918C01}"/>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6" name="عنصر نائب للتذييل 5">
            <a:extLst>
              <a:ext uri="{FF2B5EF4-FFF2-40B4-BE49-F238E27FC236}">
                <a16:creationId xmlns:a16="http://schemas.microsoft.com/office/drawing/2014/main" id="{2CC8EB0A-A0B4-4B92-BF00-C394489B549A}"/>
              </a:ext>
            </a:extLst>
          </p:cNvPr>
          <p:cNvSpPr>
            <a:spLocks noGrp="1"/>
          </p:cNvSpPr>
          <p:nvPr>
            <p:ph type="ftr" sz="quarter" idx="11"/>
          </p:nvPr>
        </p:nvSpPr>
        <p:spPr/>
        <p:txBody>
          <a:bodyPr/>
          <a:lstStyle/>
          <a:p>
            <a:endParaRPr lang="en-US"/>
          </a:p>
        </p:txBody>
      </p:sp>
      <p:sp>
        <p:nvSpPr>
          <p:cNvPr id="7" name="عنصر نائب لرقم الشريحة 6">
            <a:extLst>
              <a:ext uri="{FF2B5EF4-FFF2-40B4-BE49-F238E27FC236}">
                <a16:creationId xmlns:a16="http://schemas.microsoft.com/office/drawing/2014/main" id="{B734ABAD-76BB-4C09-9ABF-EABC57EAEF67}"/>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390104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EC36BB2-B648-476F-BF8A-3B9020637727}"/>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a:p>
        </p:txBody>
      </p:sp>
      <p:sp>
        <p:nvSpPr>
          <p:cNvPr id="3" name="عنصر نائب للصورة 2">
            <a:extLst>
              <a:ext uri="{FF2B5EF4-FFF2-40B4-BE49-F238E27FC236}">
                <a16:creationId xmlns:a16="http://schemas.microsoft.com/office/drawing/2014/main" id="{519BB6BF-B39E-4C88-A011-48C42E4299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عنصر نائب للنص 3">
            <a:extLst>
              <a:ext uri="{FF2B5EF4-FFF2-40B4-BE49-F238E27FC236}">
                <a16:creationId xmlns:a16="http://schemas.microsoft.com/office/drawing/2014/main" id="{9995CC8D-852C-49DF-B5F8-C1ADE27859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FD71723E-5865-4D6E-BFCB-6BBBFE9183A3}"/>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6" name="عنصر نائب للتذييل 5">
            <a:extLst>
              <a:ext uri="{FF2B5EF4-FFF2-40B4-BE49-F238E27FC236}">
                <a16:creationId xmlns:a16="http://schemas.microsoft.com/office/drawing/2014/main" id="{E028A21A-5A93-4DC2-873C-A1C6D149B329}"/>
              </a:ext>
            </a:extLst>
          </p:cNvPr>
          <p:cNvSpPr>
            <a:spLocks noGrp="1"/>
          </p:cNvSpPr>
          <p:nvPr>
            <p:ph type="ftr" sz="quarter" idx="11"/>
          </p:nvPr>
        </p:nvSpPr>
        <p:spPr/>
        <p:txBody>
          <a:bodyPr/>
          <a:lstStyle/>
          <a:p>
            <a:endParaRPr lang="en-US"/>
          </a:p>
        </p:txBody>
      </p:sp>
      <p:sp>
        <p:nvSpPr>
          <p:cNvPr id="7" name="عنصر نائب لرقم الشريحة 6">
            <a:extLst>
              <a:ext uri="{FF2B5EF4-FFF2-40B4-BE49-F238E27FC236}">
                <a16:creationId xmlns:a16="http://schemas.microsoft.com/office/drawing/2014/main" id="{1301CA6F-E9D5-4290-ADCF-0B77063924E7}"/>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3126163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86F6089-2D2E-49D4-BECB-54C4D58065C2}"/>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عنوان العمودي 2">
            <a:extLst>
              <a:ext uri="{FF2B5EF4-FFF2-40B4-BE49-F238E27FC236}">
                <a16:creationId xmlns:a16="http://schemas.microsoft.com/office/drawing/2014/main" id="{62F84014-B172-4E1A-A6AD-DDCB555701A1}"/>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71EDB56F-2FDF-41B8-80B2-4110050BA99D}"/>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5" name="عنصر نائب للتذييل 4">
            <a:extLst>
              <a:ext uri="{FF2B5EF4-FFF2-40B4-BE49-F238E27FC236}">
                <a16:creationId xmlns:a16="http://schemas.microsoft.com/office/drawing/2014/main" id="{2F951FBF-F5A3-4B5A-8C6E-FEB639ADB649}"/>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7A3E8122-708C-4F32-873D-49CC6D613FEF}"/>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3802096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901DBFC2-82C0-4439-B18B-CED432705CB7}"/>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endParaRPr lang="en-US"/>
          </a:p>
        </p:txBody>
      </p:sp>
      <p:sp>
        <p:nvSpPr>
          <p:cNvPr id="3" name="عنصر نائب للعنوان العمودي 2">
            <a:extLst>
              <a:ext uri="{FF2B5EF4-FFF2-40B4-BE49-F238E27FC236}">
                <a16:creationId xmlns:a16="http://schemas.microsoft.com/office/drawing/2014/main" id="{D59B5F54-6872-495A-AD34-5EECFC985484}"/>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27F499FA-C6FD-433B-A1A1-527D590B5F50}"/>
              </a:ext>
            </a:extLst>
          </p:cNvPr>
          <p:cNvSpPr>
            <a:spLocks noGrp="1"/>
          </p:cNvSpPr>
          <p:nvPr>
            <p:ph type="dt" sz="half" idx="10"/>
          </p:nvPr>
        </p:nvSpPr>
        <p:spPr/>
        <p:txBody>
          <a:bodyPr/>
          <a:lstStyle/>
          <a:p>
            <a:fld id="{0BEA722E-8CC3-49E1-B737-32681737D129}" type="datetimeFigureOut">
              <a:rPr lang="en-US" smtClean="0"/>
              <a:t>4/25/2021</a:t>
            </a:fld>
            <a:endParaRPr lang="en-US"/>
          </a:p>
        </p:txBody>
      </p:sp>
      <p:sp>
        <p:nvSpPr>
          <p:cNvPr id="5" name="عنصر نائب للتذييل 4">
            <a:extLst>
              <a:ext uri="{FF2B5EF4-FFF2-40B4-BE49-F238E27FC236}">
                <a16:creationId xmlns:a16="http://schemas.microsoft.com/office/drawing/2014/main" id="{E93749B9-D32F-44E7-A1B2-CA36FDCF38E2}"/>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6F628E36-37EF-4600-8210-11FFE7272C84}"/>
              </a:ext>
            </a:extLst>
          </p:cNvPr>
          <p:cNvSpPr>
            <a:spLocks noGrp="1"/>
          </p:cNvSpPr>
          <p:nvPr>
            <p:ph type="sldNum" sz="quarter" idx="12"/>
          </p:nvPr>
        </p:nvSpPr>
        <p:spPr/>
        <p:txBody>
          <a:bodyPr/>
          <a:lstStyle/>
          <a:p>
            <a:fld id="{B7CF5207-3E12-4EA7-A5C4-F34A4DC80E92}" type="slidenum">
              <a:rPr lang="en-US" smtClean="0"/>
              <a:t>‹#›</a:t>
            </a:fld>
            <a:endParaRPr lang="en-US"/>
          </a:p>
        </p:txBody>
      </p:sp>
    </p:spTree>
    <p:extLst>
      <p:ext uri="{BB962C8B-B14F-4D97-AF65-F5344CB8AC3E}">
        <p14:creationId xmlns:p14="http://schemas.microsoft.com/office/powerpoint/2010/main" val="2571734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D2D7E7FB-4799-4083-8DFF-1003F9DCF895}"/>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endParaRPr lang="en-US"/>
          </a:p>
        </p:txBody>
      </p:sp>
      <p:sp>
        <p:nvSpPr>
          <p:cNvPr id="3" name="عنصر نائب للنص 2">
            <a:extLst>
              <a:ext uri="{FF2B5EF4-FFF2-40B4-BE49-F238E27FC236}">
                <a16:creationId xmlns:a16="http://schemas.microsoft.com/office/drawing/2014/main" id="{D5BAE7EB-7635-408F-9BA6-B2663D231B76}"/>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3879410C-42CC-4DC5-9B0E-3C4E2D85F85D}"/>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0BEA722E-8CC3-49E1-B737-32681737D129}" type="datetimeFigureOut">
              <a:rPr lang="en-US" smtClean="0"/>
              <a:t>4/25/2021</a:t>
            </a:fld>
            <a:endParaRPr lang="en-US"/>
          </a:p>
        </p:txBody>
      </p:sp>
      <p:sp>
        <p:nvSpPr>
          <p:cNvPr id="5" name="عنصر نائب للتذييل 4">
            <a:extLst>
              <a:ext uri="{FF2B5EF4-FFF2-40B4-BE49-F238E27FC236}">
                <a16:creationId xmlns:a16="http://schemas.microsoft.com/office/drawing/2014/main" id="{A4C14DB5-2D3A-4E47-8D14-F460871F3C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p>
        </p:txBody>
      </p:sp>
      <p:sp>
        <p:nvSpPr>
          <p:cNvPr id="6" name="عنصر نائب لرقم الشريحة 5">
            <a:extLst>
              <a:ext uri="{FF2B5EF4-FFF2-40B4-BE49-F238E27FC236}">
                <a16:creationId xmlns:a16="http://schemas.microsoft.com/office/drawing/2014/main" id="{65EC0CD9-EF98-4E4F-93C0-1B78FB0B86E7}"/>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B7CF5207-3E12-4EA7-A5C4-F34A4DC80E92}" type="slidenum">
              <a:rPr lang="en-US" smtClean="0"/>
              <a:t>‹#›</a:t>
            </a:fld>
            <a:endParaRPr lang="en-US"/>
          </a:p>
        </p:txBody>
      </p:sp>
    </p:spTree>
    <p:extLst>
      <p:ext uri="{BB962C8B-B14F-4D97-AF65-F5344CB8AC3E}">
        <p14:creationId xmlns:p14="http://schemas.microsoft.com/office/powerpoint/2010/main" val="1380387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www.netacad.com/portal/learning" TargetMode="External"/><Relationship Id="rId2" Type="http://schemas.openxmlformats.org/officeDocument/2006/relationships/hyperlink" Target="https://www.netacad.com/portal/web/self-enroll/m/course-349581"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225DB2A-BD7C-414A-AAAA-565F0E788F00}"/>
              </a:ext>
            </a:extLst>
          </p:cNvPr>
          <p:cNvSpPr>
            <a:spLocks noGrp="1"/>
          </p:cNvSpPr>
          <p:nvPr>
            <p:ph type="ctrTitle"/>
          </p:nvPr>
        </p:nvSpPr>
        <p:spPr>
          <a:xfrm>
            <a:off x="4776633" y="176981"/>
            <a:ext cx="2290916" cy="1460090"/>
          </a:xfrm>
        </p:spPr>
        <p:txBody>
          <a:bodyPr>
            <a:noAutofit/>
          </a:bodyPr>
          <a:lstStyle/>
          <a:p>
            <a:pPr algn="r"/>
            <a:br>
              <a:rPr lang="en-US" sz="1800" dirty="0">
                <a:latin typeface="Calibri" panose="020F0502020204030204" pitchFamily="34" charset="0"/>
                <a:ea typeface="Times New Roman" panose="02020603050405020304" pitchFamily="18" charset="0"/>
                <a:cs typeface="Times New Roman" panose="02020603050405020304" pitchFamily="18" charset="0"/>
              </a:rPr>
            </a:br>
            <a:br>
              <a:rPr lang="en-US" sz="1800" b="1" dirty="0">
                <a:latin typeface="Times New Roman" panose="02020603050405020304" pitchFamily="18" charset="0"/>
                <a:ea typeface="Times New Roman" panose="02020603050405020304" pitchFamily="18" charset="0"/>
              </a:rPr>
            </a:br>
            <a:r>
              <a:rPr lang="ar-SA" sz="1800" b="1" dirty="0">
                <a:latin typeface="Calibri" panose="020F0502020204030204" pitchFamily="34" charset="0"/>
                <a:ea typeface="Times New Roman" panose="02020603050405020304" pitchFamily="18" charset="0"/>
              </a:rPr>
              <a:t>العلوم الطبيعية التطبيقية</a:t>
            </a:r>
            <a:br>
              <a:rPr lang="en-US" sz="1800" dirty="0">
                <a:latin typeface="Calibri" panose="020F0502020204030204" pitchFamily="34" charset="0"/>
                <a:ea typeface="Times New Roman" panose="02020603050405020304" pitchFamily="18" charset="0"/>
                <a:cs typeface="Times New Roman" panose="02020603050405020304" pitchFamily="18" charset="0"/>
              </a:rPr>
            </a:br>
            <a:r>
              <a:rPr lang="ar-SA" sz="1800" b="1" dirty="0">
                <a:latin typeface="Calibri" panose="020F0502020204030204" pitchFamily="34" charset="0"/>
                <a:ea typeface="Times New Roman" panose="02020603050405020304" pitchFamily="18" charset="0"/>
              </a:rPr>
              <a:t>برنامج الأمن السيبراني </a:t>
            </a:r>
            <a:br>
              <a:rPr lang="en-US" sz="1800" dirty="0">
                <a:latin typeface="Calibri" panose="020F0502020204030204" pitchFamily="34" charset="0"/>
                <a:ea typeface="Times New Roman" panose="02020603050405020304" pitchFamily="18" charset="0"/>
                <a:cs typeface="Times New Roman" panose="02020603050405020304" pitchFamily="18" charset="0"/>
              </a:rPr>
            </a:br>
            <a:endParaRPr lang="en-US" sz="5400" dirty="0"/>
          </a:p>
        </p:txBody>
      </p:sp>
      <p:sp>
        <p:nvSpPr>
          <p:cNvPr id="3" name="عنوان فرعي 2">
            <a:extLst>
              <a:ext uri="{FF2B5EF4-FFF2-40B4-BE49-F238E27FC236}">
                <a16:creationId xmlns:a16="http://schemas.microsoft.com/office/drawing/2014/main" id="{5B7555E4-CD64-4A76-9A36-B42522000628}"/>
              </a:ext>
            </a:extLst>
          </p:cNvPr>
          <p:cNvSpPr>
            <a:spLocks noGrp="1"/>
          </p:cNvSpPr>
          <p:nvPr>
            <p:ph type="subTitle" idx="1"/>
          </p:nvPr>
        </p:nvSpPr>
        <p:spPr>
          <a:xfrm>
            <a:off x="10054739" y="163250"/>
            <a:ext cx="2916322" cy="838690"/>
          </a:xfrm>
        </p:spPr>
        <p:txBody>
          <a:bodyPr>
            <a:noAutofit/>
          </a:bodyPr>
          <a:lstStyle/>
          <a:p>
            <a:pPr marL="783590" marR="260985" rtl="1">
              <a:lnSpc>
                <a:spcPct val="87000"/>
              </a:lnSpc>
              <a:spcBef>
                <a:spcPts val="585"/>
              </a:spcBef>
              <a:spcAft>
                <a:spcPts val="0"/>
              </a:spcAft>
            </a:pPr>
            <a:r>
              <a:rPr lang="ar-SA" sz="1600" b="1" dirty="0">
                <a:effectLst/>
                <a:latin typeface="Calibri" panose="020F0502020204030204" pitchFamily="34" charset="0"/>
                <a:ea typeface="Times New Roman" panose="02020603050405020304" pitchFamily="18" charset="0"/>
                <a:cs typeface="+mj-cs"/>
              </a:rPr>
              <a:t>المملكة العربية السعودية جامعة القصيم</a:t>
            </a:r>
            <a:endParaRPr lang="en-US" sz="1600" b="1" dirty="0">
              <a:effectLst/>
              <a:latin typeface="Calibri" panose="020F0502020204030204" pitchFamily="34" charset="0"/>
              <a:ea typeface="Times New Roman" panose="02020603050405020304" pitchFamily="18" charset="0"/>
              <a:cs typeface="+mj-cs"/>
            </a:endParaRPr>
          </a:p>
          <a:p>
            <a:pPr marL="783590" marR="260985" rtl="1">
              <a:lnSpc>
                <a:spcPct val="87000"/>
              </a:lnSpc>
              <a:spcBef>
                <a:spcPts val="585"/>
              </a:spcBef>
              <a:spcAft>
                <a:spcPts val="0"/>
              </a:spcAft>
            </a:pPr>
            <a:r>
              <a:rPr lang="ar-SA" sz="1600" b="1" dirty="0">
                <a:effectLst/>
                <a:latin typeface="Calibri" panose="020F0502020204030204" pitchFamily="34" charset="0"/>
                <a:ea typeface="Times New Roman" panose="02020603050405020304" pitchFamily="18" charset="0"/>
                <a:cs typeface="+mj-cs"/>
              </a:rPr>
              <a:t>كلية المجتمع بعنيزة</a:t>
            </a:r>
            <a:endParaRPr lang="en-US" sz="1600" b="1" dirty="0">
              <a:effectLst/>
              <a:latin typeface="Calibri" panose="020F0502020204030204" pitchFamily="34" charset="0"/>
              <a:ea typeface="Times New Roman" panose="02020603050405020304" pitchFamily="18" charset="0"/>
              <a:cs typeface="+mj-cs"/>
            </a:endParaRPr>
          </a:p>
          <a:p>
            <a:endParaRPr lang="en-US" sz="1600" b="1" dirty="0">
              <a:cs typeface="+mj-cs"/>
            </a:endParaRPr>
          </a:p>
        </p:txBody>
      </p:sp>
      <p:pic>
        <p:nvPicPr>
          <p:cNvPr id="4" name="صورة 3">
            <a:extLst>
              <a:ext uri="{FF2B5EF4-FFF2-40B4-BE49-F238E27FC236}">
                <a16:creationId xmlns:a16="http://schemas.microsoft.com/office/drawing/2014/main" id="{58CC1A37-E6EE-456C-A4FD-A04E2A12BCF2}"/>
              </a:ext>
            </a:extLst>
          </p:cNvPr>
          <p:cNvPicPr>
            <a:picLocks noChangeAspect="1"/>
          </p:cNvPicPr>
          <p:nvPr/>
        </p:nvPicPr>
        <p:blipFill>
          <a:blip r:embed="rId2"/>
          <a:stretch>
            <a:fillRect/>
          </a:stretch>
        </p:blipFill>
        <p:spPr>
          <a:xfrm>
            <a:off x="0" y="0"/>
            <a:ext cx="2566416" cy="6854627"/>
          </a:xfrm>
          <a:prstGeom prst="rect">
            <a:avLst/>
          </a:prstGeom>
        </p:spPr>
      </p:pic>
      <p:pic>
        <p:nvPicPr>
          <p:cNvPr id="5" name="صورة 4">
            <a:extLst>
              <a:ext uri="{FF2B5EF4-FFF2-40B4-BE49-F238E27FC236}">
                <a16:creationId xmlns:a16="http://schemas.microsoft.com/office/drawing/2014/main" id="{3AD6DD2B-5714-4B10-B005-BB8AF098CE2D}"/>
              </a:ext>
            </a:extLst>
          </p:cNvPr>
          <p:cNvPicPr>
            <a:picLocks noChangeAspect="1"/>
          </p:cNvPicPr>
          <p:nvPr/>
        </p:nvPicPr>
        <p:blipFill>
          <a:blip r:embed="rId3"/>
          <a:stretch>
            <a:fillRect/>
          </a:stretch>
        </p:blipFill>
        <p:spPr>
          <a:xfrm>
            <a:off x="426646" y="163250"/>
            <a:ext cx="1713124" cy="743776"/>
          </a:xfrm>
          <a:prstGeom prst="rect">
            <a:avLst/>
          </a:prstGeom>
        </p:spPr>
      </p:pic>
      <p:sp>
        <p:nvSpPr>
          <p:cNvPr id="9" name="مربع نص 8">
            <a:extLst>
              <a:ext uri="{FF2B5EF4-FFF2-40B4-BE49-F238E27FC236}">
                <a16:creationId xmlns:a16="http://schemas.microsoft.com/office/drawing/2014/main" id="{FA944779-DDA4-4D97-8D10-111C725C9D76}"/>
              </a:ext>
            </a:extLst>
          </p:cNvPr>
          <p:cNvSpPr txBox="1"/>
          <p:nvPr/>
        </p:nvSpPr>
        <p:spPr>
          <a:xfrm>
            <a:off x="4265355" y="1623340"/>
            <a:ext cx="3661287" cy="461665"/>
          </a:xfrm>
          <a:prstGeom prst="rect">
            <a:avLst/>
          </a:prstGeom>
          <a:noFill/>
        </p:spPr>
        <p:txBody>
          <a:bodyPr wrap="square">
            <a:spAutoFit/>
          </a:bodyPr>
          <a:lstStyle/>
          <a:p>
            <a:pPr algn="ctr" rtl="1"/>
            <a:r>
              <a:rPr lang="ar-SA" sz="2400" b="1" dirty="0">
                <a:solidFill>
                  <a:schemeClr val="accent1">
                    <a:lumMod val="50000"/>
                  </a:schemeClr>
                </a:solidFill>
                <a:effectLst/>
                <a:latin typeface="Arial" panose="020B0604020202020204" pitchFamily="34" charset="0"/>
                <a:ea typeface="Arial" panose="020B0604020202020204" pitchFamily="34" charset="0"/>
                <a:cs typeface="Times New Roman" panose="02020603050405020304" pitchFamily="18" charset="0"/>
              </a:rPr>
              <a:t>تأمين الشبكات</a:t>
            </a:r>
            <a:endParaRPr lang="en-US" dirty="0">
              <a:solidFill>
                <a:schemeClr val="accent1">
                  <a:lumMod val="50000"/>
                </a:schemeClr>
              </a:solidFill>
              <a:effectLst/>
              <a:latin typeface="Arial" panose="020B0604020202020204" pitchFamily="34" charset="0"/>
              <a:ea typeface="Arial" panose="020B0604020202020204" pitchFamily="34" charset="0"/>
            </a:endParaRPr>
          </a:p>
        </p:txBody>
      </p:sp>
      <p:graphicFrame>
        <p:nvGraphicFramePr>
          <p:cNvPr id="11" name="جدول 10">
            <a:extLst>
              <a:ext uri="{FF2B5EF4-FFF2-40B4-BE49-F238E27FC236}">
                <a16:creationId xmlns:a16="http://schemas.microsoft.com/office/drawing/2014/main" id="{9D06B51B-B8A6-49C6-B85D-7B7E4F98A2DF}"/>
              </a:ext>
            </a:extLst>
          </p:cNvPr>
          <p:cNvGraphicFramePr>
            <a:graphicFrameLocks noGrp="1"/>
          </p:cNvGraphicFramePr>
          <p:nvPr>
            <p:extLst>
              <p:ext uri="{D42A27DB-BD31-4B8C-83A1-F6EECF244321}">
                <p14:modId xmlns:p14="http://schemas.microsoft.com/office/powerpoint/2010/main" val="1580324344"/>
              </p:ext>
            </p:extLst>
          </p:nvPr>
        </p:nvGraphicFramePr>
        <p:xfrm>
          <a:off x="4873424" y="3470920"/>
          <a:ext cx="2282190" cy="996950"/>
        </p:xfrm>
        <a:graphic>
          <a:graphicData uri="http://schemas.openxmlformats.org/drawingml/2006/table">
            <a:tbl>
              <a:tblPr rtl="1" firstRow="1" firstCol="1" bandRow="1"/>
              <a:tblGrid>
                <a:gridCol w="2282190">
                  <a:extLst>
                    <a:ext uri="{9D8B030D-6E8A-4147-A177-3AD203B41FA5}">
                      <a16:colId xmlns:a16="http://schemas.microsoft.com/office/drawing/2014/main" val="2270448830"/>
                    </a:ext>
                  </a:extLst>
                </a:gridCol>
              </a:tblGrid>
              <a:tr h="254000">
                <a:tc>
                  <a:txBody>
                    <a:bodyPr/>
                    <a:lstStyle/>
                    <a:p>
                      <a:pPr algn="ctr" rtl="1"/>
                      <a:r>
                        <a:rPr lang="ar-SA" sz="1400" b="1" dirty="0">
                          <a:effectLst/>
                          <a:latin typeface="Arial" panose="020B0604020202020204" pitchFamily="34" charset="0"/>
                          <a:ea typeface="Arial" panose="020B0604020202020204" pitchFamily="34" charset="0"/>
                          <a:cs typeface="Times New Roman" panose="02020603050405020304" pitchFamily="18" charset="0"/>
                        </a:rPr>
                        <a:t>علي المطيري</a:t>
                      </a:r>
                      <a:endParaRPr lang="en-US"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7855491"/>
                  </a:ext>
                </a:extLst>
              </a:tr>
              <a:tr h="244475">
                <a:tc>
                  <a:txBody>
                    <a:bodyPr/>
                    <a:lstStyle/>
                    <a:p>
                      <a:pPr algn="ctr" rtl="1"/>
                      <a:r>
                        <a:rPr lang="ar-SA" sz="1400" b="1" dirty="0">
                          <a:effectLst/>
                          <a:latin typeface="Arial" panose="020B0604020202020204" pitchFamily="34" charset="0"/>
                          <a:ea typeface="Arial" panose="020B0604020202020204" pitchFamily="34" charset="0"/>
                          <a:cs typeface="Times New Roman" panose="02020603050405020304" pitchFamily="18" charset="0"/>
                        </a:rPr>
                        <a:t>مشاري الحربي</a:t>
                      </a:r>
                      <a:endParaRPr lang="en-US"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4370446"/>
                  </a:ext>
                </a:extLst>
              </a:tr>
              <a:tr h="254000">
                <a:tc>
                  <a:txBody>
                    <a:bodyPr/>
                    <a:lstStyle/>
                    <a:p>
                      <a:pPr algn="ctr" rtl="1"/>
                      <a:r>
                        <a:rPr lang="ar-SA" sz="1400" b="1" dirty="0">
                          <a:effectLst/>
                          <a:latin typeface="Arial" panose="020B0604020202020204" pitchFamily="34" charset="0"/>
                          <a:ea typeface="Arial" panose="020B0604020202020204" pitchFamily="34" charset="0"/>
                          <a:cs typeface="Times New Roman" panose="02020603050405020304" pitchFamily="18" charset="0"/>
                        </a:rPr>
                        <a:t>عمر الريس</a:t>
                      </a:r>
                      <a:endParaRPr lang="en-US"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0522782"/>
                  </a:ext>
                </a:extLst>
              </a:tr>
              <a:tr h="244475">
                <a:tc>
                  <a:txBody>
                    <a:bodyPr/>
                    <a:lstStyle/>
                    <a:p>
                      <a:pPr algn="ctr" rtl="1"/>
                      <a:r>
                        <a:rPr lang="ar-SA" sz="1400" b="1" dirty="0">
                          <a:effectLst/>
                          <a:latin typeface="Arial" panose="020B0604020202020204" pitchFamily="34" charset="0"/>
                          <a:ea typeface="Arial" panose="020B0604020202020204" pitchFamily="34" charset="0"/>
                          <a:cs typeface="Times New Roman" panose="02020603050405020304" pitchFamily="18" charset="0"/>
                        </a:rPr>
                        <a:t>ياسر الحربي</a:t>
                      </a:r>
                      <a:endParaRPr lang="en-US"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9101299"/>
                  </a:ext>
                </a:extLst>
              </a:tr>
            </a:tbl>
          </a:graphicData>
        </a:graphic>
      </p:graphicFrame>
      <p:sp>
        <p:nvSpPr>
          <p:cNvPr id="14" name="مربع نص 13">
            <a:extLst>
              <a:ext uri="{FF2B5EF4-FFF2-40B4-BE49-F238E27FC236}">
                <a16:creationId xmlns:a16="http://schemas.microsoft.com/office/drawing/2014/main" id="{AA308F5F-2331-4A86-8868-B395855D9CFF}"/>
              </a:ext>
            </a:extLst>
          </p:cNvPr>
          <p:cNvSpPr txBox="1"/>
          <p:nvPr/>
        </p:nvSpPr>
        <p:spPr>
          <a:xfrm>
            <a:off x="5128420" y="2934899"/>
            <a:ext cx="1587341" cy="369332"/>
          </a:xfrm>
          <a:prstGeom prst="rect">
            <a:avLst/>
          </a:prstGeom>
          <a:noFill/>
        </p:spPr>
        <p:txBody>
          <a:bodyPr wrap="square">
            <a:spAutoFit/>
          </a:bodyPr>
          <a:lstStyle/>
          <a:p>
            <a:r>
              <a:rPr lang="ar-AE" b="1" dirty="0"/>
              <a:t>المقدمة من قبل :</a:t>
            </a:r>
          </a:p>
        </p:txBody>
      </p:sp>
      <p:sp>
        <p:nvSpPr>
          <p:cNvPr id="16" name="مربع نص 15">
            <a:extLst>
              <a:ext uri="{FF2B5EF4-FFF2-40B4-BE49-F238E27FC236}">
                <a16:creationId xmlns:a16="http://schemas.microsoft.com/office/drawing/2014/main" id="{72A49E98-F18C-4980-84C6-D58145015C59}"/>
              </a:ext>
            </a:extLst>
          </p:cNvPr>
          <p:cNvSpPr txBox="1"/>
          <p:nvPr/>
        </p:nvSpPr>
        <p:spPr>
          <a:xfrm>
            <a:off x="4950542" y="5049994"/>
            <a:ext cx="1943099" cy="338554"/>
          </a:xfrm>
          <a:prstGeom prst="rect">
            <a:avLst/>
          </a:prstGeom>
          <a:noFill/>
        </p:spPr>
        <p:txBody>
          <a:bodyPr wrap="square">
            <a:spAutoFit/>
          </a:bodyPr>
          <a:lstStyle/>
          <a:p>
            <a:r>
              <a:rPr lang="ar-AE" sz="1600" b="1" dirty="0"/>
              <a:t>بإشراف ( د.علي علام ) </a:t>
            </a:r>
            <a:endParaRPr lang="en-US" sz="1600" b="1" dirty="0"/>
          </a:p>
        </p:txBody>
      </p:sp>
    </p:spTree>
    <p:extLst>
      <p:ext uri="{BB962C8B-B14F-4D97-AF65-F5344CB8AC3E}">
        <p14:creationId xmlns:p14="http://schemas.microsoft.com/office/powerpoint/2010/main" val="2729640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6873B66C-20FA-4BB3-8F97-0942569D603B}"/>
              </a:ext>
            </a:extLst>
          </p:cNvPr>
          <p:cNvSpPr txBox="1"/>
          <p:nvPr/>
        </p:nvSpPr>
        <p:spPr>
          <a:xfrm>
            <a:off x="474133" y="169254"/>
            <a:ext cx="9664477" cy="5878532"/>
          </a:xfrm>
          <a:prstGeom prst="rect">
            <a:avLst/>
          </a:prstGeom>
          <a:noFill/>
        </p:spPr>
        <p:txBody>
          <a:bodyPr wrap="square">
            <a:spAutoFit/>
          </a:bodyPr>
          <a:lstStyle/>
          <a:p>
            <a:pPr algn="ctr" rtl="1"/>
            <a:r>
              <a:rPr lang="ar-SA" b="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rtl="1"/>
            <a:r>
              <a:rPr lang="ar-SA" b="1" dirty="0">
                <a:effectLst/>
                <a:latin typeface="Calibri" panose="020F0502020204030204" pitchFamily="34" charset="0"/>
                <a:ea typeface="Times New Roman" panose="02020603050405020304" pitchFamily="18" charset="0"/>
                <a:cs typeface="Times New Roman" panose="02020603050405020304" pitchFamily="18" charset="0"/>
              </a:rPr>
              <a:t> </a:t>
            </a:r>
            <a:endParaRPr lang="ar-SA" sz="1600" dirty="0">
              <a:latin typeface="Calibri" panose="020F0502020204030204" pitchFamily="34" charset="0"/>
              <a:ea typeface="Times New Roman" panose="02020603050405020304" pitchFamily="18" charset="0"/>
              <a:cs typeface="Times New Roman" panose="02020603050405020304" pitchFamily="18" charset="0"/>
            </a:endParaRPr>
          </a:p>
          <a:p>
            <a:pPr algn="ctr" rtl="1"/>
            <a:r>
              <a:rPr lang="ar-SA" sz="2800" b="1" dirty="0">
                <a:effectLst/>
                <a:latin typeface="Calibri" panose="020F0502020204030204" pitchFamily="34" charset="0"/>
                <a:ea typeface="Times New Roman" panose="02020603050405020304" pitchFamily="18" charset="0"/>
                <a:cs typeface="Times New Roman" panose="02020603050405020304" pitchFamily="18" charset="0"/>
              </a:rPr>
              <a:t>فهرس الموضوعات</a:t>
            </a:r>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a:p>
            <a:pPr algn="ct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rtl="1"/>
            <a:r>
              <a:rPr lang="ar-SA"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dirty="0">
                <a:effectLst/>
                <a:latin typeface="Calibri" panose="020F0502020204030204" pitchFamily="34" charset="0"/>
                <a:ea typeface="Times New Roman" panose="02020603050405020304" pitchFamily="18" charset="0"/>
                <a:cs typeface="Times New Roman" panose="02020603050405020304" pitchFamily="18" charset="0"/>
              </a:rPr>
              <a:t>مقدمة ........................................................................................</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ar-SA" sz="2400" dirty="0">
                <a:effectLst/>
                <a:latin typeface="Calibri" panose="020F0502020204030204" pitchFamily="34" charset="0"/>
                <a:ea typeface="Times New Roman" panose="02020603050405020304" pitchFamily="18" charset="0"/>
                <a:cs typeface="Times New Roman" panose="02020603050405020304" pitchFamily="18" charset="0"/>
              </a:rPr>
              <a:t>.... 3</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dirty="0">
                <a:effectLst/>
                <a:latin typeface="Calibri" panose="020F0502020204030204" pitchFamily="34" charset="0"/>
                <a:ea typeface="Times New Roman" panose="02020603050405020304" pitchFamily="18" charset="0"/>
                <a:cs typeface="Times New Roman" panose="02020603050405020304" pitchFamily="18" charset="0"/>
              </a:rPr>
              <a:t>الفصل الاول ...........................................................................</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ar-SA" sz="2400" dirty="0">
                <a:effectLst/>
                <a:latin typeface="Calibri" panose="020F0502020204030204" pitchFamily="34" charset="0"/>
                <a:ea typeface="Times New Roman" panose="02020603050405020304" pitchFamily="18" charset="0"/>
                <a:cs typeface="Times New Roman" panose="02020603050405020304" pitchFamily="18" charset="0"/>
              </a:rPr>
              <a:t>......... 4</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dirty="0">
                <a:effectLst/>
                <a:latin typeface="Calibri" panose="020F0502020204030204" pitchFamily="34" charset="0"/>
                <a:ea typeface="Times New Roman" panose="02020603050405020304" pitchFamily="18" charset="0"/>
                <a:cs typeface="Times New Roman" panose="02020603050405020304" pitchFamily="18" charset="0"/>
              </a:rPr>
              <a:t>الفصل الثاني ............................................................................</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ar-SA"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ar-SA" sz="2400" dirty="0">
                <a:effectLst/>
                <a:latin typeface="Calibri" panose="020F0502020204030204" pitchFamily="34" charset="0"/>
                <a:ea typeface="Times New Roman" panose="02020603050405020304" pitchFamily="18" charset="0"/>
                <a:cs typeface="Times New Roman" panose="02020603050405020304" pitchFamily="18" charset="0"/>
              </a:rPr>
              <a:t>. 1</a:t>
            </a:r>
            <a:r>
              <a:rPr lang="ar-SA" sz="2400" dirty="0">
                <a:latin typeface="Calibri" panose="020F0502020204030204" pitchFamily="34" charset="0"/>
                <a:ea typeface="Times New Roman" panose="02020603050405020304" pitchFamily="18" charset="0"/>
                <a:cs typeface="Times New Roman" panose="02020603050405020304" pitchFamily="18" charset="0"/>
              </a:rPr>
              <a:t>3</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dirty="0">
                <a:effectLst/>
                <a:latin typeface="Calibri" panose="020F0502020204030204" pitchFamily="34" charset="0"/>
                <a:ea typeface="Times New Roman" panose="02020603050405020304" pitchFamily="18" charset="0"/>
                <a:cs typeface="Times New Roman" panose="02020603050405020304" pitchFamily="18" charset="0"/>
              </a:rPr>
              <a:t>الفصل الثالث ......................................................................</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ar-SA" sz="2400" dirty="0">
                <a:effectLst/>
                <a:latin typeface="Calibri" panose="020F0502020204030204" pitchFamily="34" charset="0"/>
                <a:ea typeface="Times New Roman" panose="02020603050405020304" pitchFamily="18" charset="0"/>
                <a:cs typeface="Times New Roman" panose="02020603050405020304" pitchFamily="18" charset="0"/>
              </a:rPr>
              <a:t>............. 23</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dirty="0">
                <a:effectLst/>
                <a:latin typeface="Calibri" panose="020F0502020204030204" pitchFamily="34" charset="0"/>
                <a:ea typeface="Times New Roman" panose="02020603050405020304" pitchFamily="18" charset="0"/>
                <a:cs typeface="Times New Roman" panose="02020603050405020304" pitchFamily="18" charset="0"/>
              </a:rPr>
              <a:t>الفصل الرابع .............................................................................</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ar-SA"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ar-SA" sz="20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r>
              <a:rPr lang="ar-SA" sz="2000" dirty="0">
                <a:effectLst/>
                <a:latin typeface="Calibri" panose="020F0502020204030204" pitchFamily="34" charset="0"/>
                <a:ea typeface="Times New Roman" panose="02020603050405020304" pitchFamily="18" charset="0"/>
                <a:cs typeface="Times New Roman" panose="02020603050405020304" pitchFamily="18" charset="0"/>
              </a:rPr>
              <a:t> </a:t>
            </a:r>
            <a:r>
              <a:rPr lang="ar-SA" sz="2400" dirty="0">
                <a:effectLst/>
                <a:latin typeface="Calibri" panose="020F0502020204030204" pitchFamily="34" charset="0"/>
                <a:ea typeface="Times New Roman" panose="02020603050405020304" pitchFamily="18" charset="0"/>
                <a:cs typeface="Times New Roman" panose="02020603050405020304" pitchFamily="18" charset="0"/>
              </a:rPr>
              <a:t>35</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000" dirty="0">
                <a:effectLst/>
                <a:latin typeface="Calibri" panose="020F0502020204030204" pitchFamily="34" charset="0"/>
                <a:ea typeface="Times New Roman" panose="02020603050405020304" pitchFamily="18" charset="0"/>
                <a:cs typeface="Times New Roman" panose="02020603050405020304" pitchFamily="18" charset="0"/>
              </a:rPr>
              <a:t> </a:t>
            </a:r>
            <a:r>
              <a:rPr lang="ar-SA" b="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3640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F6003B-198D-4418-80A0-CA257B08A3CF}"/>
              </a:ext>
            </a:extLst>
          </p:cNvPr>
          <p:cNvSpPr>
            <a:spLocks noChangeArrowheads="1"/>
          </p:cNvSpPr>
          <p:nvPr/>
        </p:nvSpPr>
        <p:spPr bwMode="auto">
          <a:xfrm>
            <a:off x="0" y="6400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مربع نص 3">
            <a:extLst>
              <a:ext uri="{FF2B5EF4-FFF2-40B4-BE49-F238E27FC236}">
                <a16:creationId xmlns:a16="http://schemas.microsoft.com/office/drawing/2014/main" id="{6B0C53D4-89BB-4489-A64A-D6D19480BC90}"/>
              </a:ext>
            </a:extLst>
          </p:cNvPr>
          <p:cNvSpPr txBox="1"/>
          <p:nvPr/>
        </p:nvSpPr>
        <p:spPr>
          <a:xfrm>
            <a:off x="0" y="191521"/>
            <a:ext cx="12191999" cy="1015663"/>
          </a:xfrm>
          <a:prstGeom prst="rect">
            <a:avLst/>
          </a:prstGeom>
          <a:noFill/>
        </p:spPr>
        <p:txBody>
          <a:bodyPr wrap="square">
            <a:spAutoFit/>
          </a:bodyPr>
          <a:lstStyle/>
          <a:p>
            <a:pPr algn="r" rtl="1"/>
            <a:r>
              <a:rPr lang="ar-SA" sz="2400" b="1" dirty="0">
                <a:effectLst/>
                <a:latin typeface="Calibri" panose="020F0502020204030204" pitchFamily="34" charset="0"/>
                <a:ea typeface="Times New Roman" panose="02020603050405020304" pitchFamily="18" charset="0"/>
                <a:cs typeface="Times New Roman" panose="02020603050405020304" pitchFamily="18" charset="0"/>
              </a:rPr>
              <a:t>ما هي الشبكة؟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تتكون الشبكة من جهازي كمبيوتر أو أكثر متصلين من أجل مشاركة الموارد (مثل الطابعات والأقراص المدمجة) أو تبادل الملفات أو السماح بالاتصالات الإلكترونية. ويمكن ربط أجهزة الكمبيوتر الموجودة على الشبكة من خلال الكابلات أو خطوط الهاتف أو موجات الراديو أو الأقمار الصناعية أو أشعة اوالأشعة تحت الحمراء.</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مربع نص 5">
            <a:extLst>
              <a:ext uri="{FF2B5EF4-FFF2-40B4-BE49-F238E27FC236}">
                <a16:creationId xmlns:a16="http://schemas.microsoft.com/office/drawing/2014/main" id="{4E0E9ABE-E72E-4DDC-BDB8-0C427B1251EF}"/>
              </a:ext>
            </a:extLst>
          </p:cNvPr>
          <p:cNvSpPr txBox="1"/>
          <p:nvPr/>
        </p:nvSpPr>
        <p:spPr>
          <a:xfrm>
            <a:off x="0" y="1163084"/>
            <a:ext cx="12192000" cy="1661993"/>
          </a:xfrm>
          <a:prstGeom prst="rect">
            <a:avLst/>
          </a:prstGeom>
          <a:noFill/>
        </p:spPr>
        <p:txBody>
          <a:bodyPr wrap="square">
            <a:spAutoFit/>
          </a:bodyPr>
          <a:lstStyle/>
          <a:p>
            <a:pPr algn="r" rtl="1"/>
            <a:endParaRPr lang="en-US" sz="24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b="1" dirty="0">
                <a:effectLst/>
                <a:latin typeface="Calibri" panose="020F0502020204030204" pitchFamily="34" charset="0"/>
                <a:ea typeface="Times New Roman" panose="02020603050405020304" pitchFamily="18" charset="0"/>
                <a:cs typeface="Times New Roman" panose="02020603050405020304" pitchFamily="18" charset="0"/>
              </a:rPr>
              <a:t>ما هي أهمية الشبكة بالنسبة لنا ولمجتمعنا؟</a:t>
            </a:r>
            <a:endParaRPr lang="en-US" sz="16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يمكن أن تكون شبكتك حيوية لنجاحك المهني. يمنحك الرابط القوي والواسع نظرة ثاقبة بالإضافة إلى معلومات داخلية حول فرص العمل والحركة داخل الشركة. في هذه الأيام ، أصبحت وسائل التواصل الاجتماعي بسهولة أكثر من مرة علاقاتك الحالية وكذلك اتصالاتك الجديدة ، في مفهوم مجتمع الشبكة ، وهذا هو الشكل الرئيسي للسلطة. وذلك لأن التواصل مع الشبكات ضروري لقوة بعض الفئات الاجتماعية لفرض قيمها وأهدافها على المجتمع</a:t>
            </a:r>
            <a:r>
              <a:rPr lang="en-US" b="1" dirty="0">
                <a:latin typeface="Calibri" panose="020F0502020204030204" pitchFamily="34" charset="0"/>
                <a:ea typeface="Times New Roman" panose="02020603050405020304" pitchFamily="18" charset="0"/>
                <a:cs typeface="Times New Roman" panose="02020603050405020304" pitchFamily="18" charset="0"/>
              </a:rPr>
              <a:t>.</a:t>
            </a:r>
          </a:p>
        </p:txBody>
      </p:sp>
      <p:sp>
        <p:nvSpPr>
          <p:cNvPr id="8" name="مربع نص 7">
            <a:extLst>
              <a:ext uri="{FF2B5EF4-FFF2-40B4-BE49-F238E27FC236}">
                <a16:creationId xmlns:a16="http://schemas.microsoft.com/office/drawing/2014/main" id="{7C7A5C69-B4E9-481D-BDAF-5103ED2E5CC1}"/>
              </a:ext>
            </a:extLst>
          </p:cNvPr>
          <p:cNvSpPr txBox="1"/>
          <p:nvPr/>
        </p:nvSpPr>
        <p:spPr>
          <a:xfrm>
            <a:off x="0" y="2355792"/>
            <a:ext cx="12192000" cy="2031325"/>
          </a:xfrm>
          <a:prstGeom prst="rect">
            <a:avLst/>
          </a:prstGeom>
          <a:noFill/>
        </p:spPr>
        <p:txBody>
          <a:bodyPr wrap="square">
            <a:spAutoFit/>
          </a:bodyPr>
          <a:lstStyle/>
          <a:p>
            <a:pPr algn="r" rtl="1"/>
            <a:endParaRPr lang="en-US" sz="24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sz="24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b="1" dirty="0">
                <a:effectLst/>
                <a:latin typeface="Calibri" panose="020F0502020204030204" pitchFamily="34" charset="0"/>
                <a:ea typeface="Times New Roman" panose="02020603050405020304" pitchFamily="18" charset="0"/>
                <a:cs typeface="Times New Roman" panose="02020603050405020304" pitchFamily="18" charset="0"/>
              </a:rPr>
              <a:t>ما هو هجوم الشبكة والتهديدات الأمنية؟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هجوم الشبكة هو محاولة للحصول على وصول غير مصرح به إلى شبكة مؤسسة بقصد سرقة البيانات أو تنفيذ أنشطة ضارة أخرى ، وأكثر تهديدات أمان الشبكة شيوعًا هي فيروسات الكمبيوتر ، والديدان ، وأحصنة طروادة ، وهجوم حقن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SQL</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 ، وهجوم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DOS</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 ، و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DDOS </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Rootkit</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 ، برامج الأمان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Rogue</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 ، التصيد الاحتيالي وبرامج التجسس</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مربع نص 9">
            <a:extLst>
              <a:ext uri="{FF2B5EF4-FFF2-40B4-BE49-F238E27FC236}">
                <a16:creationId xmlns:a16="http://schemas.microsoft.com/office/drawing/2014/main" id="{612BCDD4-F34E-4C46-A4A4-9AB2801EFBEB}"/>
              </a:ext>
            </a:extLst>
          </p:cNvPr>
          <p:cNvSpPr txBox="1"/>
          <p:nvPr/>
        </p:nvSpPr>
        <p:spPr>
          <a:xfrm>
            <a:off x="0" y="4146263"/>
            <a:ext cx="12191998" cy="1661993"/>
          </a:xfrm>
          <a:prstGeom prst="rect">
            <a:avLst/>
          </a:prstGeom>
          <a:noFill/>
        </p:spPr>
        <p:txBody>
          <a:bodyPr wrap="square">
            <a:spAutoFit/>
          </a:bodyPr>
          <a:lstStyle/>
          <a:p>
            <a:pPr algn="r" rtl="1"/>
            <a:endParaRPr lang="en-US" sz="24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400" b="1" dirty="0">
                <a:effectLst/>
                <a:latin typeface="Calibri" panose="020F0502020204030204" pitchFamily="34" charset="0"/>
                <a:ea typeface="Times New Roman" panose="02020603050405020304" pitchFamily="18" charset="0"/>
                <a:cs typeface="Times New Roman" panose="02020603050405020304" pitchFamily="18" charset="0"/>
              </a:rPr>
              <a:t>ما هو أمن الشبكة؟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يعد أمان الشبكة أمرًا حيويًا في حماية بيانات ومعلومات العميل ، والحفاظ على أمان البيانات المشتركة وضمان الوصول الموثوق وأداء الشبكة بالإضافة إلى الحماية من التهديدات السيبرانية. يعمل حل أمان الشبكة المصمم جيدًا على تقليل النفقات العامة وحماية المؤسسات من الخسائر المكلفة التي تحدث من خرق البيانات أو أي حادث أمني آخر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2" name="مربع نص 11">
            <a:extLst>
              <a:ext uri="{FF2B5EF4-FFF2-40B4-BE49-F238E27FC236}">
                <a16:creationId xmlns:a16="http://schemas.microsoft.com/office/drawing/2014/main" id="{137CC1E3-38D8-476A-963E-F97023B300CF}"/>
              </a:ext>
            </a:extLst>
          </p:cNvPr>
          <p:cNvSpPr txBox="1"/>
          <p:nvPr/>
        </p:nvSpPr>
        <p:spPr>
          <a:xfrm>
            <a:off x="-368970" y="6031437"/>
            <a:ext cx="12192002" cy="369332"/>
          </a:xfrm>
          <a:prstGeom prst="rect">
            <a:avLst/>
          </a:prstGeom>
          <a:noFill/>
        </p:spPr>
        <p:txBody>
          <a:bodyPr wrap="square">
            <a:spAutoFit/>
          </a:bodyPr>
          <a:lstStyle/>
          <a:p>
            <a:pPr algn="just" rtl="1"/>
            <a:r>
              <a:rPr lang="ar-SA" sz="1800" b="1" u="sng" dirty="0">
                <a:effectLst/>
                <a:latin typeface="Calibri" panose="020F0502020204030204" pitchFamily="34" charset="0"/>
                <a:ea typeface="Times New Roman" panose="02020603050405020304" pitchFamily="18" charset="0"/>
                <a:cs typeface="Times New Roman" panose="02020603050405020304" pitchFamily="18" charset="0"/>
              </a:rPr>
              <a:t>و في هاذا المشروع تم شرح طرق تهيأت الاجهزة و إعداد الشبكة بها من توزيع العناوين و تأمين الشبكات و حماية الشبكة من الهجمات الداخلية والخارجية</a:t>
            </a:r>
            <a:endParaRPr lang="en-US" sz="1600" u="sng"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5569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مربع نص 6">
            <a:extLst>
              <a:ext uri="{FF2B5EF4-FFF2-40B4-BE49-F238E27FC236}">
                <a16:creationId xmlns:a16="http://schemas.microsoft.com/office/drawing/2014/main" id="{EF5EF05B-8290-4E91-8819-FA03CBC0E7D8}"/>
              </a:ext>
            </a:extLst>
          </p:cNvPr>
          <p:cNvSpPr txBox="1"/>
          <p:nvPr/>
        </p:nvSpPr>
        <p:spPr>
          <a:xfrm>
            <a:off x="0" y="1015489"/>
            <a:ext cx="12192000" cy="3064044"/>
          </a:xfrm>
          <a:prstGeom prst="rect">
            <a:avLst/>
          </a:prstGeom>
          <a:noFill/>
        </p:spPr>
        <p:txBody>
          <a:bodyPr wrap="square">
            <a:spAutoFit/>
          </a:bodyPr>
          <a:lstStyle/>
          <a:p>
            <a:pP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 تعريف الشبكات</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هي نظام لربط جهازين أو أكثر باستخدام إحدى تقنيات نظم الاتصالات من أجل تبادل المعلومات والموارد والبيانات بينها المتاحة للشبكة مثل الآلة الطابعة أو البرامج التطبيقية أياً كان نوعها وكذلك تسمح بالتواصل المباشر بين المستخدمين</a:t>
            </a:r>
            <a:r>
              <a:rPr lang="ar-SA"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endParaRPr lang="en-US" sz="20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ما لذي سوف يقدم بهذا الفصل</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endParaRPr lang="en-US" sz="2000" b="1"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r" rtl="1">
              <a:lnSpc>
                <a:spcPct val="107000"/>
              </a:lnSpc>
              <a:spcAft>
                <a:spcPts val="800"/>
              </a:spcAft>
              <a:buFont typeface="+mj-lt"/>
              <a:buAutoNum type="arabicPeriod"/>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تعريف الشبكات</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r" rtl="1">
              <a:lnSpc>
                <a:spcPct val="107000"/>
              </a:lnSpc>
              <a:spcAft>
                <a:spcPts val="800"/>
              </a:spcAft>
              <a:buFont typeface="+mj-lt"/>
              <a:buAutoNum type="arabicPeriod"/>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مكونات الشبكات</a:t>
            </a:r>
            <a:endPar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r" rtl="1">
              <a:lnSpc>
                <a:spcPct val="107000"/>
              </a:lnSpc>
              <a:spcAft>
                <a:spcPts val="800"/>
              </a:spcAft>
              <a:buFont typeface="+mj-lt"/>
              <a:buAutoNum type="arabicPeriod"/>
            </a:pPr>
            <a:r>
              <a:rPr lang="ar-SA"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9" name="مربع نص 8">
            <a:extLst>
              <a:ext uri="{FF2B5EF4-FFF2-40B4-BE49-F238E27FC236}">
                <a16:creationId xmlns:a16="http://schemas.microsoft.com/office/drawing/2014/main" id="{C24805B7-4F13-481C-BE9D-F4449CF51878}"/>
              </a:ext>
            </a:extLst>
          </p:cNvPr>
          <p:cNvSpPr txBox="1"/>
          <p:nvPr/>
        </p:nvSpPr>
        <p:spPr>
          <a:xfrm>
            <a:off x="0" y="3543696"/>
            <a:ext cx="12192000" cy="2677656"/>
          </a:xfrm>
          <a:prstGeom prst="rect">
            <a:avLst/>
          </a:prstGeom>
          <a:noFill/>
        </p:spPr>
        <p:txBody>
          <a:bodyPr wrap="square">
            <a:spAutoFit/>
          </a:bodyPr>
          <a:lstStyle/>
          <a:p>
            <a:pPr algn="r" rtl="1"/>
            <a:endParaRPr lang="en-US" sz="20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ar-SA" sz="20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الشبكات تواصلنا</a:t>
            </a:r>
          </a:p>
          <a:p>
            <a:pPr algn="just" rtl="1"/>
            <a:endParaRPr lang="ar-SA" dirty="0">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ومن بين جميع أساسيات الوجود البشري، فإن الحاجة إلى التفاعل مع الآخرين تقل قليلا عن حاجتنا إلى الحفاظ على الحياة. الاتصالات تكاد تكون مهمة بالنسبة لنا مثل اعتمادنا على الهواء والماء والغذاء والمأوى</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في عالم اليوم، من خلال استخدام الشبكات، نحن متصلون بشكل لم يسبق له مثيل. يمكن للأشخاص الذين لهم أفكار التواصل على الفور مع الآخرين لجعل تلك الأفكار حقيقة واقعة. الأحداث الإخبارية والاكتشافات معروفة في جميع أنحاء العالم في ثوان. يمكن للأفراد حتى التواصل واللعب مع الأصدقاء مفصولين بالمحيطات والقارات</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Rectangle 1">
            <a:extLst>
              <a:ext uri="{FF2B5EF4-FFF2-40B4-BE49-F238E27FC236}">
                <a16:creationId xmlns:a16="http://schemas.microsoft.com/office/drawing/2014/main" id="{727944D3-263C-4A76-B974-8281B0098B0C}"/>
              </a:ext>
            </a:extLst>
          </p:cNvPr>
          <p:cNvSpPr>
            <a:spLocks noChangeArrowheads="1"/>
          </p:cNvSpPr>
          <p:nvPr/>
        </p:nvSpPr>
        <p:spPr bwMode="auto">
          <a:xfrm>
            <a:off x="0" y="64128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مربع نص 11">
            <a:extLst>
              <a:ext uri="{FF2B5EF4-FFF2-40B4-BE49-F238E27FC236}">
                <a16:creationId xmlns:a16="http://schemas.microsoft.com/office/drawing/2014/main" id="{C6F44D42-CCB4-4F91-A372-18BE7854F7C1}"/>
              </a:ext>
            </a:extLst>
          </p:cNvPr>
          <p:cNvSpPr txBox="1"/>
          <p:nvPr/>
        </p:nvSpPr>
        <p:spPr>
          <a:xfrm>
            <a:off x="9736667" y="-95937"/>
            <a:ext cx="2455333"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4798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مربع نص 6">
            <a:extLst>
              <a:ext uri="{FF2B5EF4-FFF2-40B4-BE49-F238E27FC236}">
                <a16:creationId xmlns:a16="http://schemas.microsoft.com/office/drawing/2014/main" id="{A4FC50DE-D496-44EA-96E9-7197890A28C2}"/>
              </a:ext>
            </a:extLst>
          </p:cNvPr>
          <p:cNvSpPr txBox="1"/>
          <p:nvPr/>
        </p:nvSpPr>
        <p:spPr>
          <a:xfrm>
            <a:off x="10603832" y="909106"/>
            <a:ext cx="1588168" cy="769441"/>
          </a:xfrm>
          <a:prstGeom prst="rect">
            <a:avLst/>
          </a:prstGeom>
          <a:noFill/>
        </p:spPr>
        <p:txBody>
          <a:bodyPr wrap="square">
            <a:spAutoFit/>
          </a:bodyPr>
          <a:lstStyle/>
          <a:p>
            <a:pPr algn="ct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مكونات الشبكة</a:t>
            </a:r>
            <a:r>
              <a:rPr lang="ar-SA" sz="2400" b="1" dirty="0">
                <a:solidFill>
                  <a:srgbClr val="80808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أدوار المضيف</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9" name="مربع نص 8">
            <a:extLst>
              <a:ext uri="{FF2B5EF4-FFF2-40B4-BE49-F238E27FC236}">
                <a16:creationId xmlns:a16="http://schemas.microsoft.com/office/drawing/2014/main" id="{CE1ECE4F-CD77-49D9-B69C-72086993E0F5}"/>
              </a:ext>
            </a:extLst>
          </p:cNvPr>
          <p:cNvSpPr txBox="1"/>
          <p:nvPr/>
        </p:nvSpPr>
        <p:spPr>
          <a:xfrm>
            <a:off x="0" y="1790842"/>
            <a:ext cx="12192000" cy="2123658"/>
          </a:xfrm>
          <a:prstGeom prst="rect">
            <a:avLst/>
          </a:prstGeom>
          <a:noFill/>
        </p:spPr>
        <p:txBody>
          <a:bodyPr wrap="square">
            <a:spAutoFit/>
          </a:bodyPr>
          <a:lstStyle/>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إذا كنت تريد أن تكون جزءًا من مجتمع عالمي عبر الإنترنت، فيجب أولاً توصيل الكمبيوتر أو الجهاز اللوحي أو الهاتف الذكي بشبكة. تلك الشبكة يجب أن تكون متصلة بالإنترنت يناقش هذا الموضوع أجزاء شبكة الاتصال. معرفة ما إذا كنت تعترف هذه المكونات في منزلك أو شبكة المدرسة!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يتم تصنيف كافة أجهزة الكمبيوتر المتصلة بشبكة اتصال والمشاركة مباشرة في اتصالات الشبكة على أنها أجهزة مضيفين. يمكن استدعاء المضيفين أجهزة النهاية. تسمى بعض المضيفين أيضًا بالعملاء. ومع ذلك، المصطلح المضيفين بشكل خاص يشير إلى الأجهزة على شبكة الاتصال التي تم تعيين رقم لأغراض الاتصال. يعرّف هذا الرقم المضيف داخل شبكة اتصال معينة. يسمى هذا الرقم عنوان بروتوكول إنترنت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IP</a:t>
            </a: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يعرّف عنوان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IP</a:t>
            </a: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المضيف وشبكة الاتصال التي يتم إرفاق المضيف بها.</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1" name="مربع نص 10">
            <a:extLst>
              <a:ext uri="{FF2B5EF4-FFF2-40B4-BE49-F238E27FC236}">
                <a16:creationId xmlns:a16="http://schemas.microsoft.com/office/drawing/2014/main" id="{A081367B-28EB-4B3F-93D9-3BD93E98D942}"/>
              </a:ext>
            </a:extLst>
          </p:cNvPr>
          <p:cNvSpPr txBox="1"/>
          <p:nvPr/>
        </p:nvSpPr>
        <p:spPr>
          <a:xfrm>
            <a:off x="0" y="3882642"/>
            <a:ext cx="12192000" cy="646331"/>
          </a:xfrm>
          <a:prstGeom prst="rect">
            <a:avLst/>
          </a:prstGeom>
          <a:noFill/>
        </p:spPr>
        <p:txBody>
          <a:bodyPr wrap="square">
            <a:spAutoFit/>
          </a:bodyPr>
          <a:lstStyle/>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الخوادم هي أجهزة كمبيوتر ذات برامج تسمح لها بتوفير معلومات، مثل البريد الإلكتروني أو صفحات الويب، إلى أجهزة نهاية أخرى على الشبكة. كل خدمة تتطلب منفصلة</a:t>
            </a:r>
            <a:r>
              <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12" name="Picture 29">
            <a:extLst>
              <a:ext uri="{FF2B5EF4-FFF2-40B4-BE49-F238E27FC236}">
                <a16:creationId xmlns:a16="http://schemas.microsoft.com/office/drawing/2014/main" id="{C9DC294A-ECF9-4566-B5DD-78CCAAC9853C}"/>
              </a:ext>
            </a:extLst>
          </p:cNvPr>
          <p:cNvPicPr/>
          <p:nvPr/>
        </p:nvPicPr>
        <p:blipFill>
          <a:blip r:embed="rId2">
            <a:extLst>
              <a:ext uri="{28A0092B-C50C-407E-A947-70E740481C1C}">
                <a14:useLocalDpi xmlns:a14="http://schemas.microsoft.com/office/drawing/2010/main" val="0"/>
              </a:ext>
            </a:extLst>
          </a:blip>
          <a:stretch>
            <a:fillRect/>
          </a:stretch>
        </p:blipFill>
        <p:spPr>
          <a:xfrm>
            <a:off x="465221" y="4785568"/>
            <a:ext cx="5274945" cy="1691640"/>
          </a:xfrm>
          <a:prstGeom prst="rect">
            <a:avLst/>
          </a:prstGeom>
        </p:spPr>
      </p:pic>
      <p:sp>
        <p:nvSpPr>
          <p:cNvPr id="14" name="مربع نص 13">
            <a:extLst>
              <a:ext uri="{FF2B5EF4-FFF2-40B4-BE49-F238E27FC236}">
                <a16:creationId xmlns:a16="http://schemas.microsoft.com/office/drawing/2014/main" id="{160A226D-D08F-4CFB-A3A3-35BF7C425873}"/>
              </a:ext>
            </a:extLst>
          </p:cNvPr>
          <p:cNvSpPr txBox="1"/>
          <p:nvPr/>
        </p:nvSpPr>
        <p:spPr>
          <a:xfrm>
            <a:off x="5887453" y="5031223"/>
            <a:ext cx="6224336" cy="1200329"/>
          </a:xfrm>
          <a:prstGeom prst="rect">
            <a:avLst/>
          </a:prstGeom>
          <a:noFill/>
        </p:spPr>
        <p:txBody>
          <a:bodyPr wrap="square">
            <a:spAutoFit/>
          </a:bodyPr>
          <a:lstStyle/>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مثال على برامج العميل هو متصفح الويب، مثل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Chrome</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أو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Firefox</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يمكن أيضاً تشغيل كمبيوتر واحد أنواع متعددة من برامج العميل. على سبيل المثال، يمكن للمستخدم التحقق من البريد الإلكتروني وعرض صفحة ويب أثناء المراسلة الفورية والاستماع إلى دفق الصوت. يسرد الجدول ثلاثة أنواع شائعة من برامج الملقم.</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9" name="Rectangle 1">
            <a:extLst>
              <a:ext uri="{FF2B5EF4-FFF2-40B4-BE49-F238E27FC236}">
                <a16:creationId xmlns:a16="http://schemas.microsoft.com/office/drawing/2014/main" id="{BA933787-35D7-489D-9312-AEA0DCA353ED}"/>
              </a:ext>
            </a:extLst>
          </p:cNvPr>
          <p:cNvSpPr>
            <a:spLocks noChangeArrowheads="1"/>
          </p:cNvSpPr>
          <p:nvPr/>
        </p:nvSpPr>
        <p:spPr bwMode="auto">
          <a:xfrm>
            <a:off x="0" y="643078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مربع نص 20">
            <a:extLst>
              <a:ext uri="{FF2B5EF4-FFF2-40B4-BE49-F238E27FC236}">
                <a16:creationId xmlns:a16="http://schemas.microsoft.com/office/drawing/2014/main" id="{D2E25E77-C4D0-46A2-BC17-3FA08C9CDDC7}"/>
              </a:ext>
            </a:extLst>
          </p:cNvPr>
          <p:cNvSpPr txBox="1"/>
          <p:nvPr/>
        </p:nvSpPr>
        <p:spPr>
          <a:xfrm>
            <a:off x="9753601" y="-110971"/>
            <a:ext cx="2438399"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1873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32BCF892-8382-46DF-8FCA-9F2DAC51FBEA}"/>
              </a:ext>
            </a:extLst>
          </p:cNvPr>
          <p:cNvSpPr txBox="1"/>
          <p:nvPr/>
        </p:nvSpPr>
        <p:spPr>
          <a:xfrm>
            <a:off x="0" y="954107"/>
            <a:ext cx="12192000" cy="2369880"/>
          </a:xfrm>
          <a:prstGeom prst="rect">
            <a:avLst/>
          </a:prstGeom>
          <a:noFill/>
        </p:spPr>
        <p:txBody>
          <a:bodyPr wrap="square">
            <a:spAutoFit/>
          </a:bodyPr>
          <a:lstStyle/>
          <a:p>
            <a:pPr algn="r" rtl="1"/>
            <a:endParaRPr lang="en-US" sz="20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الند للند</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يتم تشغيل برامج العميل والملقم عادةً على أجهزة كمبيوتر منفصلة، ولكن من الممكن أيضاً أن يتم استخدام كمبيوتر واحد لكلا الدورين في نفس الوقت. في الشركات الصغيرة والمنازل ، والعديد من أجهزة الكمبيوتر تعمل كخوادم والعملاء على الشبكة. يسمى هذا النوع من شبكة الاتصال شبكة </a:t>
            </a:r>
            <a:r>
              <a:rPr lang="ar-SA" dirty="0">
                <a:latin typeface="Calibri" panose="020F0502020204030204" pitchFamily="34" charset="0"/>
                <a:ea typeface="Times New Roman" panose="02020603050405020304" pitchFamily="18" charset="0"/>
                <a:cs typeface="Times New Roman" panose="02020603050405020304" pitchFamily="18" charset="0"/>
              </a:rPr>
              <a:t>ند الى ند</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في الشكل، يحتوي الكمبيوتر مشاركة الطباعة اتصال الناقل التسلسلي العالمي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USB</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إلى الطابعة واتصال شبكة اتصال، باستخدام بطاقة واجهة شبكة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NIC</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إلى ملف مشاركة الكمبيوتر.</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6" name="Picture 31">
            <a:extLst>
              <a:ext uri="{FF2B5EF4-FFF2-40B4-BE49-F238E27FC236}">
                <a16:creationId xmlns:a16="http://schemas.microsoft.com/office/drawing/2014/main" id="{3B8959F8-76FB-4ECF-AF0F-C17FD1E49D4C}"/>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3661410" y="3651582"/>
            <a:ext cx="4869180" cy="2011680"/>
          </a:xfrm>
          <a:prstGeom prst="rect">
            <a:avLst/>
          </a:prstGeom>
        </p:spPr>
      </p:pic>
      <p:sp>
        <p:nvSpPr>
          <p:cNvPr id="8" name="Rectangle 1">
            <a:extLst>
              <a:ext uri="{FF2B5EF4-FFF2-40B4-BE49-F238E27FC236}">
                <a16:creationId xmlns:a16="http://schemas.microsoft.com/office/drawing/2014/main" id="{CFCB8110-5B17-41A8-B489-93E246A37047}"/>
              </a:ext>
            </a:extLst>
          </p:cNvPr>
          <p:cNvSpPr>
            <a:spLocks noChangeArrowheads="1"/>
          </p:cNvSpPr>
          <p:nvPr/>
        </p:nvSpPr>
        <p:spPr bwMode="auto">
          <a:xfrm>
            <a:off x="0" y="6400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6</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مربع نص 9">
            <a:extLst>
              <a:ext uri="{FF2B5EF4-FFF2-40B4-BE49-F238E27FC236}">
                <a16:creationId xmlns:a16="http://schemas.microsoft.com/office/drawing/2014/main" id="{B4A51F39-8B9F-4210-B621-0C7B31087242}"/>
              </a:ext>
            </a:extLst>
          </p:cNvPr>
          <p:cNvSpPr txBox="1"/>
          <p:nvPr/>
        </p:nvSpPr>
        <p:spPr>
          <a:xfrm>
            <a:off x="9812867" y="-93133"/>
            <a:ext cx="2379133"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1972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32BCF892-8382-46DF-8FCA-9F2DAC51FBEA}"/>
              </a:ext>
            </a:extLst>
          </p:cNvPr>
          <p:cNvSpPr txBox="1"/>
          <p:nvPr/>
        </p:nvSpPr>
        <p:spPr>
          <a:xfrm>
            <a:off x="0" y="954107"/>
            <a:ext cx="12192000" cy="338554"/>
          </a:xfrm>
          <a:prstGeom prst="rect">
            <a:avLst/>
          </a:prstGeom>
          <a:noFill/>
        </p:spPr>
        <p:txBody>
          <a:bodyPr wrap="square">
            <a:spAutoFit/>
          </a:bodyPr>
          <a:lstStyle/>
          <a:p>
            <a:pPr algn="r" rtl="1"/>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CFCB8110-5B17-41A8-B489-93E246A37047}"/>
              </a:ext>
            </a:extLst>
          </p:cNvPr>
          <p:cNvSpPr>
            <a:spLocks noChangeArrowheads="1"/>
          </p:cNvSpPr>
          <p:nvPr/>
        </p:nvSpPr>
        <p:spPr bwMode="auto">
          <a:xfrm>
            <a:off x="5964393" y="6490900"/>
            <a:ext cx="2632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مربع نص 9">
            <a:extLst>
              <a:ext uri="{FF2B5EF4-FFF2-40B4-BE49-F238E27FC236}">
                <a16:creationId xmlns:a16="http://schemas.microsoft.com/office/drawing/2014/main" id="{B4A51F39-8B9F-4210-B621-0C7B31087242}"/>
              </a:ext>
            </a:extLst>
          </p:cNvPr>
          <p:cNvSpPr txBox="1"/>
          <p:nvPr/>
        </p:nvSpPr>
        <p:spPr>
          <a:xfrm>
            <a:off x="9812867" y="-93133"/>
            <a:ext cx="2379133"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7" name="مربع نص 6">
            <a:extLst>
              <a:ext uri="{FF2B5EF4-FFF2-40B4-BE49-F238E27FC236}">
                <a16:creationId xmlns:a16="http://schemas.microsoft.com/office/drawing/2014/main" id="{1F78550A-356D-4F38-A388-59F4EF7E35E9}"/>
              </a:ext>
            </a:extLst>
          </p:cNvPr>
          <p:cNvSpPr txBox="1"/>
          <p:nvPr/>
        </p:nvSpPr>
        <p:spPr>
          <a:xfrm>
            <a:off x="0" y="768641"/>
            <a:ext cx="12192000" cy="2031325"/>
          </a:xfrm>
          <a:prstGeom prst="rect">
            <a:avLst/>
          </a:prstGeom>
          <a:noFill/>
        </p:spPr>
        <p:txBody>
          <a:bodyPr wrap="square">
            <a:spAutoFit/>
          </a:bodyPr>
          <a:lstStyle/>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أجهزة الطرفية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أجهزة الشبكة التي يعرفها الأشخاص أكثر هي أجهزة النهاية. للتمييز بين جهاز نهاية واحد وآخر، لكل جهاز نهاية على شبكة اتصال عنوان. عندما يبدأ جهاز النهاية الاتصالات، فإنه يستخدم عنوان جهاز النهاية الوجهة لتحديد مكان تسليم الرسالة.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يكون جهاز النهاية هو مصدر رسالة مرسلة عبر الشبكة أو وجهة لها.</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9" name="Picture 35">
            <a:extLst>
              <a:ext uri="{FF2B5EF4-FFF2-40B4-BE49-F238E27FC236}">
                <a16:creationId xmlns:a16="http://schemas.microsoft.com/office/drawing/2014/main" id="{C17ECA6F-43FD-4C6E-A03E-5FA30287734A}"/>
              </a:ext>
            </a:extLst>
          </p:cNvPr>
          <p:cNvPicPr/>
          <p:nvPr/>
        </p:nvPicPr>
        <p:blipFill>
          <a:blip r:embed="rId2">
            <a:extLst>
              <a:ext uri="{28A0092B-C50C-407E-A947-70E740481C1C}">
                <a14:useLocalDpi xmlns:a14="http://schemas.microsoft.com/office/drawing/2010/main" val="0"/>
              </a:ext>
            </a:extLst>
          </a:blip>
          <a:stretch>
            <a:fillRect/>
          </a:stretch>
        </p:blipFill>
        <p:spPr>
          <a:xfrm>
            <a:off x="337955" y="2414637"/>
            <a:ext cx="6541815" cy="3489256"/>
          </a:xfrm>
          <a:prstGeom prst="rect">
            <a:avLst/>
          </a:prstGeom>
        </p:spPr>
      </p:pic>
    </p:spTree>
    <p:extLst>
      <p:ext uri="{BB962C8B-B14F-4D97-AF65-F5344CB8AC3E}">
        <p14:creationId xmlns:p14="http://schemas.microsoft.com/office/powerpoint/2010/main" val="1732781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32BCF892-8382-46DF-8FCA-9F2DAC51FBEA}"/>
              </a:ext>
            </a:extLst>
          </p:cNvPr>
          <p:cNvSpPr txBox="1"/>
          <p:nvPr/>
        </p:nvSpPr>
        <p:spPr>
          <a:xfrm>
            <a:off x="0" y="954107"/>
            <a:ext cx="12192000" cy="338554"/>
          </a:xfrm>
          <a:prstGeom prst="rect">
            <a:avLst/>
          </a:prstGeom>
          <a:noFill/>
        </p:spPr>
        <p:txBody>
          <a:bodyPr wrap="square">
            <a:spAutoFit/>
          </a:bodyPr>
          <a:lstStyle/>
          <a:p>
            <a:pPr algn="r" rtl="1"/>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CFCB8110-5B17-41A8-B489-93E246A37047}"/>
              </a:ext>
            </a:extLst>
          </p:cNvPr>
          <p:cNvSpPr>
            <a:spLocks noChangeArrowheads="1"/>
          </p:cNvSpPr>
          <p:nvPr/>
        </p:nvSpPr>
        <p:spPr bwMode="auto">
          <a:xfrm>
            <a:off x="5964393" y="6490900"/>
            <a:ext cx="2632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cs typeface="Times New Roman" panose="02020603050405020304" pitchFamily="18" charset="0"/>
              </a:rPr>
              <a:t>8</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مربع نص 9">
            <a:extLst>
              <a:ext uri="{FF2B5EF4-FFF2-40B4-BE49-F238E27FC236}">
                <a16:creationId xmlns:a16="http://schemas.microsoft.com/office/drawing/2014/main" id="{B4A51F39-8B9F-4210-B621-0C7B31087242}"/>
              </a:ext>
            </a:extLst>
          </p:cNvPr>
          <p:cNvSpPr txBox="1"/>
          <p:nvPr/>
        </p:nvSpPr>
        <p:spPr>
          <a:xfrm>
            <a:off x="9812867" y="-93133"/>
            <a:ext cx="2379133"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مربع نص 5">
            <a:extLst>
              <a:ext uri="{FF2B5EF4-FFF2-40B4-BE49-F238E27FC236}">
                <a16:creationId xmlns:a16="http://schemas.microsoft.com/office/drawing/2014/main" id="{68E416B5-A5C4-4A3B-AFEF-39B12C943D49}"/>
              </a:ext>
            </a:extLst>
          </p:cNvPr>
          <p:cNvSpPr txBox="1"/>
          <p:nvPr/>
        </p:nvSpPr>
        <p:spPr>
          <a:xfrm>
            <a:off x="0" y="768641"/>
            <a:ext cx="12192000" cy="1785104"/>
          </a:xfrm>
          <a:prstGeom prst="rect">
            <a:avLst/>
          </a:prstGeom>
          <a:noFill/>
        </p:spPr>
        <p:txBody>
          <a:bodyPr wrap="square">
            <a:spAutoFit/>
          </a:bodyPr>
          <a:lstStyle/>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الأجهزة الوسيطة</a:t>
            </a:r>
            <a:r>
              <a:rPr lang="ar-SA" sz="20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تقوم الأجهزة الوسيطة بتوصيل أجهزة النهاية الفردية بالشبكة. يمكنهم توصيل شبكات فردية متعددة لتشكيل شبكة إنترنت. وتوفر هذه الأجهزة الوسيطة إمكانية الاتصال وتضمن تدفق البيانات عبر الشبكة.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تستخدم الأجهزة الوسيطة عنوان الجهاز الطرفي الوجهي، بالاقتران مع معلومات حول التوصيلات البينية للشبكة، لتحديد المسار الذي يجب أن تسلكه الرسائل عبر الشبكة. وترد في الشكل أمثلة على الأجهزة الوسيطة الأكثر شيوعاً وقائمة بالوظائف</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7" name="Picture 41">
            <a:extLst>
              <a:ext uri="{FF2B5EF4-FFF2-40B4-BE49-F238E27FC236}">
                <a16:creationId xmlns:a16="http://schemas.microsoft.com/office/drawing/2014/main" id="{B208F886-A6EB-46AF-BD0B-023EE0836E7F}"/>
              </a:ext>
            </a:extLst>
          </p:cNvPr>
          <p:cNvPicPr/>
          <p:nvPr/>
        </p:nvPicPr>
        <p:blipFill>
          <a:blip r:embed="rId2">
            <a:extLst>
              <a:ext uri="{28A0092B-C50C-407E-A947-70E740481C1C}">
                <a14:useLocalDpi xmlns:a14="http://schemas.microsoft.com/office/drawing/2010/main" val="0"/>
              </a:ext>
            </a:extLst>
          </a:blip>
          <a:stretch>
            <a:fillRect/>
          </a:stretch>
        </p:blipFill>
        <p:spPr>
          <a:xfrm>
            <a:off x="312077" y="2867163"/>
            <a:ext cx="5274945" cy="1785104"/>
          </a:xfrm>
          <a:prstGeom prst="rect">
            <a:avLst/>
          </a:prstGeom>
        </p:spPr>
      </p:pic>
      <p:sp>
        <p:nvSpPr>
          <p:cNvPr id="9" name="مربع نص 8">
            <a:extLst>
              <a:ext uri="{FF2B5EF4-FFF2-40B4-BE49-F238E27FC236}">
                <a16:creationId xmlns:a16="http://schemas.microsoft.com/office/drawing/2014/main" id="{DC88C0BC-D8CC-48DB-94B6-80397E7EB6F9}"/>
              </a:ext>
            </a:extLst>
          </p:cNvPr>
          <p:cNvSpPr txBox="1"/>
          <p:nvPr/>
        </p:nvSpPr>
        <p:spPr>
          <a:xfrm>
            <a:off x="5964393" y="2659081"/>
            <a:ext cx="6183084" cy="3970318"/>
          </a:xfrm>
          <a:prstGeom prst="rect">
            <a:avLst/>
          </a:prstGeom>
          <a:noFill/>
        </p:spPr>
        <p:txBody>
          <a:bodyPr wrap="square">
            <a:spAutoFit/>
          </a:bodyPr>
          <a:lstStyle/>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تؤدي اجهزة الشبكة الوسيطة بعض أو كل هذه الوظائف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تجديد وإعادة إرسال إشارات الاتصال</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احتفظ بمعلومات حول المسارات الموجودة من خلال الشبكة والعمل البيني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إخطار الأجهزة الأخرى من بالأخطاء وحالات فشل الاتصال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توجيه البيانات على طول المسارات البديلة عندما يكون هناك فشل في الارتباط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تصنيف الرسائل وتوجيهها حسب الأولويات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السماح بتدفق البيانات أو رفضه بناًء على إعدادات الأمان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أيضًا باسم مكرر متعدد المنافذ تقوم أجهزة إعادة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Ethernet </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قديم. يُعرف محور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Ethernet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ملاحظة: غير المعروض هو محور الإرسال بتوليد و إعادة إرسال إشارات الاتصال لاحظ ان جميع الأجهزة الوسيطة تؤدي وظيفة مكررة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9834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32BCF892-8382-46DF-8FCA-9F2DAC51FBEA}"/>
              </a:ext>
            </a:extLst>
          </p:cNvPr>
          <p:cNvSpPr txBox="1"/>
          <p:nvPr/>
        </p:nvSpPr>
        <p:spPr>
          <a:xfrm>
            <a:off x="0" y="954107"/>
            <a:ext cx="12192000" cy="338554"/>
          </a:xfrm>
          <a:prstGeom prst="rect">
            <a:avLst/>
          </a:prstGeom>
          <a:noFill/>
        </p:spPr>
        <p:txBody>
          <a:bodyPr wrap="square">
            <a:spAutoFit/>
          </a:bodyPr>
          <a:lstStyle/>
          <a:p>
            <a:pPr algn="r" rtl="1"/>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CFCB8110-5B17-41A8-B489-93E246A37047}"/>
              </a:ext>
            </a:extLst>
          </p:cNvPr>
          <p:cNvSpPr>
            <a:spLocks noChangeArrowheads="1"/>
          </p:cNvSpPr>
          <p:nvPr/>
        </p:nvSpPr>
        <p:spPr bwMode="auto">
          <a:xfrm>
            <a:off x="5964393" y="6490900"/>
            <a:ext cx="2632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cs typeface="Times New Roman" panose="02020603050405020304" pitchFamily="18" charset="0"/>
              </a:rPr>
              <a:t>9</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مربع نص 9">
            <a:extLst>
              <a:ext uri="{FF2B5EF4-FFF2-40B4-BE49-F238E27FC236}">
                <a16:creationId xmlns:a16="http://schemas.microsoft.com/office/drawing/2014/main" id="{B4A51F39-8B9F-4210-B621-0C7B31087242}"/>
              </a:ext>
            </a:extLst>
          </p:cNvPr>
          <p:cNvSpPr txBox="1"/>
          <p:nvPr/>
        </p:nvSpPr>
        <p:spPr>
          <a:xfrm>
            <a:off x="9812867" y="-93133"/>
            <a:ext cx="2379133"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مربع نص 5">
            <a:extLst>
              <a:ext uri="{FF2B5EF4-FFF2-40B4-BE49-F238E27FC236}">
                <a16:creationId xmlns:a16="http://schemas.microsoft.com/office/drawing/2014/main" id="{18E7CA24-CE19-41FF-B5BF-54EF97FDF728}"/>
              </a:ext>
            </a:extLst>
          </p:cNvPr>
          <p:cNvSpPr txBox="1"/>
          <p:nvPr/>
        </p:nvSpPr>
        <p:spPr>
          <a:xfrm>
            <a:off x="0" y="720566"/>
            <a:ext cx="12192000" cy="2339102"/>
          </a:xfrm>
          <a:prstGeom prst="rect">
            <a:avLst/>
          </a:prstGeom>
          <a:noFill/>
        </p:spPr>
        <p:txBody>
          <a:bodyPr wrap="square">
            <a:spAutoFit/>
          </a:bodyPr>
          <a:lstStyle/>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وسائط الشبكة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mj-cs"/>
              </a:rPr>
              <a:t>الاتصالات تنقل عبر شبكة على وسائل الإعلام. توفر الوسائط القناة التي تنتقل عبرها الرسالة من المصدر إلى الوجهة.</a:t>
            </a:r>
            <a:endParaRPr lang="en-US" sz="1600" dirty="0">
              <a:effectLst/>
              <a:latin typeface="Calibri" panose="020F0502020204030204" pitchFamily="34" charset="0"/>
              <a:ea typeface="Times New Roman" panose="02020603050405020304" pitchFamily="18" charset="0"/>
              <a:cs typeface="+mj-cs"/>
            </a:endParaRPr>
          </a:p>
          <a:p>
            <a:pPr algn="just" rtl="1"/>
            <a:endParaRPr lang="en-US" sz="1800" dirty="0">
              <a:solidFill>
                <a:srgbClr val="000000"/>
              </a:solidFill>
              <a:effectLst/>
              <a:latin typeface="Calibri" panose="020F0502020204030204" pitchFamily="34" charset="0"/>
              <a:ea typeface="Times New Roman" panose="02020603050405020304" pitchFamily="18" charset="0"/>
              <a:cs typeface="+mj-cs"/>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mj-cs"/>
              </a:rPr>
              <a:t>تستخدم الشبكات الحديثة في المقام الأول ثلاثة أنواع من الوسائط لربط الأجهزة، كما هو موضح في الشكل:</a:t>
            </a:r>
            <a:endParaRPr lang="en-US" sz="1600" dirty="0">
              <a:effectLst/>
              <a:latin typeface="Calibri" panose="020F0502020204030204" pitchFamily="34" charset="0"/>
              <a:ea typeface="Times New Roman" panose="02020603050405020304" pitchFamily="18" charset="0"/>
              <a:cs typeface="+mj-cs"/>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mj-cs"/>
              </a:rPr>
              <a:t> </a:t>
            </a:r>
            <a:endParaRPr lang="en-US" sz="1600" dirty="0">
              <a:effectLst/>
              <a:latin typeface="Calibri" panose="020F0502020204030204" pitchFamily="34" charset="0"/>
              <a:ea typeface="Times New Roman" panose="02020603050405020304" pitchFamily="18" charset="0"/>
              <a:cs typeface="+mj-cs"/>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mj-cs"/>
              </a:rPr>
              <a:t>الأسلاك المعدنية داخل الكابلات - يتم ترميز البيانات إلى نبضات كهربائية.</a:t>
            </a:r>
            <a:endParaRPr lang="en-US" sz="1600" dirty="0">
              <a:effectLst/>
              <a:latin typeface="Calibri" panose="020F0502020204030204" pitchFamily="34" charset="0"/>
              <a:ea typeface="Times New Roman" panose="02020603050405020304" pitchFamily="18" charset="0"/>
              <a:cs typeface="+mj-cs"/>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mj-cs"/>
              </a:rPr>
              <a:t>الألياف الزجاجية أو البلاستيكية داخل الكابلات (كابل الألياف البصرية) - يتم ترميز البيانات في نبضات الضوء.</a:t>
            </a:r>
            <a:endParaRPr lang="en-US" sz="1600" dirty="0">
              <a:effectLst/>
              <a:latin typeface="Calibri" panose="020F0502020204030204" pitchFamily="34" charset="0"/>
              <a:ea typeface="Times New Roman" panose="02020603050405020304" pitchFamily="18" charset="0"/>
              <a:cs typeface="+mj-cs"/>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mj-cs"/>
              </a:rPr>
              <a:t>الإرسال اللاسلكي - يتم ترميز البيانات عن طريق تعديل ترددات محددة من الموجات الكهرومغناطيسية.</a:t>
            </a:r>
            <a:endParaRPr lang="en-US" sz="1600" dirty="0">
              <a:effectLst/>
              <a:latin typeface="Calibri" panose="020F0502020204030204" pitchFamily="34" charset="0"/>
              <a:ea typeface="Times New Roman" panose="02020603050405020304" pitchFamily="18" charset="0"/>
              <a:cs typeface="+mj-cs"/>
            </a:endParaRPr>
          </a:p>
        </p:txBody>
      </p:sp>
      <p:pic>
        <p:nvPicPr>
          <p:cNvPr id="7" name="Picture 43">
            <a:extLst>
              <a:ext uri="{FF2B5EF4-FFF2-40B4-BE49-F238E27FC236}">
                <a16:creationId xmlns:a16="http://schemas.microsoft.com/office/drawing/2014/main" id="{F09C515F-3305-4E0E-9D5D-F2C131069BE5}"/>
              </a:ext>
            </a:extLst>
          </p:cNvPr>
          <p:cNvPicPr/>
          <p:nvPr/>
        </p:nvPicPr>
        <p:blipFill>
          <a:blip r:embed="rId2">
            <a:extLst>
              <a:ext uri="{28A0092B-C50C-407E-A947-70E740481C1C}">
                <a14:useLocalDpi xmlns:a14="http://schemas.microsoft.com/office/drawing/2010/main" val="0"/>
              </a:ext>
            </a:extLst>
          </a:blip>
          <a:stretch>
            <a:fillRect/>
          </a:stretch>
        </p:blipFill>
        <p:spPr>
          <a:xfrm>
            <a:off x="167911" y="3059668"/>
            <a:ext cx="5274945" cy="3741420"/>
          </a:xfrm>
          <a:prstGeom prst="rect">
            <a:avLst/>
          </a:prstGeom>
        </p:spPr>
      </p:pic>
      <p:sp>
        <p:nvSpPr>
          <p:cNvPr id="9" name="مربع نص 8">
            <a:extLst>
              <a:ext uri="{FF2B5EF4-FFF2-40B4-BE49-F238E27FC236}">
                <a16:creationId xmlns:a16="http://schemas.microsoft.com/office/drawing/2014/main" id="{28A4946D-71C8-42EB-B6C7-4F4967218B5D}"/>
              </a:ext>
            </a:extLst>
          </p:cNvPr>
          <p:cNvSpPr txBox="1"/>
          <p:nvPr/>
        </p:nvSpPr>
        <p:spPr>
          <a:xfrm>
            <a:off x="5899061" y="3623937"/>
            <a:ext cx="6125028" cy="1723549"/>
          </a:xfrm>
          <a:prstGeom prst="rect">
            <a:avLst/>
          </a:prstGeom>
          <a:noFill/>
        </p:spPr>
        <p:txBody>
          <a:bodyPr wrap="square">
            <a:spAutoFit/>
          </a:bodyPr>
          <a:lstStyle/>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المعايير الأربعة الرئيسية لاختيار وسائط الشبكة هي </a:t>
            </a:r>
          </a:p>
          <a:p>
            <a:pPr marL="342900" lvl="0" indent="-342900" algn="just" rtl="1">
              <a:buFont typeface="Symbol" panose="05050102010706020507" pitchFamily="18" charset="2"/>
              <a:buChar char=""/>
            </a:pP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ماهي أقصى مسافة يمكن للوسائط أن تحمل إشارة بنجاح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ماهي البيئة التي سيتم فيها تثبيت الوسائط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ماهي كمية البيانات وبأي سرعة يجب أن تنقل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ماهي تكلفة الوسائط والتركيب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0503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32BCF892-8382-46DF-8FCA-9F2DAC51FBEA}"/>
              </a:ext>
            </a:extLst>
          </p:cNvPr>
          <p:cNvSpPr txBox="1"/>
          <p:nvPr/>
        </p:nvSpPr>
        <p:spPr>
          <a:xfrm>
            <a:off x="0" y="954107"/>
            <a:ext cx="12192000" cy="338554"/>
          </a:xfrm>
          <a:prstGeom prst="rect">
            <a:avLst/>
          </a:prstGeom>
          <a:noFill/>
        </p:spPr>
        <p:txBody>
          <a:bodyPr wrap="square">
            <a:spAutoFit/>
          </a:bodyPr>
          <a:lstStyle/>
          <a:p>
            <a:pPr algn="r" rtl="1"/>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CFCB8110-5B17-41A8-B489-93E246A37047}"/>
              </a:ext>
            </a:extLst>
          </p:cNvPr>
          <p:cNvSpPr>
            <a:spLocks noChangeArrowheads="1"/>
          </p:cNvSpPr>
          <p:nvPr/>
        </p:nvSpPr>
        <p:spPr bwMode="auto">
          <a:xfrm>
            <a:off x="5925119"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10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مربع نص 9">
            <a:extLst>
              <a:ext uri="{FF2B5EF4-FFF2-40B4-BE49-F238E27FC236}">
                <a16:creationId xmlns:a16="http://schemas.microsoft.com/office/drawing/2014/main" id="{B4A51F39-8B9F-4210-B621-0C7B31087242}"/>
              </a:ext>
            </a:extLst>
          </p:cNvPr>
          <p:cNvSpPr txBox="1"/>
          <p:nvPr/>
        </p:nvSpPr>
        <p:spPr>
          <a:xfrm>
            <a:off x="9812867" y="-93133"/>
            <a:ext cx="2379133"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مربع نص 5">
            <a:extLst>
              <a:ext uri="{FF2B5EF4-FFF2-40B4-BE49-F238E27FC236}">
                <a16:creationId xmlns:a16="http://schemas.microsoft.com/office/drawing/2014/main" id="{354FF3F1-20AB-441F-8438-F5F257A837A4}"/>
              </a:ext>
            </a:extLst>
          </p:cNvPr>
          <p:cNvSpPr txBox="1"/>
          <p:nvPr/>
        </p:nvSpPr>
        <p:spPr>
          <a:xfrm>
            <a:off x="-1" y="721681"/>
            <a:ext cx="12192000" cy="2893100"/>
          </a:xfrm>
          <a:prstGeom prst="rect">
            <a:avLst/>
          </a:prstGeom>
          <a:noFill/>
        </p:spPr>
        <p:txBody>
          <a:bodyPr wrap="square">
            <a:spAutoFit/>
          </a:bodyPr>
          <a:lstStyle/>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التهديدات الأمنية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لا شك أن لديك أي أخبار عن اختراق شبكة شركات، مما يمنح الجهات الفاعلة التي تهددها إمكانية الوصول إلى المعلومات الشخصية لآلاف العملاء. لهذا السبب، سيكون أمان الشبكة دائمًا أولوية عليا للمسؤولين.</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endPar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أمن الشبكة هو جزء لا يتجزأ من شبكة الكمبيوتر ، بغض النظر عما إذا كانت الشبكة في منزل مع اتصال واحد بالإنترنت أو هي شركة مع الآلاف من المستخدمين. يجب أن تراعي شبكة الأمان البيئة، فضلا عن الأدوات والمتطلبات من الشبكة. يجب أن تكون قادرة على تأمين البيانات مع السماح في الوقت ذاته لجودة الخدمة التي يتوقعها المستخدمون من الشبكة.</a:t>
            </a:r>
          </a:p>
          <a:p>
            <a:pPr algn="just" rtl="1"/>
            <a:endParaRPr lang="en-US"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ينطوي تأمين الشبكة على بروتوكولات وتقنيات وأجهزة وأدوات وتقنيات من أجل حماية البيانات والتخفيف من التهديدات. قد تكون ناقلات التهديد خارجية أو داخلية. العديد من التهديدات الخارجية لأمن الشبكة اليوم تنشأ من الإنترنت.</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9" name="مربع نص 8">
            <a:extLst>
              <a:ext uri="{FF2B5EF4-FFF2-40B4-BE49-F238E27FC236}">
                <a16:creationId xmlns:a16="http://schemas.microsoft.com/office/drawing/2014/main" id="{8A8AE8BF-E314-49EE-BCD6-89BFAA05344E}"/>
              </a:ext>
            </a:extLst>
          </p:cNvPr>
          <p:cNvSpPr txBox="1"/>
          <p:nvPr/>
        </p:nvSpPr>
        <p:spPr>
          <a:xfrm>
            <a:off x="-170881" y="3729401"/>
            <a:ext cx="12191999" cy="2646878"/>
          </a:xfrm>
          <a:prstGeom prst="rect">
            <a:avLst/>
          </a:prstGeom>
          <a:noFill/>
        </p:spPr>
        <p:txBody>
          <a:bodyPr wrap="square">
            <a:spAutoFit/>
          </a:bodyPr>
          <a:lstStyle/>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هناك العديد من التهديدات الخارجية الشائعة للشبكات:</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rtl="1"/>
            <a:r>
              <a:rPr lang="ar-SA" sz="2000" b="1" dirty="0">
                <a:solidFill>
                  <a:srgbClr val="80808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الفيروسات والديدان وحصان طروادة - تحتوي هذه البرامج الضارة أو التعليمات البرمجية قيد التشغيل على جهاز مستخدم.</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برامج التجسس وادواري -- وهذه هي أنواع من البرامج التي يتم تثبيتها على جهاز المستخدم. البرنامج ثم سرا بجمع المعلومات عن المستخدم.</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هجمات يوم الصفر - تسمى أيضًا هجمات ساعة الصفر ، تحدث هذه في اليوم الأول الذي تصبح به نقطة ضعف معروفة.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هجمات الممثل التهديد - يقوم شخص ضار بالهجمات على أجهزة المستخدم أو موارد الشبكة.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هجمات رفض الخدمة - هذه الهجمات بطيئة أو تعطل التطبيقات والعمليات على جهاز شبكة.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اعتراض البيانات والسرقة - يلتقط هذا الهجوم معلومات خاصة من شبكة إحدى الشركات.</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سرقة الهوية - هذا الهجوم يسرق بيانات اعتماد تسجيل الدخول للمستخدم من أجل الوصول إلى البيانات الخاصة.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5455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32BCF892-8382-46DF-8FCA-9F2DAC51FBEA}"/>
              </a:ext>
            </a:extLst>
          </p:cNvPr>
          <p:cNvSpPr txBox="1"/>
          <p:nvPr/>
        </p:nvSpPr>
        <p:spPr>
          <a:xfrm>
            <a:off x="0" y="954107"/>
            <a:ext cx="12192000" cy="338554"/>
          </a:xfrm>
          <a:prstGeom prst="rect">
            <a:avLst/>
          </a:prstGeom>
          <a:noFill/>
        </p:spPr>
        <p:txBody>
          <a:bodyPr wrap="square">
            <a:spAutoFit/>
          </a:bodyPr>
          <a:lstStyle/>
          <a:p>
            <a:pPr algn="r" rtl="1"/>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CFCB8110-5B17-41A8-B489-93E246A37047}"/>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11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مربع نص 9">
            <a:extLst>
              <a:ext uri="{FF2B5EF4-FFF2-40B4-BE49-F238E27FC236}">
                <a16:creationId xmlns:a16="http://schemas.microsoft.com/office/drawing/2014/main" id="{B4A51F39-8B9F-4210-B621-0C7B31087242}"/>
              </a:ext>
            </a:extLst>
          </p:cNvPr>
          <p:cNvSpPr txBox="1"/>
          <p:nvPr/>
        </p:nvSpPr>
        <p:spPr>
          <a:xfrm>
            <a:off x="9812867" y="-93133"/>
            <a:ext cx="2379133"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6" name="Picture 53">
            <a:extLst>
              <a:ext uri="{FF2B5EF4-FFF2-40B4-BE49-F238E27FC236}">
                <a16:creationId xmlns:a16="http://schemas.microsoft.com/office/drawing/2014/main" id="{6F87B188-748B-41EA-AAF7-60B2C8440E89}"/>
              </a:ext>
            </a:extLst>
          </p:cNvPr>
          <p:cNvPicPr/>
          <p:nvPr/>
        </p:nvPicPr>
        <p:blipFill>
          <a:blip r:embed="rId2">
            <a:extLst>
              <a:ext uri="{28A0092B-C50C-407E-A947-70E740481C1C}">
                <a14:useLocalDpi xmlns:a14="http://schemas.microsoft.com/office/drawing/2010/main" val="0"/>
              </a:ext>
            </a:extLst>
          </a:blip>
          <a:stretch>
            <a:fillRect/>
          </a:stretch>
        </p:blipFill>
        <p:spPr>
          <a:xfrm>
            <a:off x="279898" y="1792508"/>
            <a:ext cx="5274945" cy="3926205"/>
          </a:xfrm>
          <a:prstGeom prst="rect">
            <a:avLst/>
          </a:prstGeom>
        </p:spPr>
      </p:pic>
      <p:sp>
        <p:nvSpPr>
          <p:cNvPr id="7" name="مربع نص 6">
            <a:extLst>
              <a:ext uri="{FF2B5EF4-FFF2-40B4-BE49-F238E27FC236}">
                <a16:creationId xmlns:a16="http://schemas.microsoft.com/office/drawing/2014/main" id="{0458AE2F-0C45-41E4-AC10-06A6E4B8D373}"/>
              </a:ext>
            </a:extLst>
          </p:cNvPr>
          <p:cNvSpPr txBox="1"/>
          <p:nvPr/>
        </p:nvSpPr>
        <p:spPr>
          <a:xfrm>
            <a:off x="0" y="1072863"/>
            <a:ext cx="12192000" cy="646331"/>
          </a:xfrm>
          <a:prstGeom prst="rect">
            <a:avLst/>
          </a:prstGeom>
          <a:noFill/>
        </p:spPr>
        <p:txBody>
          <a:bodyPr wrap="square">
            <a:spAutoFit/>
          </a:bodyPr>
          <a:lstStyle/>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ومن المهم بنفس القدر النظر في التهديدات الداخلية. كانت هناك العديد من الدراسات التي تبين أن خروقات البيانات الأكثر شيوعا يحدث بسبب المستخدمين الداخليين للشبكة. ويمكن أن يعزى هذا إلى الأجهزة المفقودة أو المسروقة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732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32BCF892-8382-46DF-8FCA-9F2DAC51FBEA}"/>
              </a:ext>
            </a:extLst>
          </p:cNvPr>
          <p:cNvSpPr txBox="1"/>
          <p:nvPr/>
        </p:nvSpPr>
        <p:spPr>
          <a:xfrm>
            <a:off x="0" y="954107"/>
            <a:ext cx="12192000" cy="338554"/>
          </a:xfrm>
          <a:prstGeom prst="rect">
            <a:avLst/>
          </a:prstGeom>
          <a:noFill/>
        </p:spPr>
        <p:txBody>
          <a:bodyPr wrap="square">
            <a:spAutoFit/>
          </a:bodyPr>
          <a:lstStyle/>
          <a:p>
            <a:pPr algn="r" rtl="1"/>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CFCB8110-5B17-41A8-B489-93E246A37047}"/>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12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مربع نص 9">
            <a:extLst>
              <a:ext uri="{FF2B5EF4-FFF2-40B4-BE49-F238E27FC236}">
                <a16:creationId xmlns:a16="http://schemas.microsoft.com/office/drawing/2014/main" id="{B4A51F39-8B9F-4210-B621-0C7B31087242}"/>
              </a:ext>
            </a:extLst>
          </p:cNvPr>
          <p:cNvSpPr txBox="1"/>
          <p:nvPr/>
        </p:nvSpPr>
        <p:spPr>
          <a:xfrm>
            <a:off x="9812867" y="-93133"/>
            <a:ext cx="2379133"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مربع نص 5">
            <a:extLst>
              <a:ext uri="{FF2B5EF4-FFF2-40B4-BE49-F238E27FC236}">
                <a16:creationId xmlns:a16="http://schemas.microsoft.com/office/drawing/2014/main" id="{C25A34B4-CAE4-45B8-BCA9-68E66BA24D4F}"/>
              </a:ext>
            </a:extLst>
          </p:cNvPr>
          <p:cNvSpPr txBox="1"/>
          <p:nvPr/>
        </p:nvSpPr>
        <p:spPr>
          <a:xfrm>
            <a:off x="0" y="798626"/>
            <a:ext cx="12192000" cy="1508105"/>
          </a:xfrm>
          <a:prstGeom prst="rect">
            <a:avLst/>
          </a:prstGeom>
          <a:noFill/>
        </p:spPr>
        <p:txBody>
          <a:bodyPr wrap="square">
            <a:spAutoFit/>
          </a:bodyPr>
          <a:lstStyle/>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حلول الأمان</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لا يوجد حل واحد يمكنه حماية الشبكة من مجموعة التهديدات الموجودة. لهذا السبب، يجب أن يتم تطبيق الأمان في طبقات متعددة باستخدام أكثر من حل أمان واحد. إذا فشل أحد مكونات الأمان في تعريف وحماية شبكة الاتصال، قد ينجح الآخرون.</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عادة ما يكون تطبيق أمان الشبكة المنزلية أساسيًا. عادة، يمكنك تنفيذ ذلك على الأجهزة نهاية، وكذلك في نقطة الاتصال بالإنترنت، ويمكن أن تعتمد حتى على الخدمات المتعاقد عليها من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ISP</a:t>
            </a: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9" name="مربع نص 8">
            <a:extLst>
              <a:ext uri="{FF2B5EF4-FFF2-40B4-BE49-F238E27FC236}">
                <a16:creationId xmlns:a16="http://schemas.microsoft.com/office/drawing/2014/main" id="{70A5DAD2-08F1-4EC8-BECB-73AD8B911561}"/>
              </a:ext>
            </a:extLst>
          </p:cNvPr>
          <p:cNvSpPr txBox="1"/>
          <p:nvPr/>
        </p:nvSpPr>
        <p:spPr>
          <a:xfrm>
            <a:off x="0" y="2327325"/>
            <a:ext cx="12162972" cy="4248664"/>
          </a:xfrm>
          <a:prstGeom prst="rect">
            <a:avLst/>
          </a:prstGeom>
          <a:noFill/>
        </p:spPr>
        <p:txBody>
          <a:bodyPr wrap="square">
            <a:spAutoFit/>
          </a:bodyPr>
          <a:lstStyle/>
          <a:p>
            <a:pPr algn="r" rtl="1">
              <a:lnSpc>
                <a:spcPct val="115000"/>
              </a:lnSpc>
            </a:pPr>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هذه هي مكونات الأمان الأساسية لشبكة منزلية أو مكتبية صغيرة: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lnSpc>
                <a:spcPct val="115000"/>
              </a:lnSpc>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مكافحة الفيروسات ومكافحة التجسس - هذه التطبيقات تساعد على حماية الأجهزة النهائية من الإصابة بالبرامج الضارة.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lnSpc>
                <a:spcPct val="115000"/>
              </a:lnSpc>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جدار الحماية تصفية -- جدار حماية تصفية كتل الوصول غير المصرح به داخل وخارج الشبكة. قد يتضمن هذا نظام جدار حماية يستند إلى المضيف يمنع الوصول غير المصرح به إلى الجهاز النهائي، أو خدمة تصفية أساسية على جهاز التوجيه المنزلي لمنع الوصول غير المصرح به من العالم الخارجي إلى شبكة الاتصال.</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lnSpc>
                <a:spcPct val="115000"/>
              </a:lnSpc>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lnSpc>
                <a:spcPct val="115000"/>
              </a:lnSpc>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وعلى النقيض من ذلك، عادةً ما يتكون تطبيق أمان الشبكة لشبكة الشركة من العديد من المكونات المضمنة في الشبكة لمراقبة حركة المرور وتصفي</a:t>
            </a:r>
            <a:r>
              <a:rPr lang="ar-SA"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ت</a:t>
            </a: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ها. بشكل مثالي، تعمل جميع المكونات معا، مما يقلل من الصيانة ويحسن الأمن. تستخدم الشبكات الكبيرة وشبكات الشركات برامج مكافحة الفيروسات وبرامج مكافحة التجسس وتصفية جدار الحماية، ولكن لها أيضًا متطلبات أمان أخرى:</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lnSpc>
                <a:spcPct val="115000"/>
              </a:lnSpc>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lnSpc>
                <a:spcPct val="115000"/>
              </a:lnSpc>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أنظمة جدار الحماية المخصصة - توفر هذه قدرات جدار الحماية الأكثر تقدمًا التي يمكنها تصفية كميات كبيرة من حركة المرور بمزيد من التفاصيل.</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lnSpc>
                <a:spcPct val="115000"/>
              </a:lnSpc>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قوائم التحكم بالوصول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ACL</a:t>
            </a: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 هذه الوصول إلى عامل التصفية وإعادة توجيه حركة المرور استناداً إلى عناوين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IP</a:t>
            </a: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والتطبيقات.</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lnSpc>
                <a:spcPct val="115000"/>
              </a:lnSpc>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أنظمة منع الاختراق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IPS</a:t>
            </a: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 تحدد هذه التهديدات السريعة الانتشار، مثل الهجمات التي لا يوم أو ساعة الصفر.</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rtl="1">
              <a:lnSpc>
                <a:spcPct val="115000"/>
              </a:lnSpc>
              <a:buFont typeface="Symbol" panose="05050102010706020507" pitchFamily="18" charset="2"/>
              <a:buChar char=""/>
            </a:pP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الشبكات الخاصة الظاهرية (</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VPN</a:t>
            </a:r>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 توفر هذه الوصول الآمن إلى منظمة للعاملين عن بعد.</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0996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CFCB8110-5B17-41A8-B489-93E246A37047}"/>
              </a:ext>
            </a:extLst>
          </p:cNvPr>
          <p:cNvSpPr>
            <a:spLocks noChangeArrowheads="1"/>
          </p:cNvSpPr>
          <p:nvPr/>
        </p:nvSpPr>
        <p:spPr bwMode="auto">
          <a:xfrm>
            <a:off x="5925118"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cs typeface="Times New Roman" panose="02020603050405020304" pitchFamily="18" charset="0"/>
              </a:rPr>
              <a:t>13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مربع نص 9">
            <a:extLst>
              <a:ext uri="{FF2B5EF4-FFF2-40B4-BE49-F238E27FC236}">
                <a16:creationId xmlns:a16="http://schemas.microsoft.com/office/drawing/2014/main" id="{B4A51F39-8B9F-4210-B621-0C7B31087242}"/>
              </a:ext>
            </a:extLst>
          </p:cNvPr>
          <p:cNvSpPr txBox="1"/>
          <p:nvPr/>
        </p:nvSpPr>
        <p:spPr>
          <a:xfrm>
            <a:off x="9812867" y="-93133"/>
            <a:ext cx="2379133" cy="584775"/>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9" name="مربع نص 8">
            <a:extLst>
              <a:ext uri="{FF2B5EF4-FFF2-40B4-BE49-F238E27FC236}">
                <a16:creationId xmlns:a16="http://schemas.microsoft.com/office/drawing/2014/main" id="{64635069-18A8-43B5-91B8-D40DA54C93DC}"/>
              </a:ext>
            </a:extLst>
          </p:cNvPr>
          <p:cNvSpPr txBox="1"/>
          <p:nvPr/>
        </p:nvSpPr>
        <p:spPr>
          <a:xfrm>
            <a:off x="0" y="906865"/>
            <a:ext cx="12192000" cy="1200329"/>
          </a:xfrm>
          <a:prstGeom prst="rect">
            <a:avLst/>
          </a:prstGeom>
          <a:noFill/>
        </p:spPr>
        <p:txBody>
          <a:bodyPr wrap="square">
            <a:spAutoFit/>
          </a:bodyPr>
          <a:lstStyle/>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يجب أن تراعي متطلبات أمان الشبكة البيئة، بالإضافة إلى التطبيقات المختلفة، ومتطلبات الحوسبة. يجب أن تكون كل من بيئات المنزل والأعمال التجارية قادرة على تأمين البيانات الخاصة بهم مع السماح بجودة الخدمة التي يتوقعها المستخدمون من كل تقنية. بالإضافة إلى ذلك، يجب أن يكون الحل الأمني الذي تم تنفيذه قابلاً للتكيف مع الاتجاهات المتنامية والمتغيرة للشبكة.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11" name="Picture 55">
            <a:extLst>
              <a:ext uri="{FF2B5EF4-FFF2-40B4-BE49-F238E27FC236}">
                <a16:creationId xmlns:a16="http://schemas.microsoft.com/office/drawing/2014/main" id="{110EA930-78D9-40BA-9E81-F8395ED3FF73}"/>
              </a:ext>
            </a:extLst>
          </p:cNvPr>
          <p:cNvPicPr/>
          <p:nvPr/>
        </p:nvPicPr>
        <p:blipFill>
          <a:blip r:embed="rId2">
            <a:extLst>
              <a:ext uri="{28A0092B-C50C-407E-A947-70E740481C1C}">
                <a14:useLocalDpi xmlns:a14="http://schemas.microsoft.com/office/drawing/2010/main" val="0"/>
              </a:ext>
            </a:extLst>
          </a:blip>
          <a:stretch>
            <a:fillRect/>
          </a:stretch>
        </p:blipFill>
        <p:spPr>
          <a:xfrm>
            <a:off x="512127" y="2632912"/>
            <a:ext cx="5274945" cy="37890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مربع نص 12">
            <a:extLst>
              <a:ext uri="{FF2B5EF4-FFF2-40B4-BE49-F238E27FC236}">
                <a16:creationId xmlns:a16="http://schemas.microsoft.com/office/drawing/2014/main" id="{4DEC0B99-0535-413E-A653-BD9BE7EF07CB}"/>
              </a:ext>
            </a:extLst>
          </p:cNvPr>
          <p:cNvSpPr txBox="1"/>
          <p:nvPr/>
        </p:nvSpPr>
        <p:spPr>
          <a:xfrm>
            <a:off x="5925120" y="1986581"/>
            <a:ext cx="6183084" cy="646331"/>
          </a:xfrm>
          <a:prstGeom prst="rect">
            <a:avLst/>
          </a:prstGeom>
          <a:noFill/>
        </p:spPr>
        <p:txBody>
          <a:bodyPr wrap="square">
            <a:spAutoFit/>
          </a:bodyPr>
          <a:lstStyle/>
          <a:p>
            <a:pPr algn="just" rtl="1"/>
            <a:r>
              <a:rPr lang="ar-SA" sz="1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تبدأ دراسة التهديدات الأمنية للشبكة وتقنيات التخفيف بفهم واضح للبنية التحتية الأساسية للتبديل والتوجيه المستخدمة في تنظيم خدمات الشبكة.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3108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0" y="6400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مربع نص 7">
            <a:extLst>
              <a:ext uri="{FF2B5EF4-FFF2-40B4-BE49-F238E27FC236}">
                <a16:creationId xmlns:a16="http://schemas.microsoft.com/office/drawing/2014/main" id="{FEA50C4B-4C20-4342-94E8-47BEAEC4D499}"/>
              </a:ext>
            </a:extLst>
          </p:cNvPr>
          <p:cNvSpPr txBox="1"/>
          <p:nvPr/>
        </p:nvSpPr>
        <p:spPr>
          <a:xfrm>
            <a:off x="6502400" y="777725"/>
            <a:ext cx="5689600" cy="1723549"/>
          </a:xfrm>
          <a:prstGeom prst="rect">
            <a:avLst/>
          </a:prstGeom>
          <a:noFill/>
        </p:spPr>
        <p:txBody>
          <a:bodyPr wrap="square">
            <a:spAutoFit/>
          </a:bodyPr>
          <a:lstStyle/>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مقدمه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قمنا بأنشاء شبكة وقمنا بتوزيع العناوين وطبقنا اعدادات التوجيه واعدادات ال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DHCP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16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الشبكة التي سوف نقوم بتأمينها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1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9" name="صورة 8">
            <a:extLst>
              <a:ext uri="{FF2B5EF4-FFF2-40B4-BE49-F238E27FC236}">
                <a16:creationId xmlns:a16="http://schemas.microsoft.com/office/drawing/2014/main" id="{86F7E926-D7F8-42F2-845E-E344E86CCA8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509485" y="1639499"/>
            <a:ext cx="6696711" cy="4517655"/>
          </a:xfrm>
          <a:prstGeom prst="rect">
            <a:avLst/>
          </a:prstGeom>
        </p:spPr>
      </p:pic>
      <p:sp>
        <p:nvSpPr>
          <p:cNvPr id="11" name="مربع نص 10">
            <a:extLst>
              <a:ext uri="{FF2B5EF4-FFF2-40B4-BE49-F238E27FC236}">
                <a16:creationId xmlns:a16="http://schemas.microsoft.com/office/drawing/2014/main" id="{67442751-1F8D-4F06-87CE-A884B77B0E6A}"/>
              </a:ext>
            </a:extLst>
          </p:cNvPr>
          <p:cNvSpPr txBox="1"/>
          <p:nvPr/>
        </p:nvSpPr>
        <p:spPr>
          <a:xfrm>
            <a:off x="9695542" y="2723559"/>
            <a:ext cx="2336799" cy="2585451"/>
          </a:xfrm>
          <a:prstGeom prst="rect">
            <a:avLst/>
          </a:prstGeom>
          <a:noFill/>
        </p:spPr>
        <p:txBody>
          <a:bodyPr wrap="square">
            <a:spAutoFit/>
          </a:bodyPr>
          <a:lstStyle/>
          <a:p>
            <a:pPr algn="r" rtl="1"/>
            <a:endParaRPr lang="en-US" sz="20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مكونات الشبكة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r" rtl="1">
              <a:lnSpc>
                <a:spcPct val="107000"/>
              </a:lnSpc>
              <a:spcAft>
                <a:spcPts val="800"/>
              </a:spcAft>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جهازين كمبيوتر</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r" rtl="1">
              <a:lnSpc>
                <a:spcPct val="107000"/>
              </a:lnSpc>
              <a:spcAft>
                <a:spcPts val="800"/>
              </a:spcAft>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ثلاثة أجهزة توجيه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r" rtl="1">
              <a:lnSpc>
                <a:spcPct val="107000"/>
              </a:lnSpc>
              <a:spcAft>
                <a:spcPts val="800"/>
              </a:spcAft>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جهازين تبديل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r" rtl="1">
              <a:lnSpc>
                <a:spcPct val="107000"/>
              </a:lnSpc>
              <a:spcAft>
                <a:spcPts val="800"/>
              </a:spcAft>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خادمين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Radius</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r" rtl="1">
              <a:lnSpc>
                <a:spcPct val="107000"/>
              </a:lnSpc>
              <a:spcAft>
                <a:spcPts val="800"/>
              </a:spcAft>
              <a:buFont typeface="Symbol" panose="05050102010706020507" pitchFamily="18" charset="2"/>
              <a:buChar char=""/>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خادم انترنت</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3" name="مربع نص 12">
            <a:extLst>
              <a:ext uri="{FF2B5EF4-FFF2-40B4-BE49-F238E27FC236}">
                <a16:creationId xmlns:a16="http://schemas.microsoft.com/office/drawing/2014/main" id="{4BF195BC-9984-4456-A97E-013CFA632305}"/>
              </a:ext>
            </a:extLst>
          </p:cNvPr>
          <p:cNvSpPr txBox="1"/>
          <p:nvPr/>
        </p:nvSpPr>
        <p:spPr>
          <a:xfrm>
            <a:off x="4156711" y="1239389"/>
            <a:ext cx="1117600" cy="400110"/>
          </a:xfrm>
          <a:prstGeom prst="rect">
            <a:avLst/>
          </a:prstGeom>
          <a:noFill/>
        </p:spPr>
        <p:txBody>
          <a:bodyPr wrap="square">
            <a:spAutoFit/>
          </a:bodyPr>
          <a:lstStyle/>
          <a:p>
            <a:r>
              <a:rPr lang="ar-SA" sz="2000" b="1" dirty="0">
                <a:effectLst/>
                <a:ea typeface="Times New Roman" panose="02020603050405020304" pitchFamily="18" charset="0"/>
                <a:cs typeface="Times New Roman" panose="02020603050405020304" pitchFamily="18" charset="0"/>
              </a:rPr>
              <a:t>بنية الشبكة</a:t>
            </a:r>
            <a:endParaRPr lang="en-US" sz="2000" b="1" dirty="0"/>
          </a:p>
        </p:txBody>
      </p:sp>
    </p:spTree>
    <p:extLst>
      <p:ext uri="{BB962C8B-B14F-4D97-AF65-F5344CB8AC3E}">
        <p14:creationId xmlns:p14="http://schemas.microsoft.com/office/powerpoint/2010/main" val="2482978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15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جدول 4">
            <a:extLst>
              <a:ext uri="{FF2B5EF4-FFF2-40B4-BE49-F238E27FC236}">
                <a16:creationId xmlns:a16="http://schemas.microsoft.com/office/drawing/2014/main" id="{41582E97-B09B-48DF-B7D9-8B0385D77560}"/>
              </a:ext>
            </a:extLst>
          </p:cNvPr>
          <p:cNvGraphicFramePr>
            <a:graphicFrameLocks noGrp="1"/>
          </p:cNvGraphicFramePr>
          <p:nvPr>
            <p:extLst>
              <p:ext uri="{D42A27DB-BD31-4B8C-83A1-F6EECF244321}">
                <p14:modId xmlns:p14="http://schemas.microsoft.com/office/powerpoint/2010/main" val="1788513432"/>
              </p:ext>
            </p:extLst>
          </p:nvPr>
        </p:nvGraphicFramePr>
        <p:xfrm>
          <a:off x="1901371" y="1327459"/>
          <a:ext cx="8215086" cy="4766250"/>
        </p:xfrm>
        <a:graphic>
          <a:graphicData uri="http://schemas.openxmlformats.org/drawingml/2006/table">
            <a:tbl>
              <a:tblPr firstRow="1" firstCol="1" bandRow="1">
                <a:tableStyleId>{5C22544A-7EE6-4342-B048-85BDC9FD1C3A}</a:tableStyleId>
              </a:tblPr>
              <a:tblGrid>
                <a:gridCol w="1629216">
                  <a:extLst>
                    <a:ext uri="{9D8B030D-6E8A-4147-A177-3AD203B41FA5}">
                      <a16:colId xmlns:a16="http://schemas.microsoft.com/office/drawing/2014/main" val="2724380201"/>
                    </a:ext>
                  </a:extLst>
                </a:gridCol>
                <a:gridCol w="1176656">
                  <a:extLst>
                    <a:ext uri="{9D8B030D-6E8A-4147-A177-3AD203B41FA5}">
                      <a16:colId xmlns:a16="http://schemas.microsoft.com/office/drawing/2014/main" val="323600358"/>
                    </a:ext>
                  </a:extLst>
                </a:gridCol>
                <a:gridCol w="3017366">
                  <a:extLst>
                    <a:ext uri="{9D8B030D-6E8A-4147-A177-3AD203B41FA5}">
                      <a16:colId xmlns:a16="http://schemas.microsoft.com/office/drawing/2014/main" val="1543202374"/>
                    </a:ext>
                  </a:extLst>
                </a:gridCol>
                <a:gridCol w="2391848">
                  <a:extLst>
                    <a:ext uri="{9D8B030D-6E8A-4147-A177-3AD203B41FA5}">
                      <a16:colId xmlns:a16="http://schemas.microsoft.com/office/drawing/2014/main" val="947023776"/>
                    </a:ext>
                  </a:extLst>
                </a:gridCol>
              </a:tblGrid>
              <a:tr h="537421">
                <a:tc>
                  <a:txBody>
                    <a:bodyPr/>
                    <a:lstStyle/>
                    <a:p>
                      <a:pPr algn="ctr">
                        <a:lnSpc>
                          <a:spcPct val="115000"/>
                        </a:lnSpc>
                        <a:spcBef>
                          <a:spcPts val="600"/>
                        </a:spcBef>
                        <a:spcAft>
                          <a:spcPts val="600"/>
                        </a:spcAft>
                      </a:pPr>
                      <a:r>
                        <a:rPr lang="en-US" sz="1000">
                          <a:effectLst/>
                        </a:rPr>
                        <a:t>Device</a:t>
                      </a:r>
                      <a:endParaRPr lang="en-US" sz="1000" b="1">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Bef>
                          <a:spcPts val="600"/>
                        </a:spcBef>
                        <a:spcAft>
                          <a:spcPts val="600"/>
                        </a:spcAft>
                      </a:pPr>
                      <a:r>
                        <a:rPr lang="en-US" sz="1000">
                          <a:effectLst/>
                        </a:rPr>
                        <a:t>Interface</a:t>
                      </a:r>
                      <a:endParaRPr lang="en-US" sz="1000" b="1">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Bef>
                          <a:spcPts val="600"/>
                        </a:spcBef>
                        <a:spcAft>
                          <a:spcPts val="600"/>
                        </a:spcAft>
                      </a:pPr>
                      <a:r>
                        <a:rPr lang="en-US" sz="1000">
                          <a:effectLst/>
                        </a:rPr>
                        <a:t>IP Address/Mask</a:t>
                      </a:r>
                      <a:endParaRPr lang="en-US" sz="1000" b="1">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Bef>
                          <a:spcPts val="600"/>
                        </a:spcBef>
                        <a:spcAft>
                          <a:spcPts val="600"/>
                        </a:spcAft>
                      </a:pPr>
                      <a:r>
                        <a:rPr lang="en-US" sz="1000" dirty="0">
                          <a:effectLst/>
                        </a:rPr>
                        <a:t>Default Gateway</a:t>
                      </a:r>
                      <a:endParaRPr lang="en-US" sz="10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57684021"/>
                  </a:ext>
                </a:extLst>
              </a:tr>
              <a:tr h="806131">
                <a:tc>
                  <a:txBody>
                    <a:bodyPr/>
                    <a:lstStyle/>
                    <a:p>
                      <a:pPr algn="ctr">
                        <a:spcBef>
                          <a:spcPts val="300"/>
                        </a:spcBef>
                        <a:spcAft>
                          <a:spcPts val="300"/>
                        </a:spcAft>
                      </a:pPr>
                      <a:r>
                        <a:rPr lang="en-US" sz="1000">
                          <a:effectLst/>
                        </a:rPr>
                        <a:t>R3</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G0/0/0</a:t>
                      </a:r>
                    </a:p>
                    <a:p>
                      <a:pPr algn="ctr">
                        <a:spcBef>
                          <a:spcPts val="300"/>
                        </a:spcBef>
                        <a:spcAft>
                          <a:spcPts val="300"/>
                        </a:spcAft>
                      </a:pPr>
                      <a:r>
                        <a:rPr lang="en-US" sz="1000">
                          <a:effectLst/>
                        </a:rPr>
                        <a:t>Se0/1/1</a:t>
                      </a:r>
                    </a:p>
                    <a:p>
                      <a:pPr algn="ctr">
                        <a:spcBef>
                          <a:spcPts val="300"/>
                        </a:spcBef>
                        <a:spcAft>
                          <a:spcPts val="300"/>
                        </a:spcAft>
                      </a:pPr>
                      <a:r>
                        <a:rPr lang="en-US" sz="1000">
                          <a:effectLst/>
                        </a:rPr>
                        <a:t>Se0/1/0</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192.168.100.1  /24</a:t>
                      </a:r>
                    </a:p>
                    <a:p>
                      <a:pPr algn="ctr">
                        <a:spcBef>
                          <a:spcPts val="300"/>
                        </a:spcBef>
                        <a:spcAft>
                          <a:spcPts val="300"/>
                        </a:spcAft>
                      </a:pPr>
                      <a:r>
                        <a:rPr lang="en-US" sz="1000">
                          <a:effectLst/>
                        </a:rPr>
                        <a:t>192.168.4.2 /24</a:t>
                      </a:r>
                    </a:p>
                    <a:p>
                      <a:pPr algn="ctr">
                        <a:spcBef>
                          <a:spcPts val="300"/>
                        </a:spcBef>
                        <a:spcAft>
                          <a:spcPts val="300"/>
                        </a:spcAft>
                      </a:pPr>
                      <a:r>
                        <a:rPr lang="en-US" sz="1000">
                          <a:effectLst/>
                        </a:rPr>
                        <a:t>192.168.3.2 /24</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dirty="0">
                          <a:effectLst/>
                        </a:rPr>
                        <a:t>N/A</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03611158"/>
                  </a:ext>
                </a:extLst>
              </a:tr>
              <a:tr h="503832">
                <a:tc>
                  <a:txBody>
                    <a:bodyPr/>
                    <a:lstStyle/>
                    <a:p>
                      <a:pPr algn="ctr">
                        <a:spcBef>
                          <a:spcPts val="300"/>
                        </a:spcBef>
                        <a:spcAft>
                          <a:spcPts val="300"/>
                        </a:spcAft>
                      </a:pPr>
                      <a:r>
                        <a:rPr lang="en-US" sz="1000">
                          <a:effectLst/>
                        </a:rPr>
                        <a:t>R1</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G0/0/0</a:t>
                      </a:r>
                    </a:p>
                    <a:p>
                      <a:pPr algn="ctr">
                        <a:spcBef>
                          <a:spcPts val="300"/>
                        </a:spcBef>
                        <a:spcAft>
                          <a:spcPts val="300"/>
                        </a:spcAft>
                      </a:pPr>
                      <a:r>
                        <a:rPr lang="en-US" sz="1000">
                          <a:effectLst/>
                        </a:rPr>
                        <a:t>Se0/1/0</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192.168.1.1  /24</a:t>
                      </a:r>
                    </a:p>
                    <a:p>
                      <a:pPr algn="ctr">
                        <a:spcBef>
                          <a:spcPts val="300"/>
                        </a:spcBef>
                        <a:spcAft>
                          <a:spcPts val="300"/>
                        </a:spcAft>
                      </a:pPr>
                      <a:r>
                        <a:rPr lang="en-US" sz="1000">
                          <a:effectLst/>
                        </a:rPr>
                        <a:t>192.168.3.1 /24</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N/A</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96827251"/>
                  </a:ext>
                </a:extLst>
              </a:tr>
              <a:tr h="503832">
                <a:tc>
                  <a:txBody>
                    <a:bodyPr/>
                    <a:lstStyle/>
                    <a:p>
                      <a:pPr algn="ctr">
                        <a:spcBef>
                          <a:spcPts val="300"/>
                        </a:spcBef>
                        <a:spcAft>
                          <a:spcPts val="300"/>
                        </a:spcAft>
                      </a:pPr>
                      <a:r>
                        <a:rPr lang="en-US" sz="1000">
                          <a:effectLst/>
                        </a:rPr>
                        <a:t>R2</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G0/0/0</a:t>
                      </a:r>
                    </a:p>
                    <a:p>
                      <a:pPr algn="ctr">
                        <a:spcBef>
                          <a:spcPts val="300"/>
                        </a:spcBef>
                        <a:spcAft>
                          <a:spcPts val="300"/>
                        </a:spcAft>
                      </a:pPr>
                      <a:r>
                        <a:rPr lang="en-US" sz="1000">
                          <a:effectLst/>
                        </a:rPr>
                        <a:t>Se0/1/1</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192.168.2.1  /24</a:t>
                      </a:r>
                    </a:p>
                    <a:p>
                      <a:pPr algn="ctr">
                        <a:spcBef>
                          <a:spcPts val="300"/>
                        </a:spcBef>
                        <a:spcAft>
                          <a:spcPts val="300"/>
                        </a:spcAft>
                      </a:pPr>
                      <a:r>
                        <a:rPr lang="en-US" sz="1000">
                          <a:effectLst/>
                        </a:rPr>
                        <a:t>192.168.4.1 /24</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N/A</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42566785"/>
                  </a:ext>
                </a:extLst>
              </a:tr>
              <a:tr h="371156">
                <a:tc>
                  <a:txBody>
                    <a:bodyPr/>
                    <a:lstStyle/>
                    <a:p>
                      <a:pPr algn="ctr">
                        <a:spcBef>
                          <a:spcPts val="300"/>
                        </a:spcBef>
                        <a:spcAft>
                          <a:spcPts val="300"/>
                        </a:spcAft>
                      </a:pPr>
                      <a:r>
                        <a:rPr lang="en-US" sz="1000">
                          <a:effectLst/>
                        </a:rPr>
                        <a:t>SW1</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SVI</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192.168.1.4 /24</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192.168.1.1</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83911405"/>
                  </a:ext>
                </a:extLst>
              </a:tr>
              <a:tr h="371156">
                <a:tc>
                  <a:txBody>
                    <a:bodyPr/>
                    <a:lstStyle/>
                    <a:p>
                      <a:pPr algn="ctr">
                        <a:spcBef>
                          <a:spcPts val="300"/>
                        </a:spcBef>
                        <a:spcAft>
                          <a:spcPts val="300"/>
                        </a:spcAft>
                      </a:pPr>
                      <a:r>
                        <a:rPr lang="en-US" sz="1000">
                          <a:effectLst/>
                        </a:rPr>
                        <a:t>SW2</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SVI</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192.168.2.4 /24</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192.168.2.1</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68044492"/>
                  </a:ext>
                </a:extLst>
              </a:tr>
              <a:tr h="371156">
                <a:tc>
                  <a:txBody>
                    <a:bodyPr/>
                    <a:lstStyle/>
                    <a:p>
                      <a:pPr algn="ctr">
                        <a:spcBef>
                          <a:spcPts val="300"/>
                        </a:spcBef>
                        <a:spcAft>
                          <a:spcPts val="300"/>
                        </a:spcAft>
                      </a:pPr>
                      <a:r>
                        <a:rPr lang="en-US" sz="1000">
                          <a:effectLst/>
                        </a:rPr>
                        <a:t>PC0</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Fa0</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DHCP</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dirty="0">
                          <a:effectLst/>
                        </a:rPr>
                        <a:t>DHCP</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58687719"/>
                  </a:ext>
                </a:extLst>
              </a:tr>
              <a:tr h="382912">
                <a:tc>
                  <a:txBody>
                    <a:bodyPr/>
                    <a:lstStyle/>
                    <a:p>
                      <a:pPr algn="ctr"/>
                      <a:r>
                        <a:rPr lang="en-US" sz="1000">
                          <a:effectLst/>
                        </a:rPr>
                        <a:t>PC1</a:t>
                      </a:r>
                      <a:endParaRPr lang="en-US" sz="1000" i="1">
                        <a:solidFill>
                          <a:srgbClr val="FFC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000">
                          <a:effectLst/>
                        </a:rPr>
                        <a:t>Fa0</a:t>
                      </a:r>
                      <a:endParaRPr lang="en-US" sz="1000" i="1">
                        <a:solidFill>
                          <a:srgbClr val="FFC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DHCP</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DHCP</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44902784"/>
                  </a:ext>
                </a:extLst>
              </a:tr>
              <a:tr h="459327">
                <a:tc>
                  <a:txBody>
                    <a:bodyPr/>
                    <a:lstStyle/>
                    <a:p>
                      <a:pPr algn="ctr"/>
                      <a:r>
                        <a:rPr lang="en-US" sz="1000">
                          <a:effectLst/>
                        </a:rPr>
                        <a:t>Radius2</a:t>
                      </a:r>
                      <a:endParaRPr lang="en-US" sz="1000" i="1">
                        <a:solidFill>
                          <a:srgbClr val="FFC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000">
                          <a:effectLst/>
                        </a:rPr>
                        <a:t>Fa0</a:t>
                      </a:r>
                      <a:endParaRPr lang="en-US" sz="1000" i="1">
                        <a:solidFill>
                          <a:srgbClr val="FFC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192.168.2.3  /24</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192.168.2.1</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21186934"/>
                  </a:ext>
                </a:extLst>
              </a:tr>
              <a:tr h="459327">
                <a:tc>
                  <a:txBody>
                    <a:bodyPr/>
                    <a:lstStyle/>
                    <a:p>
                      <a:pPr algn="ctr"/>
                      <a:r>
                        <a:rPr lang="en-US" sz="1000">
                          <a:effectLst/>
                        </a:rPr>
                        <a:t>Radius1</a:t>
                      </a:r>
                      <a:endParaRPr lang="en-US" sz="1000" i="1">
                        <a:solidFill>
                          <a:srgbClr val="FFC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000">
                          <a:effectLst/>
                        </a:rPr>
                        <a:t>Fa0</a:t>
                      </a:r>
                      <a:endParaRPr lang="en-US" sz="1000" i="1">
                        <a:solidFill>
                          <a:srgbClr val="FFC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a:effectLst/>
                        </a:rPr>
                        <a:t>192.168.1.3  /24</a:t>
                      </a:r>
                      <a:endParaRPr lang="en-US" sz="10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Bef>
                          <a:spcPts val="300"/>
                        </a:spcBef>
                        <a:spcAft>
                          <a:spcPts val="300"/>
                        </a:spcAft>
                      </a:pPr>
                      <a:r>
                        <a:rPr lang="en-US" sz="1000" dirty="0">
                          <a:effectLst/>
                        </a:rPr>
                        <a:t>192.168.1.1</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10092923"/>
                  </a:ext>
                </a:extLst>
              </a:tr>
            </a:tbl>
          </a:graphicData>
        </a:graphic>
      </p:graphicFrame>
      <p:sp>
        <p:nvSpPr>
          <p:cNvPr id="7" name="Rectangle 2">
            <a:extLst>
              <a:ext uri="{FF2B5EF4-FFF2-40B4-BE49-F238E27FC236}">
                <a16:creationId xmlns:a16="http://schemas.microsoft.com/office/drawing/2014/main" id="{0F0DA351-BA19-4EA2-9AF1-61F78D25621C}"/>
              </a:ext>
            </a:extLst>
          </p:cNvPr>
          <p:cNvSpPr>
            <a:spLocks noChangeArrowheads="1"/>
          </p:cNvSpPr>
          <p:nvPr/>
        </p:nvSpPr>
        <p:spPr bwMode="auto">
          <a:xfrm>
            <a:off x="3186113" y="21986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مربع نص 8">
            <a:extLst>
              <a:ext uri="{FF2B5EF4-FFF2-40B4-BE49-F238E27FC236}">
                <a16:creationId xmlns:a16="http://schemas.microsoft.com/office/drawing/2014/main" id="{C1FFEB75-7D17-4994-BDF3-83FB7086D5AC}"/>
              </a:ext>
            </a:extLst>
          </p:cNvPr>
          <p:cNvSpPr txBox="1"/>
          <p:nvPr/>
        </p:nvSpPr>
        <p:spPr>
          <a:xfrm>
            <a:off x="5379730" y="637063"/>
            <a:ext cx="1432539" cy="400110"/>
          </a:xfrm>
          <a:prstGeom prst="rect">
            <a:avLst/>
          </a:prstGeom>
          <a:noFill/>
        </p:spPr>
        <p:txBody>
          <a:bodyPr wrap="square">
            <a:spAutoFit/>
          </a:bodyPr>
          <a:lstStyle/>
          <a:p>
            <a:r>
              <a:rPr lang="ar-SA" sz="2000" b="1" dirty="0">
                <a:cs typeface="Times New Roman" panose="02020603050405020304" pitchFamily="18" charset="0"/>
              </a:rPr>
              <a:t>عناوين الشبكة</a:t>
            </a:r>
            <a:endParaRPr lang="en-US" sz="2000" dirty="0"/>
          </a:p>
        </p:txBody>
      </p:sp>
    </p:spTree>
    <p:extLst>
      <p:ext uri="{BB962C8B-B14F-4D97-AF65-F5344CB8AC3E}">
        <p14:creationId xmlns:p14="http://schemas.microsoft.com/office/powerpoint/2010/main" val="2188157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16</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مربع نص 4">
            <a:extLst>
              <a:ext uri="{FF2B5EF4-FFF2-40B4-BE49-F238E27FC236}">
                <a16:creationId xmlns:a16="http://schemas.microsoft.com/office/drawing/2014/main" id="{6E0F2E6E-2C56-4160-B036-3B0AF9DABF79}"/>
              </a:ext>
            </a:extLst>
          </p:cNvPr>
          <p:cNvSpPr txBox="1"/>
          <p:nvPr/>
        </p:nvSpPr>
        <p:spPr>
          <a:xfrm>
            <a:off x="0" y="1037173"/>
            <a:ext cx="12192000" cy="2339102"/>
          </a:xfrm>
          <a:prstGeom prst="rect">
            <a:avLst/>
          </a:prstGeom>
          <a:noFill/>
        </p:spPr>
        <p:txBody>
          <a:bodyPr wrap="square">
            <a:spAutoFit/>
          </a:bodyPr>
          <a:lstStyle/>
          <a:p>
            <a:pPr algn="r"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التوجيه</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مرحبًا بك في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Basic Router Configuration</a:t>
            </a:r>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 (تكوين جهاز التوجيه الأساسي)</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6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يتم إنشاء جداول التوجيه واستخدامها بواسطة أجهزة التوجيه لإعادة توجيه الحزم من شبكاتها المحلية إلى شبكات أخرى. لكن جهاز التوجيه لا يمكنه إنشاء جدول توجيه أو إعادة توجيه أي حزم حتى يتم تكوينه. إذا كنت تخطط لأن تصبح مسؤول شبكة ، فعليك بالتأكيد معرفة كيفية القيام بذلك.</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4101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19"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مربع نص 4">
            <a:extLst>
              <a:ext uri="{FF2B5EF4-FFF2-40B4-BE49-F238E27FC236}">
                <a16:creationId xmlns:a16="http://schemas.microsoft.com/office/drawing/2014/main" id="{C0CF6374-1942-487D-8247-4E4BA35C0B23}"/>
              </a:ext>
            </a:extLst>
          </p:cNvPr>
          <p:cNvSpPr txBox="1"/>
          <p:nvPr/>
        </p:nvSpPr>
        <p:spPr>
          <a:xfrm>
            <a:off x="6066972" y="686653"/>
            <a:ext cx="6125028" cy="923330"/>
          </a:xfrm>
          <a:prstGeom prst="rect">
            <a:avLst/>
          </a:prstGeom>
          <a:noFill/>
        </p:spPr>
        <p:txBody>
          <a:bodyPr wrap="square">
            <a:spAutoFit/>
          </a:bodyPr>
          <a:lstStyle/>
          <a:p>
            <a:pPr algn="just" rtl="1"/>
            <a:r>
              <a:rPr lang="ar-SA" sz="2000" b="1" dirty="0">
                <a:effectLst/>
                <a:latin typeface="Calibri" panose="020F0502020204030204" pitchFamily="34" charset="0"/>
                <a:ea typeface="Times New Roman" panose="02020603050405020304" pitchFamily="18" charset="0"/>
                <a:cs typeface="Times New Roman" panose="02020603050405020304" pitchFamily="18" charset="0"/>
              </a:rPr>
              <a:t>خطوات التكوين الأساسية لجهاز التوجيه </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1</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6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1"/>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الخطوة 1: قم بتكوين اسم مضيف جهاز التوجيه</a:t>
            </a:r>
            <a:endParaRPr lang="en-US" sz="16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CB019BBD-638B-43EB-B47D-01DBE6C00620}"/>
              </a:ext>
            </a:extLst>
          </p:cNvPr>
          <p:cNvSpPr>
            <a:spLocks noChangeArrowheads="1"/>
          </p:cNvSpPr>
          <p:nvPr/>
        </p:nvSpPr>
        <p:spPr bwMode="auto">
          <a:xfrm>
            <a:off x="10402207" y="1609983"/>
            <a:ext cx="17897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1" eaLnBrk="0" fontAlgn="base" latinLnBrk="0" hangingPunct="0">
              <a:lnSpc>
                <a:spcPct val="100000"/>
              </a:lnSpc>
              <a:spcBef>
                <a:spcPct val="0"/>
              </a:spcBef>
              <a:spcAft>
                <a:spcPct val="0"/>
              </a:spcAft>
              <a:buClrTx/>
              <a:buSzTx/>
              <a:buFontTx/>
              <a:buNone/>
              <a:tabLst/>
            </a:pPr>
            <a:r>
              <a:rPr kumimoji="0" lang="ar-SA" altLang="en-US" sz="1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قم بإنشاء اسم لجهاز التوجيه:</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graphicFrame>
        <p:nvGraphicFramePr>
          <p:cNvPr id="10" name="جدول 9">
            <a:extLst>
              <a:ext uri="{FF2B5EF4-FFF2-40B4-BE49-F238E27FC236}">
                <a16:creationId xmlns:a16="http://schemas.microsoft.com/office/drawing/2014/main" id="{DAAE320E-E708-4DA9-8F8F-D0D4080BE2AB}"/>
              </a:ext>
            </a:extLst>
          </p:cNvPr>
          <p:cNvGraphicFramePr>
            <a:graphicFrameLocks noGrp="1"/>
          </p:cNvGraphicFramePr>
          <p:nvPr>
            <p:extLst>
              <p:ext uri="{D42A27DB-BD31-4B8C-83A1-F6EECF244321}">
                <p14:modId xmlns:p14="http://schemas.microsoft.com/office/powerpoint/2010/main" val="2174622908"/>
              </p:ext>
            </p:extLst>
          </p:nvPr>
        </p:nvGraphicFramePr>
        <p:xfrm>
          <a:off x="6655708" y="2047716"/>
          <a:ext cx="5268595" cy="701040"/>
        </p:xfrm>
        <a:graphic>
          <a:graphicData uri="http://schemas.openxmlformats.org/drawingml/2006/table">
            <a:tbl>
              <a:tblPr firstRow="1" firstCol="1" bandRow="1"/>
              <a:tblGrid>
                <a:gridCol w="5268595">
                  <a:extLst>
                    <a:ext uri="{9D8B030D-6E8A-4147-A177-3AD203B41FA5}">
                      <a16:colId xmlns:a16="http://schemas.microsoft.com/office/drawing/2014/main" val="1611194454"/>
                    </a:ext>
                  </a:extLst>
                </a:gridCol>
              </a:tblGrid>
              <a:tr h="495847">
                <a:tc>
                  <a:txBody>
                    <a:bodyPr/>
                    <a:lstStyle/>
                    <a:p>
                      <a:pPr lvl="1" algn="l"/>
                      <a:r>
                        <a:rPr lang="en-US" sz="1100" dirty="0">
                          <a:effectLst/>
                          <a:latin typeface="Courier New" panose="02070309020205020404" pitchFamily="49" charset="0"/>
                          <a:ea typeface="Times New Roman" panose="02020603050405020304" pitchFamily="18" charset="0"/>
                          <a:cs typeface="Arial" panose="020B0604020202020204" pitchFamily="34" charset="0"/>
                        </a:rPr>
                        <a:t>Router&gt; </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enable</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lvl="1" algn="l"/>
                      <a:r>
                        <a:rPr lang="en-US" sz="1100" dirty="0">
                          <a:effectLst/>
                          <a:latin typeface="Courier New" panose="02070309020205020404" pitchFamily="49" charset="0"/>
                          <a:ea typeface="Times New Roman" panose="02020603050405020304" pitchFamily="18" charset="0"/>
                          <a:cs typeface="Arial" panose="020B0604020202020204" pitchFamily="34" charset="0"/>
                        </a:rPr>
                        <a:t>Router </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configure terminal</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algn="l"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Router(config)#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hostname R1</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R1(config)#</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3833637"/>
                  </a:ext>
                </a:extLst>
              </a:tr>
            </a:tbl>
          </a:graphicData>
        </a:graphic>
      </p:graphicFrame>
      <p:sp>
        <p:nvSpPr>
          <p:cNvPr id="12" name="مربع نص 11">
            <a:extLst>
              <a:ext uri="{FF2B5EF4-FFF2-40B4-BE49-F238E27FC236}">
                <a16:creationId xmlns:a16="http://schemas.microsoft.com/office/drawing/2014/main" id="{D9682A37-4005-42B3-9F72-85BA4FC45F63}"/>
              </a:ext>
            </a:extLst>
          </p:cNvPr>
          <p:cNvSpPr txBox="1"/>
          <p:nvPr/>
        </p:nvSpPr>
        <p:spPr>
          <a:xfrm>
            <a:off x="7356764" y="2547928"/>
            <a:ext cx="4835236" cy="584775"/>
          </a:xfrm>
          <a:prstGeom prst="rect">
            <a:avLst/>
          </a:prstGeom>
          <a:noFill/>
        </p:spPr>
        <p:txBody>
          <a:bodyPr wrap="square">
            <a:spAutoFit/>
          </a:bodyPr>
          <a:lstStyle/>
          <a:p>
            <a:pPr algn="r" rtl="1"/>
            <a:r>
              <a:rPr lang="ar-SA" sz="16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1600" b="1" dirty="0">
                <a:effectLst/>
                <a:latin typeface="Calibri" panose="020F0502020204030204" pitchFamily="34" charset="0"/>
                <a:ea typeface="Times New Roman" panose="02020603050405020304" pitchFamily="18" charset="0"/>
                <a:cs typeface="Times New Roman" panose="02020603050405020304" pitchFamily="18" charset="0"/>
              </a:rPr>
              <a:t>الخطوة 2: تكوين واجهة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Gigabit Ethernet</a:t>
            </a:r>
            <a:r>
              <a:rPr lang="ar-SA" sz="1600" b="1" dirty="0">
                <a:effectLst/>
                <a:latin typeface="Calibri" panose="020F0502020204030204" pitchFamily="34" charset="0"/>
                <a:ea typeface="Times New Roman" panose="02020603050405020304" pitchFamily="18" charset="0"/>
                <a:cs typeface="Times New Roman" panose="02020603050405020304" pitchFamily="18" charset="0"/>
              </a:rPr>
              <a:t> على جهاز التوجيه</a:t>
            </a:r>
            <a:endParaRPr lang="en-US" sz="14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15" name="جدول 14">
            <a:extLst>
              <a:ext uri="{FF2B5EF4-FFF2-40B4-BE49-F238E27FC236}">
                <a16:creationId xmlns:a16="http://schemas.microsoft.com/office/drawing/2014/main" id="{3B34CADD-4D5D-45A3-A4D4-06399A2FB6AB}"/>
              </a:ext>
            </a:extLst>
          </p:cNvPr>
          <p:cNvGraphicFramePr>
            <a:graphicFrameLocks noGrp="1"/>
          </p:cNvGraphicFramePr>
          <p:nvPr>
            <p:extLst>
              <p:ext uri="{D42A27DB-BD31-4B8C-83A1-F6EECF244321}">
                <p14:modId xmlns:p14="http://schemas.microsoft.com/office/powerpoint/2010/main" val="2127077283"/>
              </p:ext>
            </p:extLst>
          </p:nvPr>
        </p:nvGraphicFramePr>
        <p:xfrm>
          <a:off x="6655708" y="3198575"/>
          <a:ext cx="5268595" cy="868680"/>
        </p:xfrm>
        <a:graphic>
          <a:graphicData uri="http://schemas.openxmlformats.org/drawingml/2006/table">
            <a:tbl>
              <a:tblPr firstRow="1" firstCol="1" bandRow="1"/>
              <a:tblGrid>
                <a:gridCol w="5268595">
                  <a:extLst>
                    <a:ext uri="{9D8B030D-6E8A-4147-A177-3AD203B41FA5}">
                      <a16:colId xmlns:a16="http://schemas.microsoft.com/office/drawing/2014/main" val="1420342810"/>
                    </a:ext>
                  </a:extLst>
                </a:gridCol>
              </a:tblGrid>
              <a:tr h="0">
                <a:tc>
                  <a:txBody>
                    <a:bodyPr/>
                    <a:lstStyle/>
                    <a:p>
                      <a:pPr algn="l"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R1&gt; </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enable</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a:r>
                        <a:rPr lang="en-US" sz="1100" dirty="0">
                          <a:effectLst/>
                          <a:latin typeface="Courier New" panose="02070309020205020404" pitchFamily="49" charset="0"/>
                          <a:ea typeface="Times New Roman" panose="02020603050405020304" pitchFamily="18" charset="0"/>
                          <a:cs typeface="Arial" panose="020B0604020202020204" pitchFamily="34" charset="0"/>
                        </a:rPr>
                        <a:t>R1#</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configure terminal</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algn="l"/>
                      <a:r>
                        <a:rPr lang="en-US" sz="1100" dirty="0">
                          <a:effectLst/>
                          <a:latin typeface="Courier New" panose="02070309020205020404" pitchFamily="49" charset="0"/>
                          <a:ea typeface="Times New Roman" panose="02020603050405020304" pitchFamily="18" charset="0"/>
                          <a:cs typeface="Arial" panose="020B0604020202020204" pitchFamily="34" charset="0"/>
                        </a:rPr>
                        <a:t>R1(config)#</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interface g0/0/0</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algn="l"/>
                      <a:r>
                        <a:rPr lang="en-US" sz="1100" dirty="0">
                          <a:effectLst/>
                          <a:latin typeface="Courier New" panose="02070309020205020404" pitchFamily="49" charset="0"/>
                          <a:ea typeface="Times New Roman" panose="02020603050405020304" pitchFamily="18" charset="0"/>
                          <a:cs typeface="Arial" panose="020B0604020202020204" pitchFamily="34" charset="0"/>
                        </a:rPr>
                        <a:t>R1(config-if)#</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IP address 192.168.1.1 255.255.255.0</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algn="l" rtl="0"/>
                      <a:r>
                        <a:rPr lang="en-US" sz="12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R1(config-if)</a:t>
                      </a:r>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no shutdown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8609072"/>
                  </a:ext>
                </a:extLst>
              </a:tr>
            </a:tbl>
          </a:graphicData>
        </a:graphic>
      </p:graphicFrame>
      <p:sp>
        <p:nvSpPr>
          <p:cNvPr id="17" name="مربع نص 16">
            <a:extLst>
              <a:ext uri="{FF2B5EF4-FFF2-40B4-BE49-F238E27FC236}">
                <a16:creationId xmlns:a16="http://schemas.microsoft.com/office/drawing/2014/main" id="{E68E21D3-2556-446C-851E-D2DCB29E27E4}"/>
              </a:ext>
            </a:extLst>
          </p:cNvPr>
          <p:cNvSpPr txBox="1"/>
          <p:nvPr/>
        </p:nvSpPr>
        <p:spPr>
          <a:xfrm>
            <a:off x="6066972" y="4164374"/>
            <a:ext cx="6125028" cy="369332"/>
          </a:xfrm>
          <a:prstGeom prst="rect">
            <a:avLst/>
          </a:prstGeom>
          <a:noFill/>
        </p:spPr>
        <p:txBody>
          <a:bodyPr wrap="square">
            <a:spAutoFit/>
          </a:bodyPr>
          <a:lstStyle/>
          <a:p>
            <a:pPr algn="r"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تكوين الواجهة التسلسلية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Serial 0/1/0</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18" name="جدول 17">
            <a:extLst>
              <a:ext uri="{FF2B5EF4-FFF2-40B4-BE49-F238E27FC236}">
                <a16:creationId xmlns:a16="http://schemas.microsoft.com/office/drawing/2014/main" id="{817034F0-851E-4F19-BE71-CDF8F89332CB}"/>
              </a:ext>
            </a:extLst>
          </p:cNvPr>
          <p:cNvGraphicFramePr>
            <a:graphicFrameLocks noGrp="1"/>
          </p:cNvGraphicFramePr>
          <p:nvPr>
            <p:extLst>
              <p:ext uri="{D42A27DB-BD31-4B8C-83A1-F6EECF244321}">
                <p14:modId xmlns:p14="http://schemas.microsoft.com/office/powerpoint/2010/main" val="349393906"/>
              </p:ext>
            </p:extLst>
          </p:nvPr>
        </p:nvGraphicFramePr>
        <p:xfrm>
          <a:off x="6655072" y="4652252"/>
          <a:ext cx="5269231" cy="759968"/>
        </p:xfrm>
        <a:graphic>
          <a:graphicData uri="http://schemas.openxmlformats.org/drawingml/2006/table">
            <a:tbl>
              <a:tblPr firstRow="1" firstCol="1" bandRow="1"/>
              <a:tblGrid>
                <a:gridCol w="5269231">
                  <a:extLst>
                    <a:ext uri="{9D8B030D-6E8A-4147-A177-3AD203B41FA5}">
                      <a16:colId xmlns:a16="http://schemas.microsoft.com/office/drawing/2014/main" val="3178787867"/>
                    </a:ext>
                  </a:extLst>
                </a:gridCol>
              </a:tblGrid>
              <a:tr h="0">
                <a:tc>
                  <a:txBody>
                    <a:bodyPr/>
                    <a:lstStyle/>
                    <a:p>
                      <a:pPr algn="l" rtl="0">
                        <a:lnSpc>
                          <a:spcPct val="106000"/>
                        </a:lnSpc>
                        <a:spcAft>
                          <a:spcPts val="1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R1(config)#</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interface serial 0/1/0</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6000"/>
                        </a:lnSpc>
                        <a:spcAft>
                          <a:spcPts val="1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R1(config-if)#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ip address 192.168.3.1 255.255.255.0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2000"/>
                        </a:lnSpc>
                        <a:spcAft>
                          <a:spcPts val="4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R1(config-if)#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no shutdown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2000"/>
                        </a:lnSpc>
                        <a:spcAft>
                          <a:spcPts val="4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R1(config-if)#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exit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0762384"/>
                  </a:ext>
                </a:extLst>
              </a:tr>
            </a:tbl>
          </a:graphicData>
        </a:graphic>
      </p:graphicFrame>
      <p:sp>
        <p:nvSpPr>
          <p:cNvPr id="19" name="Rectangle 3">
            <a:extLst>
              <a:ext uri="{FF2B5EF4-FFF2-40B4-BE49-F238E27FC236}">
                <a16:creationId xmlns:a16="http://schemas.microsoft.com/office/drawing/2014/main" id="{617BA70E-6B5E-4BAD-BF41-22333A62B8C9}"/>
              </a:ext>
            </a:extLst>
          </p:cNvPr>
          <p:cNvSpPr>
            <a:spLocks noChangeArrowheads="1"/>
          </p:cNvSpPr>
          <p:nvPr/>
        </p:nvSpPr>
        <p:spPr bwMode="auto">
          <a:xfrm>
            <a:off x="6655708" y="4652030"/>
            <a:ext cx="1220818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21" name="مربع نص 20">
            <a:extLst>
              <a:ext uri="{FF2B5EF4-FFF2-40B4-BE49-F238E27FC236}">
                <a16:creationId xmlns:a16="http://schemas.microsoft.com/office/drawing/2014/main" id="{02268C98-519B-4541-BEB9-A9EAB0F7F3E0}"/>
              </a:ext>
            </a:extLst>
          </p:cNvPr>
          <p:cNvSpPr txBox="1"/>
          <p:nvPr/>
        </p:nvSpPr>
        <p:spPr>
          <a:xfrm>
            <a:off x="260902" y="86488"/>
            <a:ext cx="5138230" cy="1200329"/>
          </a:xfrm>
          <a:prstGeom prst="rect">
            <a:avLst/>
          </a:prstGeom>
          <a:noFill/>
        </p:spPr>
        <p:txBody>
          <a:bodyPr wrap="square">
            <a:spAutoFit/>
          </a:bodyPr>
          <a:lstStyle/>
          <a:p>
            <a:pPr algn="r" rtl="1"/>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الخطوة 3: حماية تكوينات الجهاز من الوصول غير المصرح به باستخدام كلمة مرور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exec</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 المشفرة ذات الامتيازات</a:t>
            </a:r>
            <a:endParaRPr lang="en-US" sz="16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ar-SA"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r"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قم بتعيين كلمة مرور مشفرة: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22" name="جدول 21">
            <a:extLst>
              <a:ext uri="{FF2B5EF4-FFF2-40B4-BE49-F238E27FC236}">
                <a16:creationId xmlns:a16="http://schemas.microsoft.com/office/drawing/2014/main" id="{45230C84-02F2-4BB8-A536-67E2D841CC67}"/>
              </a:ext>
            </a:extLst>
          </p:cNvPr>
          <p:cNvGraphicFramePr>
            <a:graphicFrameLocks noGrp="1"/>
          </p:cNvGraphicFramePr>
          <p:nvPr>
            <p:extLst>
              <p:ext uri="{D42A27DB-BD31-4B8C-83A1-F6EECF244321}">
                <p14:modId xmlns:p14="http://schemas.microsoft.com/office/powerpoint/2010/main" val="2299536780"/>
              </p:ext>
            </p:extLst>
          </p:nvPr>
        </p:nvGraphicFramePr>
        <p:xfrm>
          <a:off x="195988" y="1332680"/>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1933966375"/>
                    </a:ext>
                  </a:extLst>
                </a:gridCol>
              </a:tblGrid>
              <a:tr h="178435">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a:t>
                      </a:r>
                      <a:r>
                        <a:rPr lang="en-US" sz="12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enable secret lab123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6085673"/>
                  </a:ext>
                </a:extLst>
              </a:tr>
            </a:tbl>
          </a:graphicData>
        </a:graphic>
      </p:graphicFrame>
      <p:sp>
        <p:nvSpPr>
          <p:cNvPr id="24" name="مربع نص 23">
            <a:extLst>
              <a:ext uri="{FF2B5EF4-FFF2-40B4-BE49-F238E27FC236}">
                <a16:creationId xmlns:a16="http://schemas.microsoft.com/office/drawing/2014/main" id="{2E479C77-34EF-4F09-AC6C-125738E8F85A}"/>
              </a:ext>
            </a:extLst>
          </p:cNvPr>
          <p:cNvSpPr txBox="1"/>
          <p:nvPr/>
        </p:nvSpPr>
        <p:spPr>
          <a:xfrm>
            <a:off x="1041556" y="1620749"/>
            <a:ext cx="4357576" cy="369332"/>
          </a:xfrm>
          <a:prstGeom prst="rect">
            <a:avLst/>
          </a:prstGeom>
          <a:noFill/>
        </p:spPr>
        <p:txBody>
          <a:bodyPr wrap="square">
            <a:spAutoFit/>
          </a:bodyPr>
          <a:lstStyle/>
          <a:p>
            <a:pPr algn="r"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أضف تنبيهًا أو إعلانًا عند الدخول إلى جهاز التوجيه:</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25" name="جدول 24">
            <a:extLst>
              <a:ext uri="{FF2B5EF4-FFF2-40B4-BE49-F238E27FC236}">
                <a16:creationId xmlns:a16="http://schemas.microsoft.com/office/drawing/2014/main" id="{F78C9347-8DE2-4619-8653-C804B3CF6897}"/>
              </a:ext>
            </a:extLst>
          </p:cNvPr>
          <p:cNvGraphicFramePr>
            <a:graphicFrameLocks noGrp="1"/>
          </p:cNvGraphicFramePr>
          <p:nvPr>
            <p:extLst>
              <p:ext uri="{D42A27DB-BD31-4B8C-83A1-F6EECF244321}">
                <p14:modId xmlns:p14="http://schemas.microsoft.com/office/powerpoint/2010/main" val="3328458539"/>
              </p:ext>
            </p:extLst>
          </p:nvPr>
        </p:nvGraphicFramePr>
        <p:xfrm>
          <a:off x="195988" y="2041660"/>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2394083540"/>
                    </a:ext>
                  </a:extLst>
                </a:gridCol>
              </a:tblGrid>
              <a:tr h="0">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banner </a:t>
                      </a:r>
                      <a:r>
                        <a:rPr lang="en-US" sz="1200" dirty="0" err="1">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motd</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 $This is Router$</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689167"/>
                  </a:ext>
                </a:extLst>
              </a:tr>
            </a:tbl>
          </a:graphicData>
        </a:graphic>
      </p:graphicFrame>
      <p:sp>
        <p:nvSpPr>
          <p:cNvPr id="27" name="مربع نص 26">
            <a:extLst>
              <a:ext uri="{FF2B5EF4-FFF2-40B4-BE49-F238E27FC236}">
                <a16:creationId xmlns:a16="http://schemas.microsoft.com/office/drawing/2014/main" id="{78DC32C9-4BBC-4D9B-9C75-7AF39F098218}"/>
              </a:ext>
            </a:extLst>
          </p:cNvPr>
          <p:cNvSpPr txBox="1"/>
          <p:nvPr/>
        </p:nvSpPr>
        <p:spPr>
          <a:xfrm>
            <a:off x="1501229" y="2389430"/>
            <a:ext cx="3897903" cy="369332"/>
          </a:xfrm>
          <a:prstGeom prst="rect">
            <a:avLst/>
          </a:prstGeom>
          <a:noFill/>
        </p:spPr>
        <p:txBody>
          <a:bodyPr wrap="square">
            <a:spAutoFit/>
          </a:bodyPr>
          <a:lstStyle/>
          <a:p>
            <a:pPr algn="r"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الحد الأدنى لطول كلمات المرور 8:</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28" name="جدول 27">
            <a:extLst>
              <a:ext uri="{FF2B5EF4-FFF2-40B4-BE49-F238E27FC236}">
                <a16:creationId xmlns:a16="http://schemas.microsoft.com/office/drawing/2014/main" id="{2FB3CFF5-7128-4150-BB7F-4614B35BC2F0}"/>
              </a:ext>
            </a:extLst>
          </p:cNvPr>
          <p:cNvGraphicFramePr>
            <a:graphicFrameLocks noGrp="1"/>
          </p:cNvGraphicFramePr>
          <p:nvPr>
            <p:extLst>
              <p:ext uri="{D42A27DB-BD31-4B8C-83A1-F6EECF244321}">
                <p14:modId xmlns:p14="http://schemas.microsoft.com/office/powerpoint/2010/main" val="3978571912"/>
              </p:ext>
            </p:extLst>
          </p:nvPr>
        </p:nvGraphicFramePr>
        <p:xfrm>
          <a:off x="195988" y="2897733"/>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816747284"/>
                    </a:ext>
                  </a:extLst>
                </a:gridCol>
              </a:tblGrid>
              <a:tr h="0">
                <a:tc>
                  <a:txBody>
                    <a:bodyPr/>
                    <a:lstStyle/>
                    <a:p>
                      <a:pPr algn="just" rtl="0"/>
                      <a:r>
                        <a:rPr lang="en-US" sz="12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R1(config)#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security passwords min-length 8</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3893676"/>
                  </a:ext>
                </a:extLst>
              </a:tr>
            </a:tbl>
          </a:graphicData>
        </a:graphic>
      </p:graphicFrame>
      <p:sp>
        <p:nvSpPr>
          <p:cNvPr id="29" name="Rectangle 4">
            <a:extLst>
              <a:ext uri="{FF2B5EF4-FFF2-40B4-BE49-F238E27FC236}">
                <a16:creationId xmlns:a16="http://schemas.microsoft.com/office/drawing/2014/main" id="{978C9A81-D766-4BCB-8386-EAD0340DD316}"/>
              </a:ext>
            </a:extLst>
          </p:cNvPr>
          <p:cNvSpPr>
            <a:spLocks noChangeArrowheads="1"/>
          </p:cNvSpPr>
          <p:nvPr/>
        </p:nvSpPr>
        <p:spPr bwMode="auto">
          <a:xfrm>
            <a:off x="1212624" y="3158111"/>
            <a:ext cx="946989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1" name="مربع نص 30">
            <a:extLst>
              <a:ext uri="{FF2B5EF4-FFF2-40B4-BE49-F238E27FC236}">
                <a16:creationId xmlns:a16="http://schemas.microsoft.com/office/drawing/2014/main" id="{B1E6A430-E1E0-4D39-92AC-32B3A84A4FF9}"/>
              </a:ext>
            </a:extLst>
          </p:cNvPr>
          <p:cNvSpPr txBox="1"/>
          <p:nvPr/>
        </p:nvSpPr>
        <p:spPr>
          <a:xfrm>
            <a:off x="467567" y="3249513"/>
            <a:ext cx="4931565" cy="369332"/>
          </a:xfrm>
          <a:prstGeom prst="rect">
            <a:avLst/>
          </a:prstGeom>
          <a:noFill/>
        </p:spPr>
        <p:txBody>
          <a:bodyPr wrap="square">
            <a:spAutoFit/>
          </a:bodyPr>
          <a:lstStyle/>
          <a:p>
            <a:pPr algn="r" rtl="1"/>
            <a:r>
              <a:rPr lang="ar-SA" dirty="0">
                <a:effectLst/>
                <a:latin typeface="Calibri" panose="020F0502020204030204" pitchFamily="34" charset="0"/>
                <a:ea typeface="Times New Roman" panose="02020603050405020304" pitchFamily="18" charset="0"/>
                <a:cs typeface="Times New Roman" panose="02020603050405020304" pitchFamily="18" charset="0"/>
              </a:rPr>
              <a:t>إذا لم يدخل الأوامر خلال فترة زمنية محددة ، فإنه يغلق في:</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32" name="جدول 31">
            <a:extLst>
              <a:ext uri="{FF2B5EF4-FFF2-40B4-BE49-F238E27FC236}">
                <a16:creationId xmlns:a16="http://schemas.microsoft.com/office/drawing/2014/main" id="{C443D56D-8CDF-41E6-A510-B70733DE9445}"/>
              </a:ext>
            </a:extLst>
          </p:cNvPr>
          <p:cNvGraphicFramePr>
            <a:graphicFrameLocks noGrp="1"/>
          </p:cNvGraphicFramePr>
          <p:nvPr>
            <p:extLst>
              <p:ext uri="{D42A27DB-BD31-4B8C-83A1-F6EECF244321}">
                <p14:modId xmlns:p14="http://schemas.microsoft.com/office/powerpoint/2010/main" val="3509458585"/>
              </p:ext>
            </p:extLst>
          </p:nvPr>
        </p:nvGraphicFramePr>
        <p:xfrm>
          <a:off x="195987" y="3777536"/>
          <a:ext cx="5268595" cy="152400"/>
        </p:xfrm>
        <a:graphic>
          <a:graphicData uri="http://schemas.openxmlformats.org/drawingml/2006/table">
            <a:tbl>
              <a:tblPr firstRow="1" firstCol="1" bandRow="1"/>
              <a:tblGrid>
                <a:gridCol w="5268595">
                  <a:extLst>
                    <a:ext uri="{9D8B030D-6E8A-4147-A177-3AD203B41FA5}">
                      <a16:colId xmlns:a16="http://schemas.microsoft.com/office/drawing/2014/main" val="1970997279"/>
                    </a:ext>
                  </a:extLst>
                </a:gridCol>
              </a:tblGrid>
              <a:tr h="0">
                <a:tc>
                  <a:txBody>
                    <a:bodyPr/>
                    <a:lstStyle/>
                    <a:p>
                      <a:pPr algn="just" rtl="0"/>
                      <a:r>
                        <a:rPr lang="en-US"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R1(config)#</a:t>
                      </a:r>
                      <a:r>
                        <a:rPr lang="en-US" sz="10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login</a:t>
                      </a:r>
                      <a:r>
                        <a:rPr lang="en-US" sz="1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block-for 120 attempts 2 within 120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9427444"/>
                  </a:ext>
                </a:extLst>
              </a:tr>
            </a:tbl>
          </a:graphicData>
        </a:graphic>
      </p:graphicFrame>
      <p:sp>
        <p:nvSpPr>
          <p:cNvPr id="34" name="مربع نص 33">
            <a:extLst>
              <a:ext uri="{FF2B5EF4-FFF2-40B4-BE49-F238E27FC236}">
                <a16:creationId xmlns:a16="http://schemas.microsoft.com/office/drawing/2014/main" id="{E1060F75-A7EE-4A12-9089-CBAA47A73A9D}"/>
              </a:ext>
            </a:extLst>
          </p:cNvPr>
          <p:cNvSpPr txBox="1"/>
          <p:nvPr/>
        </p:nvSpPr>
        <p:spPr>
          <a:xfrm>
            <a:off x="344877" y="4136460"/>
            <a:ext cx="5054255" cy="923330"/>
          </a:xfrm>
          <a:prstGeom prst="rect">
            <a:avLst/>
          </a:prstGeom>
          <a:noFill/>
        </p:spPr>
        <p:txBody>
          <a:bodyPr wrap="square">
            <a:spAutoFit/>
          </a:bodyPr>
          <a:lstStyle/>
          <a:p>
            <a:r>
              <a:rPr lang="ar-AE" b="1" dirty="0"/>
              <a:t>الخطوة 4: قم بتأمين جميع خطوط الوصول في جهاز التوجيه</a:t>
            </a:r>
          </a:p>
          <a:p>
            <a:endParaRPr lang="ar-AE" dirty="0"/>
          </a:p>
          <a:p>
            <a:r>
              <a:rPr lang="ar-AE" dirty="0"/>
              <a:t>ادخل إلى وحدة التحكم:</a:t>
            </a:r>
          </a:p>
        </p:txBody>
      </p:sp>
      <p:graphicFrame>
        <p:nvGraphicFramePr>
          <p:cNvPr id="35" name="جدول 34">
            <a:extLst>
              <a:ext uri="{FF2B5EF4-FFF2-40B4-BE49-F238E27FC236}">
                <a16:creationId xmlns:a16="http://schemas.microsoft.com/office/drawing/2014/main" id="{25043D88-83D1-40E9-962E-66E63D862AE3}"/>
              </a:ext>
            </a:extLst>
          </p:cNvPr>
          <p:cNvGraphicFramePr>
            <a:graphicFrameLocks noGrp="1"/>
          </p:cNvGraphicFramePr>
          <p:nvPr>
            <p:extLst>
              <p:ext uri="{D42A27DB-BD31-4B8C-83A1-F6EECF244321}">
                <p14:modId xmlns:p14="http://schemas.microsoft.com/office/powerpoint/2010/main" val="3083519864"/>
              </p:ext>
            </p:extLst>
          </p:nvPr>
        </p:nvGraphicFramePr>
        <p:xfrm>
          <a:off x="195987" y="5229340"/>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2098065612"/>
                    </a:ext>
                  </a:extLst>
                </a:gridCol>
              </a:tblGrid>
              <a:tr h="0">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line console 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2479067"/>
                  </a:ext>
                </a:extLst>
              </a:tr>
            </a:tbl>
          </a:graphicData>
        </a:graphic>
      </p:graphicFrame>
      <p:sp>
        <p:nvSpPr>
          <p:cNvPr id="37" name="مربع نص 36">
            <a:extLst>
              <a:ext uri="{FF2B5EF4-FFF2-40B4-BE49-F238E27FC236}">
                <a16:creationId xmlns:a16="http://schemas.microsoft.com/office/drawing/2014/main" id="{DC6C2666-E3B9-4F69-BD19-2385C1EDBB2A}"/>
              </a:ext>
            </a:extLst>
          </p:cNvPr>
          <p:cNvSpPr txBox="1"/>
          <p:nvPr/>
        </p:nvSpPr>
        <p:spPr>
          <a:xfrm>
            <a:off x="3133915" y="5707171"/>
            <a:ext cx="2265217" cy="369332"/>
          </a:xfrm>
          <a:prstGeom prst="rect">
            <a:avLst/>
          </a:prstGeom>
          <a:noFill/>
        </p:spPr>
        <p:txBody>
          <a:bodyPr wrap="square">
            <a:spAutoFit/>
          </a:bodyPr>
          <a:lstStyle/>
          <a:p>
            <a:r>
              <a:rPr lang="ar-AE" dirty="0"/>
              <a:t>قم بتعيين كلمة مرور:</a:t>
            </a:r>
            <a:endParaRPr lang="en-US" dirty="0"/>
          </a:p>
        </p:txBody>
      </p:sp>
      <p:graphicFrame>
        <p:nvGraphicFramePr>
          <p:cNvPr id="38" name="جدول 37">
            <a:extLst>
              <a:ext uri="{FF2B5EF4-FFF2-40B4-BE49-F238E27FC236}">
                <a16:creationId xmlns:a16="http://schemas.microsoft.com/office/drawing/2014/main" id="{19776EDC-D7FA-43FC-B8B7-7B38D4CD3055}"/>
              </a:ext>
            </a:extLst>
          </p:cNvPr>
          <p:cNvGraphicFramePr>
            <a:graphicFrameLocks noGrp="1"/>
          </p:cNvGraphicFramePr>
          <p:nvPr>
            <p:extLst>
              <p:ext uri="{D42A27DB-BD31-4B8C-83A1-F6EECF244321}">
                <p14:modId xmlns:p14="http://schemas.microsoft.com/office/powerpoint/2010/main" val="2178315275"/>
              </p:ext>
            </p:extLst>
          </p:nvPr>
        </p:nvGraphicFramePr>
        <p:xfrm>
          <a:off x="195987" y="6191912"/>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693180196"/>
                    </a:ext>
                  </a:extLst>
                </a:gridCol>
              </a:tblGrid>
              <a:tr h="0">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password lab123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2449371"/>
                  </a:ext>
                </a:extLst>
              </a:tr>
            </a:tbl>
          </a:graphicData>
        </a:graphic>
      </p:graphicFrame>
    </p:spTree>
    <p:extLst>
      <p:ext uri="{BB962C8B-B14F-4D97-AF65-F5344CB8AC3E}">
        <p14:creationId xmlns:p14="http://schemas.microsoft.com/office/powerpoint/2010/main" val="864686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18</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مربع نص 4">
            <a:extLst>
              <a:ext uri="{FF2B5EF4-FFF2-40B4-BE49-F238E27FC236}">
                <a16:creationId xmlns:a16="http://schemas.microsoft.com/office/drawing/2014/main" id="{DE6D198D-93C9-4FDE-AB46-782469A72C7B}"/>
              </a:ext>
            </a:extLst>
          </p:cNvPr>
          <p:cNvSpPr txBox="1"/>
          <p:nvPr/>
        </p:nvSpPr>
        <p:spPr>
          <a:xfrm>
            <a:off x="8562108" y="667841"/>
            <a:ext cx="3629891" cy="369332"/>
          </a:xfrm>
          <a:prstGeom prst="rect">
            <a:avLst/>
          </a:prstGeom>
          <a:noFill/>
        </p:spPr>
        <p:txBody>
          <a:bodyPr wrap="square">
            <a:spAutoFit/>
          </a:bodyPr>
          <a:lstStyle/>
          <a:p>
            <a:pPr algn="just" rtl="1"/>
            <a:r>
              <a:rPr lang="ar-SA" b="1" dirty="0">
                <a:latin typeface="Calibri" panose="020F0502020204030204" pitchFamily="34" charset="0"/>
                <a:ea typeface="Times New Roman" panose="02020603050405020304" pitchFamily="18" charset="0"/>
                <a:cs typeface="Times New Roman" panose="02020603050405020304" pitchFamily="18" charset="0"/>
              </a:rPr>
              <a:t>تابع ل</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خطوات التكوين الأساسية لجهاز التوجيه</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7" name="مربع نص 6">
            <a:extLst>
              <a:ext uri="{FF2B5EF4-FFF2-40B4-BE49-F238E27FC236}">
                <a16:creationId xmlns:a16="http://schemas.microsoft.com/office/drawing/2014/main" id="{05A6E4CC-9D74-4A9E-B258-406DE7B6D468}"/>
              </a:ext>
            </a:extLst>
          </p:cNvPr>
          <p:cNvSpPr txBox="1"/>
          <p:nvPr/>
        </p:nvSpPr>
        <p:spPr>
          <a:xfrm>
            <a:off x="-560873" y="142817"/>
            <a:ext cx="6130636" cy="369332"/>
          </a:xfrm>
          <a:prstGeom prst="rect">
            <a:avLst/>
          </a:prstGeom>
          <a:noFill/>
        </p:spPr>
        <p:txBody>
          <a:bodyPr wrap="square">
            <a:spAutoFit/>
          </a:bodyPr>
          <a:lstStyle/>
          <a:p>
            <a:r>
              <a:rPr lang="ar-SA" sz="1800" dirty="0">
                <a:effectLst/>
                <a:ea typeface="Times New Roman" panose="02020603050405020304" pitchFamily="18" charset="0"/>
                <a:cs typeface="Times New Roman" panose="02020603050405020304" pitchFamily="18" charset="0"/>
              </a:rPr>
              <a:t>اسمح لأي شخص بالوصول إلى وحدة التحكم واكتب كلمة المرور:</a:t>
            </a:r>
            <a:endParaRPr lang="en-US" dirty="0"/>
          </a:p>
        </p:txBody>
      </p:sp>
      <p:graphicFrame>
        <p:nvGraphicFramePr>
          <p:cNvPr id="8" name="جدول 7">
            <a:extLst>
              <a:ext uri="{FF2B5EF4-FFF2-40B4-BE49-F238E27FC236}">
                <a16:creationId xmlns:a16="http://schemas.microsoft.com/office/drawing/2014/main" id="{A036DD50-CA40-46D2-B516-B38841EA7888}"/>
              </a:ext>
            </a:extLst>
          </p:cNvPr>
          <p:cNvGraphicFramePr>
            <a:graphicFrameLocks noGrp="1"/>
          </p:cNvGraphicFramePr>
          <p:nvPr>
            <p:extLst>
              <p:ext uri="{D42A27DB-BD31-4B8C-83A1-F6EECF244321}">
                <p14:modId xmlns:p14="http://schemas.microsoft.com/office/powerpoint/2010/main" val="3225091710"/>
              </p:ext>
            </p:extLst>
          </p:nvPr>
        </p:nvGraphicFramePr>
        <p:xfrm>
          <a:off x="274924" y="547707"/>
          <a:ext cx="5268595" cy="304800"/>
        </p:xfrm>
        <a:graphic>
          <a:graphicData uri="http://schemas.openxmlformats.org/drawingml/2006/table">
            <a:tbl>
              <a:tblPr firstRow="1" firstCol="1" bandRow="1"/>
              <a:tblGrid>
                <a:gridCol w="5268595">
                  <a:extLst>
                    <a:ext uri="{9D8B030D-6E8A-4147-A177-3AD203B41FA5}">
                      <a16:colId xmlns:a16="http://schemas.microsoft.com/office/drawing/2014/main" val="1846962272"/>
                    </a:ext>
                  </a:extLst>
                </a:gridCol>
              </a:tblGrid>
              <a:tr h="0">
                <a:tc>
                  <a:txBody>
                    <a:bodyPr/>
                    <a:lstStyle/>
                    <a:p>
                      <a:pPr algn="just" rtl="0"/>
                      <a:r>
                        <a:rPr lang="en-US" sz="1000" dirty="0">
                          <a:effectLst/>
                          <a:latin typeface="Courier New" panose="02070309020205020404" pitchFamily="49" charset="0"/>
                          <a:ea typeface="Times New Roman" panose="02020603050405020304" pitchFamily="18" charset="0"/>
                          <a:cs typeface="Times New Roman" panose="02020603050405020304" pitchFamily="18" charset="0"/>
                        </a:rPr>
                        <a:t>R1(config-line)#</a:t>
                      </a:r>
                      <a:r>
                        <a:rPr lang="en-US" sz="10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login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000" dirty="0">
                          <a:effectLst/>
                          <a:latin typeface="Courier New" panose="02070309020205020404" pitchFamily="49" charset="0"/>
                          <a:ea typeface="Times New Roman" panose="02020603050405020304" pitchFamily="18" charset="0"/>
                          <a:cs typeface="Times New Roman" panose="02020603050405020304" pitchFamily="18" charset="0"/>
                        </a:rPr>
                        <a:t>R1(config-line)#</a:t>
                      </a:r>
                      <a:r>
                        <a:rPr lang="en-US" sz="10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2059732"/>
                  </a:ext>
                </a:extLst>
              </a:tr>
            </a:tbl>
          </a:graphicData>
        </a:graphic>
      </p:graphicFrame>
      <p:sp>
        <p:nvSpPr>
          <p:cNvPr id="10" name="مربع نص 9">
            <a:extLst>
              <a:ext uri="{FF2B5EF4-FFF2-40B4-BE49-F238E27FC236}">
                <a16:creationId xmlns:a16="http://schemas.microsoft.com/office/drawing/2014/main" id="{BCC718D8-0DCB-4B73-B731-535669820432}"/>
              </a:ext>
            </a:extLst>
          </p:cNvPr>
          <p:cNvSpPr txBox="1"/>
          <p:nvPr/>
        </p:nvSpPr>
        <p:spPr>
          <a:xfrm>
            <a:off x="136243" y="932428"/>
            <a:ext cx="5433519" cy="646331"/>
          </a:xfrm>
          <a:prstGeom prst="rect">
            <a:avLst/>
          </a:prstGeom>
          <a:noFill/>
        </p:spPr>
        <p:txBody>
          <a:bodyPr wrap="square">
            <a:spAutoFit/>
          </a:bodyPr>
          <a:lstStyle/>
          <a:p>
            <a:pPr algn="r"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هو منفذ افتراضي ويستخدم للحصول على وصول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Telnet</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أو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SSH</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 إلى الجهاز:</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11" name="جدول 10">
            <a:extLst>
              <a:ext uri="{FF2B5EF4-FFF2-40B4-BE49-F238E27FC236}">
                <a16:creationId xmlns:a16="http://schemas.microsoft.com/office/drawing/2014/main" id="{E86981C4-2FC1-4A6E-80E5-81D2557A11FC}"/>
              </a:ext>
            </a:extLst>
          </p:cNvPr>
          <p:cNvGraphicFramePr>
            <a:graphicFrameLocks noGrp="1"/>
          </p:cNvGraphicFramePr>
          <p:nvPr>
            <p:extLst>
              <p:ext uri="{D42A27DB-BD31-4B8C-83A1-F6EECF244321}">
                <p14:modId xmlns:p14="http://schemas.microsoft.com/office/powerpoint/2010/main" val="2927583341"/>
              </p:ext>
            </p:extLst>
          </p:nvPr>
        </p:nvGraphicFramePr>
        <p:xfrm>
          <a:off x="301167" y="1672190"/>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535292023"/>
                    </a:ext>
                  </a:extLst>
                </a:gridCol>
              </a:tblGrid>
              <a:tr h="139076">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line </a:t>
                      </a:r>
                      <a:r>
                        <a:rPr lang="en-US" sz="1200" dirty="0" err="1">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vty</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 0 4</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5662237"/>
                  </a:ext>
                </a:extLst>
              </a:tr>
            </a:tbl>
          </a:graphicData>
        </a:graphic>
      </p:graphicFrame>
      <p:sp>
        <p:nvSpPr>
          <p:cNvPr id="13" name="مربع نص 12">
            <a:extLst>
              <a:ext uri="{FF2B5EF4-FFF2-40B4-BE49-F238E27FC236}">
                <a16:creationId xmlns:a16="http://schemas.microsoft.com/office/drawing/2014/main" id="{1F26D651-4713-4569-A790-39D5A3AD069B}"/>
              </a:ext>
            </a:extLst>
          </p:cNvPr>
          <p:cNvSpPr txBox="1"/>
          <p:nvPr/>
        </p:nvSpPr>
        <p:spPr>
          <a:xfrm>
            <a:off x="-560873" y="1994468"/>
            <a:ext cx="6130636" cy="369332"/>
          </a:xfrm>
          <a:prstGeom prst="rect">
            <a:avLst/>
          </a:prstGeom>
          <a:noFill/>
        </p:spPr>
        <p:txBody>
          <a:bodyPr wrap="square">
            <a:spAutoFit/>
          </a:bodyPr>
          <a:lstStyle/>
          <a:p>
            <a:r>
              <a:rPr lang="ar-AE" dirty="0"/>
              <a:t>قم بتعيين كلمة مرور وتنشيط الوصول إلى جهاز التحكم عن بُعد والخروج:</a:t>
            </a:r>
            <a:endParaRPr lang="en-US" dirty="0"/>
          </a:p>
        </p:txBody>
      </p:sp>
      <p:graphicFrame>
        <p:nvGraphicFramePr>
          <p:cNvPr id="14" name="جدول 13">
            <a:extLst>
              <a:ext uri="{FF2B5EF4-FFF2-40B4-BE49-F238E27FC236}">
                <a16:creationId xmlns:a16="http://schemas.microsoft.com/office/drawing/2014/main" id="{C23D5277-2826-4CDE-9653-DF4F6019598D}"/>
              </a:ext>
            </a:extLst>
          </p:cNvPr>
          <p:cNvGraphicFramePr>
            <a:graphicFrameLocks noGrp="1"/>
          </p:cNvGraphicFramePr>
          <p:nvPr>
            <p:extLst>
              <p:ext uri="{D42A27DB-BD31-4B8C-83A1-F6EECF244321}">
                <p14:modId xmlns:p14="http://schemas.microsoft.com/office/powerpoint/2010/main" val="2481448311"/>
              </p:ext>
            </p:extLst>
          </p:nvPr>
        </p:nvGraphicFramePr>
        <p:xfrm>
          <a:off x="136243" y="2485970"/>
          <a:ext cx="5268595" cy="548640"/>
        </p:xfrm>
        <a:graphic>
          <a:graphicData uri="http://schemas.openxmlformats.org/drawingml/2006/table">
            <a:tbl>
              <a:tblPr firstRow="1" firstCol="1" bandRow="1"/>
              <a:tblGrid>
                <a:gridCol w="5268595">
                  <a:extLst>
                    <a:ext uri="{9D8B030D-6E8A-4147-A177-3AD203B41FA5}">
                      <a16:colId xmlns:a16="http://schemas.microsoft.com/office/drawing/2014/main" val="746819786"/>
                    </a:ext>
                  </a:extLst>
                </a:gridCol>
              </a:tblGrid>
              <a:tr h="0">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password lab123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login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5149380"/>
                  </a:ext>
                </a:extLst>
              </a:tr>
            </a:tbl>
          </a:graphicData>
        </a:graphic>
      </p:graphicFrame>
      <p:sp>
        <p:nvSpPr>
          <p:cNvPr id="16" name="مربع نص 15">
            <a:extLst>
              <a:ext uri="{FF2B5EF4-FFF2-40B4-BE49-F238E27FC236}">
                <a16:creationId xmlns:a16="http://schemas.microsoft.com/office/drawing/2014/main" id="{82008101-24B1-42B6-89EA-945A822B15F3}"/>
              </a:ext>
            </a:extLst>
          </p:cNvPr>
          <p:cNvSpPr txBox="1"/>
          <p:nvPr/>
        </p:nvSpPr>
        <p:spPr>
          <a:xfrm>
            <a:off x="-704593" y="3275775"/>
            <a:ext cx="6130636" cy="369332"/>
          </a:xfrm>
          <a:prstGeom prst="rect">
            <a:avLst/>
          </a:prstGeom>
          <a:noFill/>
        </p:spPr>
        <p:txBody>
          <a:bodyPr wrap="square">
            <a:spAutoFit/>
          </a:bodyPr>
          <a:lstStyle/>
          <a:p>
            <a:r>
              <a:rPr lang="ar-AE" dirty="0"/>
              <a:t>تشفير كل كلمات المرور:</a:t>
            </a:r>
            <a:endParaRPr lang="en-US" dirty="0"/>
          </a:p>
        </p:txBody>
      </p:sp>
      <p:graphicFrame>
        <p:nvGraphicFramePr>
          <p:cNvPr id="17" name="جدول 16">
            <a:extLst>
              <a:ext uri="{FF2B5EF4-FFF2-40B4-BE49-F238E27FC236}">
                <a16:creationId xmlns:a16="http://schemas.microsoft.com/office/drawing/2014/main" id="{13FC0012-F9AB-408D-ADCE-A62BAD618C55}"/>
              </a:ext>
            </a:extLst>
          </p:cNvPr>
          <p:cNvGraphicFramePr>
            <a:graphicFrameLocks noGrp="1"/>
          </p:cNvGraphicFramePr>
          <p:nvPr>
            <p:extLst>
              <p:ext uri="{D42A27DB-BD31-4B8C-83A1-F6EECF244321}">
                <p14:modId xmlns:p14="http://schemas.microsoft.com/office/powerpoint/2010/main" val="3559617144"/>
              </p:ext>
            </p:extLst>
          </p:nvPr>
        </p:nvGraphicFramePr>
        <p:xfrm>
          <a:off x="136243" y="3829912"/>
          <a:ext cx="5268595" cy="365760"/>
        </p:xfrm>
        <a:graphic>
          <a:graphicData uri="http://schemas.openxmlformats.org/drawingml/2006/table">
            <a:tbl>
              <a:tblPr firstRow="1" firstCol="1" bandRow="1"/>
              <a:tblGrid>
                <a:gridCol w="5268595">
                  <a:extLst>
                    <a:ext uri="{9D8B030D-6E8A-4147-A177-3AD203B41FA5}">
                      <a16:colId xmlns:a16="http://schemas.microsoft.com/office/drawing/2014/main" val="2967378599"/>
                    </a:ext>
                  </a:extLst>
                </a:gridCol>
              </a:tblGrid>
              <a:tr h="0">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service password-encryption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end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7282684"/>
                  </a:ext>
                </a:extLst>
              </a:tr>
            </a:tbl>
          </a:graphicData>
        </a:graphic>
      </p:graphicFrame>
      <p:sp>
        <p:nvSpPr>
          <p:cNvPr id="19" name="مربع نص 18">
            <a:extLst>
              <a:ext uri="{FF2B5EF4-FFF2-40B4-BE49-F238E27FC236}">
                <a16:creationId xmlns:a16="http://schemas.microsoft.com/office/drawing/2014/main" id="{2E6E7E82-E77D-4CE6-997D-3D6C3531C77D}"/>
              </a:ext>
            </a:extLst>
          </p:cNvPr>
          <p:cNvSpPr txBox="1"/>
          <p:nvPr/>
        </p:nvSpPr>
        <p:spPr>
          <a:xfrm>
            <a:off x="7472827" y="1054441"/>
            <a:ext cx="4719172" cy="923330"/>
          </a:xfrm>
          <a:prstGeom prst="rect">
            <a:avLst/>
          </a:prstGeom>
          <a:noFill/>
        </p:spPr>
        <p:txBody>
          <a:bodyPr wrap="square">
            <a:spAutoFit/>
          </a:bodyPr>
          <a:lstStyle/>
          <a:p>
            <a:r>
              <a:rPr lang="ar-AE" b="1" dirty="0"/>
              <a:t>الخطوة 5: نسخ التكوين إلى ملف بدء التشغيل</a:t>
            </a:r>
          </a:p>
          <a:p>
            <a:endParaRPr lang="ar-AE" dirty="0"/>
          </a:p>
          <a:p>
            <a:r>
              <a:rPr lang="ar-AE" dirty="0"/>
              <a:t>حفظ التغييرات:</a:t>
            </a:r>
          </a:p>
        </p:txBody>
      </p:sp>
      <p:graphicFrame>
        <p:nvGraphicFramePr>
          <p:cNvPr id="20" name="جدول 19">
            <a:extLst>
              <a:ext uri="{FF2B5EF4-FFF2-40B4-BE49-F238E27FC236}">
                <a16:creationId xmlns:a16="http://schemas.microsoft.com/office/drawing/2014/main" id="{D54B20A7-46A9-49A7-9890-6B9E9AB28446}"/>
              </a:ext>
            </a:extLst>
          </p:cNvPr>
          <p:cNvGraphicFramePr>
            <a:graphicFrameLocks noGrp="1"/>
          </p:cNvGraphicFramePr>
          <p:nvPr>
            <p:extLst>
              <p:ext uri="{D42A27DB-BD31-4B8C-83A1-F6EECF244321}">
                <p14:modId xmlns:p14="http://schemas.microsoft.com/office/powerpoint/2010/main" val="1131421297"/>
              </p:ext>
            </p:extLst>
          </p:nvPr>
        </p:nvGraphicFramePr>
        <p:xfrm>
          <a:off x="6787161" y="2135734"/>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1540303237"/>
                    </a:ext>
                  </a:extLst>
                </a:gridCol>
              </a:tblGrid>
              <a:tr h="0">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copy run start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5268940"/>
                  </a:ext>
                </a:extLst>
              </a:tr>
            </a:tbl>
          </a:graphicData>
        </a:graphic>
      </p:graphicFrame>
      <p:sp>
        <p:nvSpPr>
          <p:cNvPr id="22" name="مربع نص 21">
            <a:extLst>
              <a:ext uri="{FF2B5EF4-FFF2-40B4-BE49-F238E27FC236}">
                <a16:creationId xmlns:a16="http://schemas.microsoft.com/office/drawing/2014/main" id="{8FE83A0E-2A40-4AC8-A031-B7FD36845D3C}"/>
              </a:ext>
            </a:extLst>
          </p:cNvPr>
          <p:cNvSpPr txBox="1"/>
          <p:nvPr/>
        </p:nvSpPr>
        <p:spPr>
          <a:xfrm>
            <a:off x="6047509" y="2382589"/>
            <a:ext cx="6144490" cy="646331"/>
          </a:xfrm>
          <a:prstGeom prst="rect">
            <a:avLst/>
          </a:prstGeom>
          <a:noFill/>
        </p:spPr>
        <p:txBody>
          <a:bodyPr wrap="square">
            <a:spAutoFit/>
          </a:bodyPr>
          <a:lstStyle/>
          <a:p>
            <a:r>
              <a:rPr lang="ar-AE" b="1" dirty="0"/>
              <a:t>الخطوة 6: التحقق</a:t>
            </a:r>
            <a:endParaRPr lang="ar-AE" dirty="0"/>
          </a:p>
          <a:p>
            <a:r>
              <a:rPr lang="ar-AE" dirty="0"/>
              <a:t>اعرض جميع الأوامر التي تم إدخالها في جهاز التوجيه:</a:t>
            </a:r>
          </a:p>
        </p:txBody>
      </p:sp>
      <p:graphicFrame>
        <p:nvGraphicFramePr>
          <p:cNvPr id="23" name="جدول 22">
            <a:extLst>
              <a:ext uri="{FF2B5EF4-FFF2-40B4-BE49-F238E27FC236}">
                <a16:creationId xmlns:a16="http://schemas.microsoft.com/office/drawing/2014/main" id="{AC5B22A4-1A87-42D3-B9D1-EDDE454F20A3}"/>
              </a:ext>
            </a:extLst>
          </p:cNvPr>
          <p:cNvGraphicFramePr>
            <a:graphicFrameLocks noGrp="1"/>
          </p:cNvGraphicFramePr>
          <p:nvPr>
            <p:extLst>
              <p:ext uri="{D42A27DB-BD31-4B8C-83A1-F6EECF244321}">
                <p14:modId xmlns:p14="http://schemas.microsoft.com/office/powerpoint/2010/main" val="1330566168"/>
              </p:ext>
            </p:extLst>
          </p:nvPr>
        </p:nvGraphicFramePr>
        <p:xfrm>
          <a:off x="6820097" y="3092895"/>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3055684104"/>
                    </a:ext>
                  </a:extLst>
                </a:gridCol>
              </a:tblGrid>
              <a:tr h="0">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show run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0419974"/>
                  </a:ext>
                </a:extLst>
              </a:tr>
            </a:tbl>
          </a:graphicData>
        </a:graphic>
      </p:graphicFrame>
      <p:sp>
        <p:nvSpPr>
          <p:cNvPr id="25" name="مربع نص 24">
            <a:extLst>
              <a:ext uri="{FF2B5EF4-FFF2-40B4-BE49-F238E27FC236}">
                <a16:creationId xmlns:a16="http://schemas.microsoft.com/office/drawing/2014/main" id="{FD9086EF-292F-4735-AACE-417D7F139357}"/>
              </a:ext>
            </a:extLst>
          </p:cNvPr>
          <p:cNvSpPr txBox="1"/>
          <p:nvPr/>
        </p:nvSpPr>
        <p:spPr>
          <a:xfrm>
            <a:off x="8698351" y="3275775"/>
            <a:ext cx="3493648" cy="369332"/>
          </a:xfrm>
          <a:prstGeom prst="rect">
            <a:avLst/>
          </a:prstGeom>
          <a:noFill/>
        </p:spPr>
        <p:txBody>
          <a:bodyPr wrap="square">
            <a:spAutoFit/>
          </a:bodyPr>
          <a:lstStyle/>
          <a:p>
            <a:r>
              <a:rPr lang="ar-AE" dirty="0"/>
              <a:t>عرض جميع الاوامر التي تم ادخالها </a:t>
            </a:r>
            <a:endParaRPr lang="en-US" dirty="0"/>
          </a:p>
        </p:txBody>
      </p:sp>
      <p:pic>
        <p:nvPicPr>
          <p:cNvPr id="26" name="صورة 25">
            <a:extLst>
              <a:ext uri="{FF2B5EF4-FFF2-40B4-BE49-F238E27FC236}">
                <a16:creationId xmlns:a16="http://schemas.microsoft.com/office/drawing/2014/main" id="{8BAE6005-9F7A-46D9-9346-B2C60EBEDBB6}"/>
              </a:ext>
            </a:extLst>
          </p:cNvPr>
          <p:cNvPicPr>
            <a:picLocks noChangeAspect="1"/>
          </p:cNvPicPr>
          <p:nvPr/>
        </p:nvPicPr>
        <p:blipFill>
          <a:blip r:embed="rId2"/>
          <a:stretch>
            <a:fillRect/>
          </a:stretch>
        </p:blipFill>
        <p:spPr>
          <a:xfrm>
            <a:off x="6787161" y="3641600"/>
            <a:ext cx="5301531" cy="3157377"/>
          </a:xfrm>
          <a:prstGeom prst="rect">
            <a:avLst/>
          </a:prstGeom>
        </p:spPr>
      </p:pic>
    </p:spTree>
    <p:extLst>
      <p:ext uri="{BB962C8B-B14F-4D97-AF65-F5344CB8AC3E}">
        <p14:creationId xmlns:p14="http://schemas.microsoft.com/office/powerpoint/2010/main" val="1824479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19</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مربع نص 6">
            <a:extLst>
              <a:ext uri="{FF2B5EF4-FFF2-40B4-BE49-F238E27FC236}">
                <a16:creationId xmlns:a16="http://schemas.microsoft.com/office/drawing/2014/main" id="{CB51F83D-FF20-4291-828C-C513B0F01274}"/>
              </a:ext>
            </a:extLst>
          </p:cNvPr>
          <p:cNvSpPr txBox="1"/>
          <p:nvPr/>
        </p:nvSpPr>
        <p:spPr>
          <a:xfrm>
            <a:off x="6069806" y="852507"/>
            <a:ext cx="6122194" cy="369332"/>
          </a:xfrm>
          <a:prstGeom prst="rect">
            <a:avLst/>
          </a:prstGeom>
          <a:noFill/>
        </p:spPr>
        <p:txBody>
          <a:bodyPr wrap="square">
            <a:spAutoFit/>
          </a:bodyPr>
          <a:lstStyle/>
          <a:p>
            <a:r>
              <a:rPr lang="ar-AE" b="1" dirty="0"/>
              <a:t>خطوات التكوين الأساسية لجهاز التوجيه</a:t>
            </a:r>
            <a:r>
              <a:rPr lang="en-US" b="1" dirty="0"/>
              <a:t> 2 </a:t>
            </a:r>
            <a:endParaRPr lang="ar-AE" b="1" dirty="0"/>
          </a:p>
        </p:txBody>
      </p:sp>
      <p:sp>
        <p:nvSpPr>
          <p:cNvPr id="9" name="مربع نص 8">
            <a:extLst>
              <a:ext uri="{FF2B5EF4-FFF2-40B4-BE49-F238E27FC236}">
                <a16:creationId xmlns:a16="http://schemas.microsoft.com/office/drawing/2014/main" id="{63EB3674-08A7-450D-A86F-B01588B8DA8B}"/>
              </a:ext>
            </a:extLst>
          </p:cNvPr>
          <p:cNvSpPr txBox="1"/>
          <p:nvPr/>
        </p:nvSpPr>
        <p:spPr>
          <a:xfrm>
            <a:off x="6096000" y="1221839"/>
            <a:ext cx="6122194" cy="369332"/>
          </a:xfrm>
          <a:prstGeom prst="rect">
            <a:avLst/>
          </a:prstGeom>
          <a:noFill/>
        </p:spPr>
        <p:txBody>
          <a:bodyPr wrap="square">
            <a:spAutoFit/>
          </a:bodyPr>
          <a:lstStyle/>
          <a:p>
            <a:r>
              <a:rPr lang="ar-AE" b="1" dirty="0"/>
              <a:t>الخطوة 1: قم بتكوين اسم مضيف جهاز التوجيه</a:t>
            </a:r>
            <a:endParaRPr lang="en-US" b="1" dirty="0"/>
          </a:p>
        </p:txBody>
      </p:sp>
      <p:graphicFrame>
        <p:nvGraphicFramePr>
          <p:cNvPr id="10" name="جدول 9">
            <a:extLst>
              <a:ext uri="{FF2B5EF4-FFF2-40B4-BE49-F238E27FC236}">
                <a16:creationId xmlns:a16="http://schemas.microsoft.com/office/drawing/2014/main" id="{E716FA8E-71A8-4133-9E5E-DDCEDB13C225}"/>
              </a:ext>
            </a:extLst>
          </p:cNvPr>
          <p:cNvGraphicFramePr>
            <a:graphicFrameLocks noGrp="1"/>
          </p:cNvGraphicFramePr>
          <p:nvPr>
            <p:extLst>
              <p:ext uri="{D42A27DB-BD31-4B8C-83A1-F6EECF244321}">
                <p14:modId xmlns:p14="http://schemas.microsoft.com/office/powerpoint/2010/main" val="1941963102"/>
              </p:ext>
            </p:extLst>
          </p:nvPr>
        </p:nvGraphicFramePr>
        <p:xfrm>
          <a:off x="6747827" y="1633140"/>
          <a:ext cx="5268595" cy="716280"/>
        </p:xfrm>
        <a:graphic>
          <a:graphicData uri="http://schemas.openxmlformats.org/drawingml/2006/table">
            <a:tbl>
              <a:tblPr firstRow="1" firstCol="1" bandRow="1"/>
              <a:tblGrid>
                <a:gridCol w="5268595">
                  <a:extLst>
                    <a:ext uri="{9D8B030D-6E8A-4147-A177-3AD203B41FA5}">
                      <a16:colId xmlns:a16="http://schemas.microsoft.com/office/drawing/2014/main" val="3876997189"/>
                    </a:ext>
                  </a:extLst>
                </a:gridCol>
              </a:tblGrid>
              <a:tr h="0">
                <a:tc>
                  <a:txBody>
                    <a:bodyPr/>
                    <a:lstStyle/>
                    <a:p>
                      <a:pPr algn="l"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Router&gt;</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enable</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1"/>
                      <a:r>
                        <a:rPr lang="en-US" sz="1100" dirty="0">
                          <a:effectLst/>
                          <a:latin typeface="Courier New" panose="02070309020205020404" pitchFamily="49" charset="0"/>
                          <a:ea typeface="Times New Roman" panose="02020603050405020304" pitchFamily="18" charset="0"/>
                          <a:cs typeface="Arial" panose="020B0604020202020204" pitchFamily="34" charset="0"/>
                        </a:rPr>
                        <a:t>Router# </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configure terminal</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algn="l"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Router(config)#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hostname R2</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8015642"/>
                  </a:ext>
                </a:extLst>
              </a:tr>
            </a:tbl>
          </a:graphicData>
        </a:graphic>
      </p:graphicFrame>
      <p:sp>
        <p:nvSpPr>
          <p:cNvPr id="12" name="مربع نص 11">
            <a:extLst>
              <a:ext uri="{FF2B5EF4-FFF2-40B4-BE49-F238E27FC236}">
                <a16:creationId xmlns:a16="http://schemas.microsoft.com/office/drawing/2014/main" id="{D5AC792E-DD38-4418-B562-AE34A426C27B}"/>
              </a:ext>
            </a:extLst>
          </p:cNvPr>
          <p:cNvSpPr txBox="1"/>
          <p:nvPr/>
        </p:nvSpPr>
        <p:spPr>
          <a:xfrm>
            <a:off x="6055520" y="2433394"/>
            <a:ext cx="6136480" cy="369332"/>
          </a:xfrm>
          <a:prstGeom prst="rect">
            <a:avLst/>
          </a:prstGeom>
          <a:noFill/>
        </p:spPr>
        <p:txBody>
          <a:bodyPr wrap="square">
            <a:spAutoFit/>
          </a:bodyPr>
          <a:lstStyle/>
          <a:p>
            <a:r>
              <a:rPr lang="ar-AE" b="1" dirty="0">
                <a:latin typeface="Times New Roman" panose="02020603050405020304" pitchFamily="18" charset="0"/>
                <a:cs typeface="Times New Roman" panose="02020603050405020304" pitchFamily="18" charset="0"/>
              </a:rPr>
              <a:t>الخطوة 2: تكوين واجهة </a:t>
            </a:r>
            <a:r>
              <a:rPr lang="en-US" b="1" dirty="0">
                <a:latin typeface="Times New Roman" panose="02020603050405020304" pitchFamily="18" charset="0"/>
                <a:cs typeface="Times New Roman" panose="02020603050405020304" pitchFamily="18" charset="0"/>
              </a:rPr>
              <a:t>Gigabit Ethernet </a:t>
            </a:r>
            <a:r>
              <a:rPr lang="ar-AE" b="1" dirty="0">
                <a:latin typeface="Times New Roman" panose="02020603050405020304" pitchFamily="18" charset="0"/>
                <a:cs typeface="Times New Roman" panose="02020603050405020304" pitchFamily="18" charset="0"/>
              </a:rPr>
              <a:t>على جهاز التوجيه</a:t>
            </a:r>
            <a:endParaRPr lang="en-US" b="1" dirty="0">
              <a:latin typeface="Times New Roman" panose="02020603050405020304" pitchFamily="18" charset="0"/>
              <a:cs typeface="Times New Roman" panose="02020603050405020304" pitchFamily="18" charset="0"/>
            </a:endParaRPr>
          </a:p>
        </p:txBody>
      </p:sp>
      <p:graphicFrame>
        <p:nvGraphicFramePr>
          <p:cNvPr id="13" name="جدول 12">
            <a:extLst>
              <a:ext uri="{FF2B5EF4-FFF2-40B4-BE49-F238E27FC236}">
                <a16:creationId xmlns:a16="http://schemas.microsoft.com/office/drawing/2014/main" id="{9FBF99F7-D9BC-45B1-83D6-3CF316A53364}"/>
              </a:ext>
            </a:extLst>
          </p:cNvPr>
          <p:cNvGraphicFramePr>
            <a:graphicFrameLocks noGrp="1"/>
          </p:cNvGraphicFramePr>
          <p:nvPr>
            <p:extLst>
              <p:ext uri="{D42A27DB-BD31-4B8C-83A1-F6EECF244321}">
                <p14:modId xmlns:p14="http://schemas.microsoft.com/office/powerpoint/2010/main" val="30539157"/>
              </p:ext>
            </p:extLst>
          </p:nvPr>
        </p:nvGraphicFramePr>
        <p:xfrm>
          <a:off x="6747826" y="2875949"/>
          <a:ext cx="5268595" cy="899160"/>
        </p:xfrm>
        <a:graphic>
          <a:graphicData uri="http://schemas.openxmlformats.org/drawingml/2006/table">
            <a:tbl>
              <a:tblPr firstRow="1" firstCol="1" bandRow="1"/>
              <a:tblGrid>
                <a:gridCol w="5268595">
                  <a:extLst>
                    <a:ext uri="{9D8B030D-6E8A-4147-A177-3AD203B41FA5}">
                      <a16:colId xmlns:a16="http://schemas.microsoft.com/office/drawing/2014/main" val="842320206"/>
                    </a:ext>
                  </a:extLst>
                </a:gridCol>
              </a:tblGrid>
              <a:tr h="0">
                <a:tc>
                  <a:txBody>
                    <a:bodyPr/>
                    <a:lstStyle/>
                    <a:p>
                      <a:pPr algn="l"/>
                      <a:r>
                        <a:rPr lang="en-US" sz="1100" dirty="0">
                          <a:effectLst/>
                          <a:latin typeface="Courier New" panose="02070309020205020404" pitchFamily="49" charset="0"/>
                          <a:ea typeface="Times New Roman" panose="02020603050405020304" pitchFamily="18" charset="0"/>
                          <a:cs typeface="Arial" panose="020B0604020202020204" pitchFamily="34" charset="0"/>
                        </a:rPr>
                        <a:t>R2#</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configure terminal</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algn="l"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interface g0/0/0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R2(config-if)#</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IP address 192.168.2.1</a:t>
                      </a:r>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255.255.255.0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R2(config-if)#</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no shutdown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R2(config-if)#</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6216981"/>
                  </a:ext>
                </a:extLst>
              </a:tr>
            </a:tbl>
          </a:graphicData>
        </a:graphic>
      </p:graphicFrame>
      <p:sp>
        <p:nvSpPr>
          <p:cNvPr id="15" name="مربع نص 14">
            <a:extLst>
              <a:ext uri="{FF2B5EF4-FFF2-40B4-BE49-F238E27FC236}">
                <a16:creationId xmlns:a16="http://schemas.microsoft.com/office/drawing/2014/main" id="{C017A43A-732F-405B-9A6A-987B50EAF9B2}"/>
              </a:ext>
            </a:extLst>
          </p:cNvPr>
          <p:cNvSpPr txBox="1"/>
          <p:nvPr/>
        </p:nvSpPr>
        <p:spPr>
          <a:xfrm>
            <a:off x="6069806" y="3870609"/>
            <a:ext cx="6136480" cy="369332"/>
          </a:xfrm>
          <a:prstGeom prst="rect">
            <a:avLst/>
          </a:prstGeom>
          <a:noFill/>
        </p:spPr>
        <p:txBody>
          <a:bodyPr wrap="square">
            <a:spAutoFit/>
          </a:bodyPr>
          <a:lstStyle/>
          <a:p>
            <a:r>
              <a:rPr lang="ar-AE" dirty="0"/>
              <a:t>تكوين الواجهة التسلسلية </a:t>
            </a:r>
            <a:r>
              <a:rPr lang="en-US" dirty="0"/>
              <a:t>Serial 0/1/1</a:t>
            </a:r>
          </a:p>
        </p:txBody>
      </p:sp>
      <p:graphicFrame>
        <p:nvGraphicFramePr>
          <p:cNvPr id="16" name="جدول 15">
            <a:extLst>
              <a:ext uri="{FF2B5EF4-FFF2-40B4-BE49-F238E27FC236}">
                <a16:creationId xmlns:a16="http://schemas.microsoft.com/office/drawing/2014/main" id="{0CC6A360-E500-4087-A1E9-052A0895F776}"/>
              </a:ext>
            </a:extLst>
          </p:cNvPr>
          <p:cNvGraphicFramePr>
            <a:graphicFrameLocks noGrp="1"/>
          </p:cNvGraphicFramePr>
          <p:nvPr>
            <p:extLst>
              <p:ext uri="{D42A27DB-BD31-4B8C-83A1-F6EECF244321}">
                <p14:modId xmlns:p14="http://schemas.microsoft.com/office/powerpoint/2010/main" val="940287280"/>
              </p:ext>
            </p:extLst>
          </p:nvPr>
        </p:nvGraphicFramePr>
        <p:xfrm>
          <a:off x="6747826" y="4322196"/>
          <a:ext cx="5268595" cy="759968"/>
        </p:xfrm>
        <a:graphic>
          <a:graphicData uri="http://schemas.openxmlformats.org/drawingml/2006/table">
            <a:tbl>
              <a:tblPr firstRow="1" firstCol="1" bandRow="1"/>
              <a:tblGrid>
                <a:gridCol w="5268595">
                  <a:extLst>
                    <a:ext uri="{9D8B030D-6E8A-4147-A177-3AD203B41FA5}">
                      <a16:colId xmlns:a16="http://schemas.microsoft.com/office/drawing/2014/main" val="1395865233"/>
                    </a:ext>
                  </a:extLst>
                </a:gridCol>
              </a:tblGrid>
              <a:tr h="0">
                <a:tc>
                  <a:txBody>
                    <a:bodyPr/>
                    <a:lstStyle/>
                    <a:p>
                      <a:pPr algn="l" rtl="0">
                        <a:lnSpc>
                          <a:spcPct val="106000"/>
                        </a:lnSpc>
                        <a:spcAft>
                          <a:spcPts val="1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interface serial 0/1/1</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6000"/>
                        </a:lnSpc>
                        <a:spcAft>
                          <a:spcPts val="1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R2(config-if)#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ip address 192.168.4.1 255.255.255.0</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2000"/>
                        </a:lnSpc>
                        <a:spcAft>
                          <a:spcPts val="4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R2(config-if)#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no</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shutdown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2000"/>
                        </a:lnSpc>
                        <a:spcAft>
                          <a:spcPts val="4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R2(config-if)#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exit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7910269"/>
                  </a:ext>
                </a:extLst>
              </a:tr>
            </a:tbl>
          </a:graphicData>
        </a:graphic>
      </p:graphicFrame>
      <p:sp>
        <p:nvSpPr>
          <p:cNvPr id="18" name="مربع نص 17">
            <a:extLst>
              <a:ext uri="{FF2B5EF4-FFF2-40B4-BE49-F238E27FC236}">
                <a16:creationId xmlns:a16="http://schemas.microsoft.com/office/drawing/2014/main" id="{FA6F0CE3-8B5B-482C-9B6C-8B3305A2F9C6}"/>
              </a:ext>
            </a:extLst>
          </p:cNvPr>
          <p:cNvSpPr txBox="1"/>
          <p:nvPr/>
        </p:nvSpPr>
        <p:spPr>
          <a:xfrm>
            <a:off x="6747825" y="5164419"/>
            <a:ext cx="5268596" cy="646331"/>
          </a:xfrm>
          <a:prstGeom prst="rect">
            <a:avLst/>
          </a:prstGeom>
          <a:noFill/>
        </p:spPr>
        <p:txBody>
          <a:bodyPr wrap="square">
            <a:spAutoFit/>
          </a:bodyPr>
          <a:lstStyle/>
          <a:p>
            <a:r>
              <a:rPr lang="ar-SA" b="1" dirty="0"/>
              <a:t>ا</a:t>
            </a:r>
            <a:r>
              <a:rPr lang="ar-AE" b="1" dirty="0"/>
              <a:t>لخطوة 3: حماية تكوينات الجهاز من الوصول غير المصرح به باستخدام كلمة مرور </a:t>
            </a:r>
            <a:r>
              <a:rPr lang="en-US" b="1" dirty="0"/>
              <a:t>exec </a:t>
            </a:r>
            <a:r>
              <a:rPr lang="ar-SA" b="1" dirty="0"/>
              <a:t> </a:t>
            </a:r>
            <a:r>
              <a:rPr lang="ar-AE" b="1" dirty="0"/>
              <a:t>المشفرة ذات الامتيازات</a:t>
            </a:r>
            <a:endParaRPr lang="en-US" b="1" dirty="0"/>
          </a:p>
        </p:txBody>
      </p:sp>
      <p:graphicFrame>
        <p:nvGraphicFramePr>
          <p:cNvPr id="19" name="جدول 18">
            <a:extLst>
              <a:ext uri="{FF2B5EF4-FFF2-40B4-BE49-F238E27FC236}">
                <a16:creationId xmlns:a16="http://schemas.microsoft.com/office/drawing/2014/main" id="{1C5BA009-5F77-4E58-BD90-791BA14B94C3}"/>
              </a:ext>
            </a:extLst>
          </p:cNvPr>
          <p:cNvGraphicFramePr>
            <a:graphicFrameLocks noGrp="1"/>
          </p:cNvGraphicFramePr>
          <p:nvPr>
            <p:extLst>
              <p:ext uri="{D42A27DB-BD31-4B8C-83A1-F6EECF244321}">
                <p14:modId xmlns:p14="http://schemas.microsoft.com/office/powerpoint/2010/main" val="2425492445"/>
              </p:ext>
            </p:extLst>
          </p:nvPr>
        </p:nvGraphicFramePr>
        <p:xfrm>
          <a:off x="6747826" y="5785065"/>
          <a:ext cx="5268595" cy="731520"/>
        </p:xfrm>
        <a:graphic>
          <a:graphicData uri="http://schemas.openxmlformats.org/drawingml/2006/table">
            <a:tbl>
              <a:tblPr firstRow="1" firstCol="1" bandRow="1"/>
              <a:tblGrid>
                <a:gridCol w="5268595">
                  <a:extLst>
                    <a:ext uri="{9D8B030D-6E8A-4147-A177-3AD203B41FA5}">
                      <a16:colId xmlns:a16="http://schemas.microsoft.com/office/drawing/2014/main" val="4134991439"/>
                    </a:ext>
                  </a:extLst>
                </a:gridCol>
              </a:tblGrid>
              <a:tr h="0">
                <a:tc>
                  <a:txBody>
                    <a:bodyPr/>
                    <a:lstStyle/>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enable secret lab123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banner </a:t>
                      </a:r>
                      <a:r>
                        <a:rPr lang="en-US" sz="1200" dirty="0" err="1">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motd</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 $This is Router$</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security passwords min-length 8</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login</a:t>
                      </a:r>
                      <a:r>
                        <a:rPr lang="en-US" sz="12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block-for 120 attempts 2 within 120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5002897"/>
                  </a:ext>
                </a:extLst>
              </a:tr>
            </a:tbl>
          </a:graphicData>
        </a:graphic>
      </p:graphicFrame>
      <p:sp>
        <p:nvSpPr>
          <p:cNvPr id="21" name="مربع نص 20">
            <a:extLst>
              <a:ext uri="{FF2B5EF4-FFF2-40B4-BE49-F238E27FC236}">
                <a16:creationId xmlns:a16="http://schemas.microsoft.com/office/drawing/2014/main" id="{FA0F1457-C32F-405E-B7CD-A44AFC19954C}"/>
              </a:ext>
            </a:extLst>
          </p:cNvPr>
          <p:cNvSpPr txBox="1"/>
          <p:nvPr/>
        </p:nvSpPr>
        <p:spPr>
          <a:xfrm>
            <a:off x="644078" y="98454"/>
            <a:ext cx="4723830" cy="369332"/>
          </a:xfrm>
          <a:prstGeom prst="rect">
            <a:avLst/>
          </a:prstGeom>
          <a:noFill/>
        </p:spPr>
        <p:txBody>
          <a:bodyPr wrap="square">
            <a:spAutoFit/>
          </a:bodyPr>
          <a:lstStyle/>
          <a:p>
            <a:r>
              <a:rPr lang="ar-AE" b="1" dirty="0"/>
              <a:t>الخطوة 4: قم بتأمين جميع خطوط الوصول في جهاز التوجيه</a:t>
            </a:r>
            <a:endParaRPr lang="en-US" b="1" dirty="0"/>
          </a:p>
        </p:txBody>
      </p:sp>
      <p:graphicFrame>
        <p:nvGraphicFramePr>
          <p:cNvPr id="22" name="جدول 21">
            <a:extLst>
              <a:ext uri="{FF2B5EF4-FFF2-40B4-BE49-F238E27FC236}">
                <a16:creationId xmlns:a16="http://schemas.microsoft.com/office/drawing/2014/main" id="{A9DAFB4D-AECC-4207-82D2-192E44C4A938}"/>
              </a:ext>
            </a:extLst>
          </p:cNvPr>
          <p:cNvGraphicFramePr>
            <a:graphicFrameLocks noGrp="1"/>
          </p:cNvGraphicFramePr>
          <p:nvPr>
            <p:extLst>
              <p:ext uri="{D42A27DB-BD31-4B8C-83A1-F6EECF244321}">
                <p14:modId xmlns:p14="http://schemas.microsoft.com/office/powerpoint/2010/main" val="1980325910"/>
              </p:ext>
            </p:extLst>
          </p:nvPr>
        </p:nvGraphicFramePr>
        <p:xfrm>
          <a:off x="190238" y="447567"/>
          <a:ext cx="5268595" cy="731520"/>
        </p:xfrm>
        <a:graphic>
          <a:graphicData uri="http://schemas.openxmlformats.org/drawingml/2006/table">
            <a:tbl>
              <a:tblPr firstRow="1" firstCol="1" bandRow="1"/>
              <a:tblGrid>
                <a:gridCol w="5268595">
                  <a:extLst>
                    <a:ext uri="{9D8B030D-6E8A-4147-A177-3AD203B41FA5}">
                      <a16:colId xmlns:a16="http://schemas.microsoft.com/office/drawing/2014/main" val="780156498"/>
                    </a:ext>
                  </a:extLst>
                </a:gridCol>
              </a:tblGrid>
              <a:tr h="0">
                <a:tc>
                  <a:txBody>
                    <a:bodyPr/>
                    <a:lstStyle/>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line console 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R2(config-line)#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password lab123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R2(config-line)#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login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R2(config-line)#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3357838"/>
                  </a:ext>
                </a:extLst>
              </a:tr>
            </a:tbl>
          </a:graphicData>
        </a:graphic>
      </p:graphicFrame>
      <p:graphicFrame>
        <p:nvGraphicFramePr>
          <p:cNvPr id="23" name="جدول 22">
            <a:extLst>
              <a:ext uri="{FF2B5EF4-FFF2-40B4-BE49-F238E27FC236}">
                <a16:creationId xmlns:a16="http://schemas.microsoft.com/office/drawing/2014/main" id="{DC659F15-485C-41ED-B2FD-4797EBAE7F67}"/>
              </a:ext>
            </a:extLst>
          </p:cNvPr>
          <p:cNvGraphicFramePr>
            <a:graphicFrameLocks noGrp="1"/>
          </p:cNvGraphicFramePr>
          <p:nvPr>
            <p:extLst>
              <p:ext uri="{D42A27DB-BD31-4B8C-83A1-F6EECF244321}">
                <p14:modId xmlns:p14="http://schemas.microsoft.com/office/powerpoint/2010/main" val="3392719037"/>
              </p:ext>
            </p:extLst>
          </p:nvPr>
        </p:nvGraphicFramePr>
        <p:xfrm>
          <a:off x="190238" y="1284912"/>
          <a:ext cx="5268595" cy="1097280"/>
        </p:xfrm>
        <a:graphic>
          <a:graphicData uri="http://schemas.openxmlformats.org/drawingml/2006/table">
            <a:tbl>
              <a:tblPr firstRow="1" firstCol="1" bandRow="1"/>
              <a:tblGrid>
                <a:gridCol w="5268595">
                  <a:extLst>
                    <a:ext uri="{9D8B030D-6E8A-4147-A177-3AD203B41FA5}">
                      <a16:colId xmlns:a16="http://schemas.microsoft.com/office/drawing/2014/main" val="91641258"/>
                    </a:ext>
                  </a:extLst>
                </a:gridCol>
              </a:tblGrid>
              <a:tr h="0">
                <a:tc>
                  <a:txBody>
                    <a:bodyPr/>
                    <a:lstStyle/>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line </a:t>
                      </a:r>
                      <a:r>
                        <a:rPr lang="en-US" sz="1200" dirty="0" err="1">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vty</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 0 4</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R2(config-line)#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password lab123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R2(config-line)#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login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R2(config-line)#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service password-encryption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end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9505290"/>
                  </a:ext>
                </a:extLst>
              </a:tr>
            </a:tbl>
          </a:graphicData>
        </a:graphic>
      </p:graphicFrame>
      <p:sp>
        <p:nvSpPr>
          <p:cNvPr id="25" name="مربع نص 24">
            <a:extLst>
              <a:ext uri="{FF2B5EF4-FFF2-40B4-BE49-F238E27FC236}">
                <a16:creationId xmlns:a16="http://schemas.microsoft.com/office/drawing/2014/main" id="{E366F355-81B2-4146-8DA5-E4A7AEE749EB}"/>
              </a:ext>
            </a:extLst>
          </p:cNvPr>
          <p:cNvSpPr txBox="1"/>
          <p:nvPr/>
        </p:nvSpPr>
        <p:spPr>
          <a:xfrm>
            <a:off x="-768572" y="2399536"/>
            <a:ext cx="6136480" cy="369332"/>
          </a:xfrm>
          <a:prstGeom prst="rect">
            <a:avLst/>
          </a:prstGeom>
          <a:noFill/>
        </p:spPr>
        <p:txBody>
          <a:bodyPr wrap="square">
            <a:spAutoFit/>
          </a:bodyPr>
          <a:lstStyle/>
          <a:p>
            <a:r>
              <a:rPr lang="ar-AE" b="1" dirty="0"/>
              <a:t>الخطوة 5: نسخ التكوين إلى ملف بدء التشغيل</a:t>
            </a:r>
            <a:endParaRPr lang="en-US" b="1" dirty="0"/>
          </a:p>
        </p:txBody>
      </p:sp>
      <p:graphicFrame>
        <p:nvGraphicFramePr>
          <p:cNvPr id="26" name="جدول 25">
            <a:extLst>
              <a:ext uri="{FF2B5EF4-FFF2-40B4-BE49-F238E27FC236}">
                <a16:creationId xmlns:a16="http://schemas.microsoft.com/office/drawing/2014/main" id="{C7E58B9C-7A65-4E8A-812E-BB1EA5EA1B70}"/>
              </a:ext>
            </a:extLst>
          </p:cNvPr>
          <p:cNvGraphicFramePr>
            <a:graphicFrameLocks noGrp="1"/>
          </p:cNvGraphicFramePr>
          <p:nvPr>
            <p:extLst>
              <p:ext uri="{D42A27DB-BD31-4B8C-83A1-F6EECF244321}">
                <p14:modId xmlns:p14="http://schemas.microsoft.com/office/powerpoint/2010/main" val="1261625449"/>
              </p:ext>
            </p:extLst>
          </p:nvPr>
        </p:nvGraphicFramePr>
        <p:xfrm>
          <a:off x="190238" y="2711286"/>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2611771183"/>
                    </a:ext>
                  </a:extLst>
                </a:gridCol>
              </a:tblGrid>
              <a:tr h="0">
                <a:tc>
                  <a:txBody>
                    <a:bodyPr/>
                    <a:lstStyle/>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R2#</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copy run start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8517117"/>
                  </a:ext>
                </a:extLst>
              </a:tr>
            </a:tbl>
          </a:graphicData>
        </a:graphic>
      </p:graphicFrame>
      <p:sp>
        <p:nvSpPr>
          <p:cNvPr id="28" name="مربع نص 27">
            <a:extLst>
              <a:ext uri="{FF2B5EF4-FFF2-40B4-BE49-F238E27FC236}">
                <a16:creationId xmlns:a16="http://schemas.microsoft.com/office/drawing/2014/main" id="{60206B8E-7988-46B6-B55E-8A847B70955C}"/>
              </a:ext>
            </a:extLst>
          </p:cNvPr>
          <p:cNvSpPr txBox="1"/>
          <p:nvPr/>
        </p:nvSpPr>
        <p:spPr>
          <a:xfrm>
            <a:off x="-1154336" y="2956197"/>
            <a:ext cx="6522244" cy="369332"/>
          </a:xfrm>
          <a:prstGeom prst="rect">
            <a:avLst/>
          </a:prstGeom>
          <a:noFill/>
        </p:spPr>
        <p:txBody>
          <a:bodyPr wrap="square">
            <a:spAutoFit/>
          </a:bodyPr>
          <a:lstStyle/>
          <a:p>
            <a:pPr algn="r" rtl="1"/>
            <a:r>
              <a:rPr lang="ar-SA" sz="18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الخطوة 6: التحقق</a:t>
            </a:r>
            <a:endParaRPr lang="en-US" sz="16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29" name="جدول 28">
            <a:extLst>
              <a:ext uri="{FF2B5EF4-FFF2-40B4-BE49-F238E27FC236}">
                <a16:creationId xmlns:a16="http://schemas.microsoft.com/office/drawing/2014/main" id="{2FF2536D-0165-444E-9B2F-D04DE7D00F77}"/>
              </a:ext>
            </a:extLst>
          </p:cNvPr>
          <p:cNvGraphicFramePr>
            <a:graphicFrameLocks noGrp="1"/>
          </p:cNvGraphicFramePr>
          <p:nvPr>
            <p:extLst>
              <p:ext uri="{D42A27DB-BD31-4B8C-83A1-F6EECF244321}">
                <p14:modId xmlns:p14="http://schemas.microsoft.com/office/powerpoint/2010/main" val="4210419491"/>
              </p:ext>
            </p:extLst>
          </p:nvPr>
        </p:nvGraphicFramePr>
        <p:xfrm>
          <a:off x="190238" y="3337560"/>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158938224"/>
                    </a:ext>
                  </a:extLst>
                </a:gridCol>
              </a:tblGrid>
              <a:tr h="0">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R2#</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show run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4913263"/>
                  </a:ext>
                </a:extLst>
              </a:tr>
            </a:tbl>
          </a:graphicData>
        </a:graphic>
      </p:graphicFrame>
      <p:sp>
        <p:nvSpPr>
          <p:cNvPr id="31" name="مربع نص 30">
            <a:extLst>
              <a:ext uri="{FF2B5EF4-FFF2-40B4-BE49-F238E27FC236}">
                <a16:creationId xmlns:a16="http://schemas.microsoft.com/office/drawing/2014/main" id="{FABDCC2B-4F8C-4A7B-929C-2D9D27F4F6FC}"/>
              </a:ext>
            </a:extLst>
          </p:cNvPr>
          <p:cNvSpPr txBox="1"/>
          <p:nvPr/>
        </p:nvSpPr>
        <p:spPr>
          <a:xfrm>
            <a:off x="-1347216" y="3543301"/>
            <a:ext cx="6715124" cy="369332"/>
          </a:xfrm>
          <a:prstGeom prst="rect">
            <a:avLst/>
          </a:prstGeom>
          <a:noFill/>
        </p:spPr>
        <p:txBody>
          <a:bodyPr wrap="square">
            <a:spAutoFit/>
          </a:bodyPr>
          <a:lstStyle/>
          <a:p>
            <a:r>
              <a:rPr lang="ar-AE" dirty="0"/>
              <a:t>عرض جميع الاوامر التي تم ادخالها </a:t>
            </a:r>
            <a:endParaRPr lang="en-US" dirty="0"/>
          </a:p>
        </p:txBody>
      </p:sp>
      <p:pic>
        <p:nvPicPr>
          <p:cNvPr id="32" name="صورة 31">
            <a:extLst>
              <a:ext uri="{FF2B5EF4-FFF2-40B4-BE49-F238E27FC236}">
                <a16:creationId xmlns:a16="http://schemas.microsoft.com/office/drawing/2014/main" id="{F16A1C5A-5F7F-483E-9535-0BAC890683F5}"/>
              </a:ext>
            </a:extLst>
          </p:cNvPr>
          <p:cNvPicPr>
            <a:picLocks noChangeAspect="1"/>
          </p:cNvPicPr>
          <p:nvPr/>
        </p:nvPicPr>
        <p:blipFill>
          <a:blip r:embed="rId2"/>
          <a:stretch>
            <a:fillRect/>
          </a:stretch>
        </p:blipFill>
        <p:spPr>
          <a:xfrm>
            <a:off x="247176" y="3963834"/>
            <a:ext cx="5496399" cy="2720545"/>
          </a:xfrm>
          <a:prstGeom prst="rect">
            <a:avLst/>
          </a:prstGeom>
        </p:spPr>
      </p:pic>
    </p:spTree>
    <p:extLst>
      <p:ext uri="{BB962C8B-B14F-4D97-AF65-F5344CB8AC3E}">
        <p14:creationId xmlns:p14="http://schemas.microsoft.com/office/powerpoint/2010/main" val="194028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مربع نص 8">
            <a:extLst>
              <a:ext uri="{FF2B5EF4-FFF2-40B4-BE49-F238E27FC236}">
                <a16:creationId xmlns:a16="http://schemas.microsoft.com/office/drawing/2014/main" id="{489C3564-651F-4375-BE50-C4F94E34422D}"/>
              </a:ext>
            </a:extLst>
          </p:cNvPr>
          <p:cNvSpPr txBox="1"/>
          <p:nvPr/>
        </p:nvSpPr>
        <p:spPr>
          <a:xfrm>
            <a:off x="6096000" y="667841"/>
            <a:ext cx="6122194" cy="369332"/>
          </a:xfrm>
          <a:prstGeom prst="rect">
            <a:avLst/>
          </a:prstGeom>
          <a:noFill/>
        </p:spPr>
        <p:txBody>
          <a:bodyPr wrap="square">
            <a:spAutoFit/>
          </a:bodyPr>
          <a:lstStyle/>
          <a:p>
            <a:r>
              <a:rPr lang="ar-AE" b="1" dirty="0"/>
              <a:t>خطوات التكوين الأساسية لجهاز التوجيه</a:t>
            </a:r>
            <a:r>
              <a:rPr lang="en-US" b="1" dirty="0"/>
              <a:t>3 </a:t>
            </a:r>
            <a:endParaRPr lang="ar-AE" b="1" dirty="0"/>
          </a:p>
        </p:txBody>
      </p:sp>
      <p:sp>
        <p:nvSpPr>
          <p:cNvPr id="11" name="مربع نص 10">
            <a:extLst>
              <a:ext uri="{FF2B5EF4-FFF2-40B4-BE49-F238E27FC236}">
                <a16:creationId xmlns:a16="http://schemas.microsoft.com/office/drawing/2014/main" id="{D5A46931-77C3-4C7F-95F6-C77434517D83}"/>
              </a:ext>
            </a:extLst>
          </p:cNvPr>
          <p:cNvSpPr txBox="1"/>
          <p:nvPr/>
        </p:nvSpPr>
        <p:spPr>
          <a:xfrm>
            <a:off x="6074570" y="1064327"/>
            <a:ext cx="6136480" cy="369332"/>
          </a:xfrm>
          <a:prstGeom prst="rect">
            <a:avLst/>
          </a:prstGeom>
          <a:noFill/>
        </p:spPr>
        <p:txBody>
          <a:bodyPr wrap="square">
            <a:spAutoFit/>
          </a:bodyPr>
          <a:lstStyle/>
          <a:p>
            <a:r>
              <a:rPr lang="ar-SA" sz="1800" b="1" dirty="0">
                <a:effectLst/>
                <a:ea typeface="Times New Roman" panose="02020603050405020304" pitchFamily="18" charset="0"/>
                <a:cs typeface="Times New Roman" panose="02020603050405020304" pitchFamily="18" charset="0"/>
              </a:rPr>
              <a:t>الخطوة 1: قم بتكوين اسم مضيف جهاز التوجيه</a:t>
            </a:r>
            <a:endParaRPr lang="en-US" b="1" dirty="0"/>
          </a:p>
        </p:txBody>
      </p:sp>
      <p:graphicFrame>
        <p:nvGraphicFramePr>
          <p:cNvPr id="12" name="جدول 11">
            <a:extLst>
              <a:ext uri="{FF2B5EF4-FFF2-40B4-BE49-F238E27FC236}">
                <a16:creationId xmlns:a16="http://schemas.microsoft.com/office/drawing/2014/main" id="{1CAE7A3B-8FB2-4B3E-ACE2-67E806BF8565}"/>
              </a:ext>
            </a:extLst>
          </p:cNvPr>
          <p:cNvGraphicFramePr>
            <a:graphicFrameLocks noGrp="1"/>
          </p:cNvGraphicFramePr>
          <p:nvPr>
            <p:extLst>
              <p:ext uri="{D42A27DB-BD31-4B8C-83A1-F6EECF244321}">
                <p14:modId xmlns:p14="http://schemas.microsoft.com/office/powerpoint/2010/main" val="2440430252"/>
              </p:ext>
            </p:extLst>
          </p:nvPr>
        </p:nvGraphicFramePr>
        <p:xfrm>
          <a:off x="6762112" y="1505751"/>
          <a:ext cx="5268595" cy="716280"/>
        </p:xfrm>
        <a:graphic>
          <a:graphicData uri="http://schemas.openxmlformats.org/drawingml/2006/table">
            <a:tbl>
              <a:tblPr firstRow="1" firstCol="1" bandRow="1"/>
              <a:tblGrid>
                <a:gridCol w="5268595">
                  <a:extLst>
                    <a:ext uri="{9D8B030D-6E8A-4147-A177-3AD203B41FA5}">
                      <a16:colId xmlns:a16="http://schemas.microsoft.com/office/drawing/2014/main" val="3680299336"/>
                    </a:ext>
                  </a:extLst>
                </a:gridCol>
              </a:tblGrid>
              <a:tr h="0">
                <a:tc>
                  <a:txBody>
                    <a:bodyPr/>
                    <a:lstStyle/>
                    <a:p>
                      <a:pPr algn="l"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Router&gt;</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enable</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100" dirty="0">
                          <a:effectLst/>
                          <a:latin typeface="Courier New" panose="02070309020205020404" pitchFamily="49" charset="0"/>
                          <a:ea typeface="Times New Roman" panose="02020603050405020304" pitchFamily="18" charset="0"/>
                          <a:cs typeface="Arial" panose="020B0604020202020204" pitchFamily="34" charset="0"/>
                        </a:rPr>
                        <a:t>Router#</a:t>
                      </a:r>
                      <a:r>
                        <a:rPr lang="ar-SA" sz="1100" dirty="0">
                          <a:effectLst/>
                          <a:latin typeface="Courier New" panose="02070309020205020404" pitchFamily="49" charset="0"/>
                          <a:ea typeface="Times New Roman" panose="02020603050405020304" pitchFamily="18" charset="0"/>
                          <a:cs typeface="Arial" panose="020B0604020202020204" pitchFamily="34" charset="0"/>
                        </a:rPr>
                        <a:t> </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configure terminal</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algn="l"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Router(config)#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hostname R3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843020"/>
                  </a:ext>
                </a:extLst>
              </a:tr>
            </a:tbl>
          </a:graphicData>
        </a:graphic>
      </p:graphicFrame>
      <p:sp>
        <p:nvSpPr>
          <p:cNvPr id="14" name="مربع نص 13">
            <a:extLst>
              <a:ext uri="{FF2B5EF4-FFF2-40B4-BE49-F238E27FC236}">
                <a16:creationId xmlns:a16="http://schemas.microsoft.com/office/drawing/2014/main" id="{D298477C-FE39-49E3-B817-722F728CE3B9}"/>
              </a:ext>
            </a:extLst>
          </p:cNvPr>
          <p:cNvSpPr txBox="1"/>
          <p:nvPr/>
        </p:nvSpPr>
        <p:spPr>
          <a:xfrm>
            <a:off x="6048376" y="2232228"/>
            <a:ext cx="6143624" cy="369332"/>
          </a:xfrm>
          <a:prstGeom prst="rect">
            <a:avLst/>
          </a:prstGeom>
          <a:noFill/>
        </p:spPr>
        <p:txBody>
          <a:bodyPr wrap="square">
            <a:spAutoFit/>
          </a:bodyPr>
          <a:lstStyle/>
          <a:p>
            <a:pPr algn="r" rtl="1"/>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الخطوة 2: تكوين واجهة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Gigabit Ethernet</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 على جهاز التوجيه</a:t>
            </a:r>
            <a:endParaRPr lang="en-US" sz="16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15" name="جدول 14">
            <a:extLst>
              <a:ext uri="{FF2B5EF4-FFF2-40B4-BE49-F238E27FC236}">
                <a16:creationId xmlns:a16="http://schemas.microsoft.com/office/drawing/2014/main" id="{C5C4F648-7DDD-49D9-BB93-178219157511}"/>
              </a:ext>
            </a:extLst>
          </p:cNvPr>
          <p:cNvGraphicFramePr>
            <a:graphicFrameLocks noGrp="1"/>
          </p:cNvGraphicFramePr>
          <p:nvPr>
            <p:extLst>
              <p:ext uri="{D42A27DB-BD31-4B8C-83A1-F6EECF244321}">
                <p14:modId xmlns:p14="http://schemas.microsoft.com/office/powerpoint/2010/main" val="597963480"/>
              </p:ext>
            </p:extLst>
          </p:nvPr>
        </p:nvGraphicFramePr>
        <p:xfrm>
          <a:off x="6762112" y="2700806"/>
          <a:ext cx="5268595" cy="899160"/>
        </p:xfrm>
        <a:graphic>
          <a:graphicData uri="http://schemas.openxmlformats.org/drawingml/2006/table">
            <a:tbl>
              <a:tblPr firstRow="1" firstCol="1" bandRow="1"/>
              <a:tblGrid>
                <a:gridCol w="5268595">
                  <a:extLst>
                    <a:ext uri="{9D8B030D-6E8A-4147-A177-3AD203B41FA5}">
                      <a16:colId xmlns:a16="http://schemas.microsoft.com/office/drawing/2014/main" val="294808217"/>
                    </a:ext>
                  </a:extLst>
                </a:gridCol>
              </a:tblGrid>
              <a:tr h="0">
                <a:tc>
                  <a:txBody>
                    <a:bodyPr/>
                    <a:lstStyle/>
                    <a:p>
                      <a:pPr algn="l"/>
                      <a:r>
                        <a:rPr lang="en-US" sz="1100" dirty="0">
                          <a:solidFill>
                            <a:srgbClr val="000000"/>
                          </a:solidFill>
                          <a:effectLst/>
                          <a:latin typeface="Courier New" panose="02070309020205020404" pitchFamily="49" charset="0"/>
                          <a:ea typeface="Courier New" panose="02070309020205020404" pitchFamily="49" charset="0"/>
                          <a:cs typeface="Arial" panose="020B0604020202020204" pitchFamily="34" charset="0"/>
                        </a:rPr>
                        <a:t>R3</a:t>
                      </a:r>
                      <a:r>
                        <a:rPr lang="en-US" sz="1100" dirty="0">
                          <a:effectLst/>
                          <a:latin typeface="Courier New" panose="02070309020205020404" pitchFamily="49" charset="0"/>
                          <a:ea typeface="Times New Roman" panose="02020603050405020304" pitchFamily="18" charset="0"/>
                          <a:cs typeface="Arial" panose="020B0604020202020204" pitchFamily="34" charset="0"/>
                        </a:rPr>
                        <a:t>#</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configure terminal</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algn="l" rtl="0"/>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a:t>
                      </a:r>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interface g0/0/0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a:t>
                      </a:r>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(config-if)#</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IP address 192.168.100.1</a:t>
                      </a:r>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255.255.255.0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R3(config-if)#</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no shutdown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R3(config-if)#</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6885279"/>
                  </a:ext>
                </a:extLst>
              </a:tr>
            </a:tbl>
          </a:graphicData>
        </a:graphic>
      </p:graphicFrame>
      <p:sp>
        <p:nvSpPr>
          <p:cNvPr id="17" name="مربع نص 16">
            <a:extLst>
              <a:ext uri="{FF2B5EF4-FFF2-40B4-BE49-F238E27FC236}">
                <a16:creationId xmlns:a16="http://schemas.microsoft.com/office/drawing/2014/main" id="{E128431D-90D1-424A-90EA-ABD513F689FF}"/>
              </a:ext>
            </a:extLst>
          </p:cNvPr>
          <p:cNvSpPr txBox="1"/>
          <p:nvPr/>
        </p:nvSpPr>
        <p:spPr>
          <a:xfrm>
            <a:off x="6074570" y="3661052"/>
            <a:ext cx="6143624" cy="369332"/>
          </a:xfrm>
          <a:prstGeom prst="rect">
            <a:avLst/>
          </a:prstGeom>
          <a:noFill/>
        </p:spPr>
        <p:txBody>
          <a:bodyPr wrap="square">
            <a:spAutoFit/>
          </a:bodyPr>
          <a:lstStyle/>
          <a:p>
            <a:pPr algn="r" rtl="1"/>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تكوين الواجهة التسلسلية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Serial 0/1/0</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18" name="جدول 17">
            <a:extLst>
              <a:ext uri="{FF2B5EF4-FFF2-40B4-BE49-F238E27FC236}">
                <a16:creationId xmlns:a16="http://schemas.microsoft.com/office/drawing/2014/main" id="{BBEC8200-9CD7-4559-9490-F167F52AF00D}"/>
              </a:ext>
            </a:extLst>
          </p:cNvPr>
          <p:cNvGraphicFramePr>
            <a:graphicFrameLocks noGrp="1"/>
          </p:cNvGraphicFramePr>
          <p:nvPr>
            <p:extLst>
              <p:ext uri="{D42A27DB-BD31-4B8C-83A1-F6EECF244321}">
                <p14:modId xmlns:p14="http://schemas.microsoft.com/office/powerpoint/2010/main" val="834236612"/>
              </p:ext>
            </p:extLst>
          </p:nvPr>
        </p:nvGraphicFramePr>
        <p:xfrm>
          <a:off x="6762112" y="4129630"/>
          <a:ext cx="5268595" cy="752666"/>
        </p:xfrm>
        <a:graphic>
          <a:graphicData uri="http://schemas.openxmlformats.org/drawingml/2006/table">
            <a:tbl>
              <a:tblPr firstRow="1" firstCol="1" bandRow="1"/>
              <a:tblGrid>
                <a:gridCol w="5268595">
                  <a:extLst>
                    <a:ext uri="{9D8B030D-6E8A-4147-A177-3AD203B41FA5}">
                      <a16:colId xmlns:a16="http://schemas.microsoft.com/office/drawing/2014/main" val="3510475150"/>
                    </a:ext>
                  </a:extLst>
                </a:gridCol>
              </a:tblGrid>
              <a:tr h="0">
                <a:tc>
                  <a:txBody>
                    <a:bodyPr/>
                    <a:lstStyle/>
                    <a:p>
                      <a:pPr algn="l" rtl="0">
                        <a:lnSpc>
                          <a:spcPct val="106000"/>
                        </a:lnSpc>
                        <a:spcAft>
                          <a:spcPts val="1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interface serial 0/1/0</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2000"/>
                        </a:lnSpc>
                        <a:spcAft>
                          <a:spcPts val="4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ip address 192.168.3.2 255.255.255.0</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2000"/>
                        </a:lnSpc>
                        <a:spcAft>
                          <a:spcPts val="4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no</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shutdown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2000"/>
                        </a:lnSpc>
                        <a:spcAft>
                          <a:spcPts val="4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exit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8519345"/>
                  </a:ext>
                </a:extLst>
              </a:tr>
            </a:tbl>
          </a:graphicData>
        </a:graphic>
      </p:graphicFrame>
      <p:sp>
        <p:nvSpPr>
          <p:cNvPr id="20" name="مربع نص 19">
            <a:extLst>
              <a:ext uri="{FF2B5EF4-FFF2-40B4-BE49-F238E27FC236}">
                <a16:creationId xmlns:a16="http://schemas.microsoft.com/office/drawing/2014/main" id="{C87C31A7-C69F-41C8-AAAB-A55B161EAE27}"/>
              </a:ext>
            </a:extLst>
          </p:cNvPr>
          <p:cNvSpPr txBox="1"/>
          <p:nvPr/>
        </p:nvSpPr>
        <p:spPr>
          <a:xfrm>
            <a:off x="6048376" y="5007047"/>
            <a:ext cx="6143624" cy="369332"/>
          </a:xfrm>
          <a:prstGeom prst="rect">
            <a:avLst/>
          </a:prstGeom>
          <a:noFill/>
        </p:spPr>
        <p:txBody>
          <a:bodyPr wrap="square">
            <a:spAutoFit/>
          </a:bodyPr>
          <a:lstStyle/>
          <a:p>
            <a:r>
              <a:rPr lang="ar-SA" sz="1800" dirty="0">
                <a:effectLst/>
                <a:ea typeface="Times New Roman" panose="02020603050405020304" pitchFamily="18" charset="0"/>
                <a:cs typeface="Times New Roman" panose="02020603050405020304" pitchFamily="18" charset="0"/>
              </a:rPr>
              <a:t>تكوين الواجهة التسلسلية </a:t>
            </a:r>
            <a:r>
              <a:rPr lang="en-US" sz="1800" dirty="0">
                <a:effectLst/>
                <a:latin typeface="Times New Roman" panose="02020603050405020304" pitchFamily="18" charset="0"/>
                <a:ea typeface="Times New Roman" panose="02020603050405020304" pitchFamily="18" charset="0"/>
              </a:rPr>
              <a:t>Serial 0/1/1</a:t>
            </a:r>
            <a:endParaRPr lang="en-US" dirty="0"/>
          </a:p>
        </p:txBody>
      </p:sp>
      <p:graphicFrame>
        <p:nvGraphicFramePr>
          <p:cNvPr id="21" name="جدول 20">
            <a:extLst>
              <a:ext uri="{FF2B5EF4-FFF2-40B4-BE49-F238E27FC236}">
                <a16:creationId xmlns:a16="http://schemas.microsoft.com/office/drawing/2014/main" id="{3F7C3437-5519-4492-907E-ADB4E01B468B}"/>
              </a:ext>
            </a:extLst>
          </p:cNvPr>
          <p:cNvGraphicFramePr>
            <a:graphicFrameLocks noGrp="1"/>
          </p:cNvGraphicFramePr>
          <p:nvPr>
            <p:extLst>
              <p:ext uri="{D42A27DB-BD31-4B8C-83A1-F6EECF244321}">
                <p14:modId xmlns:p14="http://schemas.microsoft.com/office/powerpoint/2010/main" val="880240350"/>
              </p:ext>
            </p:extLst>
          </p:nvPr>
        </p:nvGraphicFramePr>
        <p:xfrm>
          <a:off x="6762112" y="5438566"/>
          <a:ext cx="5268595" cy="746189"/>
        </p:xfrm>
        <a:graphic>
          <a:graphicData uri="http://schemas.openxmlformats.org/drawingml/2006/table">
            <a:tbl>
              <a:tblPr firstRow="1" firstCol="1" bandRow="1"/>
              <a:tblGrid>
                <a:gridCol w="5268595">
                  <a:extLst>
                    <a:ext uri="{9D8B030D-6E8A-4147-A177-3AD203B41FA5}">
                      <a16:colId xmlns:a16="http://schemas.microsoft.com/office/drawing/2014/main" val="25583419"/>
                    </a:ext>
                  </a:extLst>
                </a:gridCol>
              </a:tblGrid>
              <a:tr h="0">
                <a:tc>
                  <a:txBody>
                    <a:bodyPr/>
                    <a:lstStyle/>
                    <a:p>
                      <a:pPr algn="just" rtl="0"/>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interface</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serial</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0/1/1</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6000"/>
                        </a:lnSpc>
                        <a:spcAft>
                          <a:spcPts val="1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ip address 192.168.4.2 255.255.255.0</a:t>
                      </a:r>
                      <a:r>
                        <a:rPr lang="en-US" sz="1200" b="1"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l" rtl="0">
                        <a:lnSpc>
                          <a:spcPct val="102000"/>
                        </a:lnSpc>
                        <a:spcAft>
                          <a:spcPts val="40"/>
                        </a:spcAft>
                      </a:pPr>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no shutdown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000000"/>
                          </a:solidFill>
                          <a:effectLst/>
                          <a:latin typeface="Courier New" panose="02070309020205020404" pitchFamily="49" charset="0"/>
                          <a:ea typeface="Courier New" panose="02070309020205020404" pitchFamily="49" charset="0"/>
                          <a:cs typeface="Times New Roman" panose="02020603050405020304" pitchFamily="18" charset="0"/>
                        </a:rPr>
                        <a:t>R3(config-if)#</a:t>
                      </a:r>
                      <a:r>
                        <a:rPr lang="en-US" sz="1200" dirty="0">
                          <a:solidFill>
                            <a:srgbClr val="FF0000"/>
                          </a:solidFill>
                          <a:effectLst/>
                          <a:latin typeface="Courier New" panose="02070309020205020404" pitchFamily="49" charset="0"/>
                          <a:ea typeface="Courier New" panose="02070309020205020404" pitchFamily="49"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9661778"/>
                  </a:ext>
                </a:extLst>
              </a:tr>
            </a:tbl>
          </a:graphicData>
        </a:graphic>
      </p:graphicFrame>
      <p:sp>
        <p:nvSpPr>
          <p:cNvPr id="23" name="مربع نص 22">
            <a:extLst>
              <a:ext uri="{FF2B5EF4-FFF2-40B4-BE49-F238E27FC236}">
                <a16:creationId xmlns:a16="http://schemas.microsoft.com/office/drawing/2014/main" id="{D1B93422-9503-4DFD-BE0E-C44862ABA42A}"/>
              </a:ext>
            </a:extLst>
          </p:cNvPr>
          <p:cNvSpPr txBox="1"/>
          <p:nvPr/>
        </p:nvSpPr>
        <p:spPr>
          <a:xfrm>
            <a:off x="-313518" y="-33521"/>
            <a:ext cx="6136480" cy="646331"/>
          </a:xfrm>
          <a:prstGeom prst="rect">
            <a:avLst/>
          </a:prstGeom>
          <a:noFill/>
        </p:spPr>
        <p:txBody>
          <a:bodyPr wrap="square">
            <a:spAutoFit/>
          </a:bodyPr>
          <a:lstStyle/>
          <a:p>
            <a:pPr algn="r" rtl="1"/>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الخطوة 3: حماية تكوينات الجهاز من الوصول غير المصرح به باستخدام كلمة مرور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exec</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 المشفرة ذات الامتيازات</a:t>
            </a:r>
            <a:endParaRPr lang="en-US" sz="16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24" name="جدول 23">
            <a:extLst>
              <a:ext uri="{FF2B5EF4-FFF2-40B4-BE49-F238E27FC236}">
                <a16:creationId xmlns:a16="http://schemas.microsoft.com/office/drawing/2014/main" id="{9B1BA51E-09F4-479B-BCBF-16DFA5B661C6}"/>
              </a:ext>
            </a:extLst>
          </p:cNvPr>
          <p:cNvGraphicFramePr>
            <a:graphicFrameLocks noGrp="1"/>
          </p:cNvGraphicFramePr>
          <p:nvPr>
            <p:extLst>
              <p:ext uri="{D42A27DB-BD31-4B8C-83A1-F6EECF244321}">
                <p14:modId xmlns:p14="http://schemas.microsoft.com/office/powerpoint/2010/main" val="2314121944"/>
              </p:ext>
            </p:extLst>
          </p:nvPr>
        </p:nvGraphicFramePr>
        <p:xfrm>
          <a:off x="433942" y="550623"/>
          <a:ext cx="5268595" cy="731520"/>
        </p:xfrm>
        <a:graphic>
          <a:graphicData uri="http://schemas.openxmlformats.org/drawingml/2006/table">
            <a:tbl>
              <a:tblPr firstRow="1" firstCol="1" bandRow="1"/>
              <a:tblGrid>
                <a:gridCol w="5268595">
                  <a:extLst>
                    <a:ext uri="{9D8B030D-6E8A-4147-A177-3AD203B41FA5}">
                      <a16:colId xmlns:a16="http://schemas.microsoft.com/office/drawing/2014/main" val="3420192471"/>
                    </a:ext>
                  </a:extLst>
                </a:gridCol>
              </a:tblGrid>
              <a:tr h="686648">
                <a:tc>
                  <a:txBody>
                    <a:bodyPr/>
                    <a:lstStyle/>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enable secret lab123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banner </a:t>
                      </a:r>
                      <a:r>
                        <a:rPr lang="en-US" sz="1200" dirty="0" err="1">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motd</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 $This is Router$</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security passwords min-length 8</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login</a:t>
                      </a:r>
                      <a:r>
                        <a:rPr lang="en-US" sz="12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block-for 120 attempts 2 within 120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5723682"/>
                  </a:ext>
                </a:extLst>
              </a:tr>
            </a:tbl>
          </a:graphicData>
        </a:graphic>
      </p:graphicFrame>
      <p:sp>
        <p:nvSpPr>
          <p:cNvPr id="26" name="مربع نص 25">
            <a:extLst>
              <a:ext uri="{FF2B5EF4-FFF2-40B4-BE49-F238E27FC236}">
                <a16:creationId xmlns:a16="http://schemas.microsoft.com/office/drawing/2014/main" id="{7C87B2F8-8729-4CE6-BBFF-26B0589B12E1}"/>
              </a:ext>
            </a:extLst>
          </p:cNvPr>
          <p:cNvSpPr txBox="1"/>
          <p:nvPr/>
        </p:nvSpPr>
        <p:spPr>
          <a:xfrm>
            <a:off x="-443190" y="1248993"/>
            <a:ext cx="6136480" cy="369332"/>
          </a:xfrm>
          <a:prstGeom prst="rect">
            <a:avLst/>
          </a:prstGeom>
          <a:noFill/>
        </p:spPr>
        <p:txBody>
          <a:bodyPr wrap="square">
            <a:spAutoFit/>
          </a:bodyPr>
          <a:lstStyle/>
          <a:p>
            <a:pPr algn="r" rtl="1"/>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الخطوة 4: قم بتأمين جميع خطوط الوصول في جهاز التوجيه</a:t>
            </a:r>
            <a:endParaRPr lang="en-US" sz="16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27" name="جدول 26">
            <a:extLst>
              <a:ext uri="{FF2B5EF4-FFF2-40B4-BE49-F238E27FC236}">
                <a16:creationId xmlns:a16="http://schemas.microsoft.com/office/drawing/2014/main" id="{B62865D3-418D-45E5-8617-00FE8A740C0F}"/>
              </a:ext>
            </a:extLst>
          </p:cNvPr>
          <p:cNvGraphicFramePr>
            <a:graphicFrameLocks noGrp="1"/>
          </p:cNvGraphicFramePr>
          <p:nvPr>
            <p:extLst>
              <p:ext uri="{D42A27DB-BD31-4B8C-83A1-F6EECF244321}">
                <p14:modId xmlns:p14="http://schemas.microsoft.com/office/powerpoint/2010/main" val="1595129893"/>
              </p:ext>
            </p:extLst>
          </p:nvPr>
        </p:nvGraphicFramePr>
        <p:xfrm>
          <a:off x="433939" y="1572902"/>
          <a:ext cx="5268595" cy="731520"/>
        </p:xfrm>
        <a:graphic>
          <a:graphicData uri="http://schemas.openxmlformats.org/drawingml/2006/table">
            <a:tbl>
              <a:tblPr firstRow="1" firstCol="1" bandRow="1"/>
              <a:tblGrid>
                <a:gridCol w="5268595">
                  <a:extLst>
                    <a:ext uri="{9D8B030D-6E8A-4147-A177-3AD203B41FA5}">
                      <a16:colId xmlns:a16="http://schemas.microsoft.com/office/drawing/2014/main" val="1157105411"/>
                    </a:ext>
                  </a:extLst>
                </a:gridCol>
              </a:tblGrid>
              <a:tr h="0">
                <a:tc>
                  <a:txBody>
                    <a:bodyPr/>
                    <a:lstStyle/>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line console 0</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R3(config-line)#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password lab123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R3(config-line)#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login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R3(config-line)#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0781067"/>
                  </a:ext>
                </a:extLst>
              </a:tr>
            </a:tbl>
          </a:graphicData>
        </a:graphic>
      </p:graphicFrame>
      <p:graphicFrame>
        <p:nvGraphicFramePr>
          <p:cNvPr id="29" name="جدول 28">
            <a:extLst>
              <a:ext uri="{FF2B5EF4-FFF2-40B4-BE49-F238E27FC236}">
                <a16:creationId xmlns:a16="http://schemas.microsoft.com/office/drawing/2014/main" id="{D0C79A4E-6E9A-4B59-8A3A-308527B0DB8A}"/>
              </a:ext>
            </a:extLst>
          </p:cNvPr>
          <p:cNvGraphicFramePr>
            <a:graphicFrameLocks noGrp="1"/>
          </p:cNvGraphicFramePr>
          <p:nvPr>
            <p:extLst>
              <p:ext uri="{D42A27DB-BD31-4B8C-83A1-F6EECF244321}">
                <p14:modId xmlns:p14="http://schemas.microsoft.com/office/powerpoint/2010/main" val="3145506973"/>
              </p:ext>
            </p:extLst>
          </p:nvPr>
        </p:nvGraphicFramePr>
        <p:xfrm>
          <a:off x="433938" y="2321915"/>
          <a:ext cx="5268595" cy="1097280"/>
        </p:xfrm>
        <a:graphic>
          <a:graphicData uri="http://schemas.openxmlformats.org/drawingml/2006/table">
            <a:tbl>
              <a:tblPr firstRow="1" firstCol="1" bandRow="1"/>
              <a:tblGrid>
                <a:gridCol w="5268595">
                  <a:extLst>
                    <a:ext uri="{9D8B030D-6E8A-4147-A177-3AD203B41FA5}">
                      <a16:colId xmlns:a16="http://schemas.microsoft.com/office/drawing/2014/main" val="2427525104"/>
                    </a:ext>
                  </a:extLst>
                </a:gridCol>
              </a:tblGrid>
              <a:tr h="0">
                <a:tc>
                  <a:txBody>
                    <a:bodyPr/>
                    <a:lstStyle/>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line </a:t>
                      </a:r>
                      <a:r>
                        <a:rPr lang="en-US" sz="1200" dirty="0" err="1">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vty</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 0 4</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R3(config-line)#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password lab123</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R3(config-line)#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login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R3(config-line)#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exit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service password-encryption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R3(config)#</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end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1868381"/>
                  </a:ext>
                </a:extLst>
              </a:tr>
            </a:tbl>
          </a:graphicData>
        </a:graphic>
      </p:graphicFrame>
      <p:sp>
        <p:nvSpPr>
          <p:cNvPr id="31" name="مربع نص 30">
            <a:extLst>
              <a:ext uri="{FF2B5EF4-FFF2-40B4-BE49-F238E27FC236}">
                <a16:creationId xmlns:a16="http://schemas.microsoft.com/office/drawing/2014/main" id="{BEE6249B-E4CB-40EC-9CC6-00E4ACC0D26D}"/>
              </a:ext>
            </a:extLst>
          </p:cNvPr>
          <p:cNvSpPr txBox="1"/>
          <p:nvPr/>
        </p:nvSpPr>
        <p:spPr>
          <a:xfrm>
            <a:off x="-322544" y="3412837"/>
            <a:ext cx="6136480" cy="369332"/>
          </a:xfrm>
          <a:prstGeom prst="rect">
            <a:avLst/>
          </a:prstGeom>
          <a:noFill/>
        </p:spPr>
        <p:txBody>
          <a:bodyPr wrap="square">
            <a:spAutoFit/>
          </a:bodyPr>
          <a:lstStyle/>
          <a:p>
            <a:pPr algn="r" rtl="1"/>
            <a:r>
              <a:rPr lang="ar-SA" sz="18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الخطوة 5: نسخ التكوين إلى ملف بدء التشغيل</a:t>
            </a:r>
            <a:endParaRPr lang="en-US" sz="16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32" name="جدول 31">
            <a:extLst>
              <a:ext uri="{FF2B5EF4-FFF2-40B4-BE49-F238E27FC236}">
                <a16:creationId xmlns:a16="http://schemas.microsoft.com/office/drawing/2014/main" id="{3410D897-8A9C-42C8-AFB5-EAC76CBF9779}"/>
              </a:ext>
            </a:extLst>
          </p:cNvPr>
          <p:cNvGraphicFramePr>
            <a:graphicFrameLocks noGrp="1"/>
          </p:cNvGraphicFramePr>
          <p:nvPr>
            <p:extLst>
              <p:ext uri="{D42A27DB-BD31-4B8C-83A1-F6EECF244321}">
                <p14:modId xmlns:p14="http://schemas.microsoft.com/office/powerpoint/2010/main" val="2482687568"/>
              </p:ext>
            </p:extLst>
          </p:nvPr>
        </p:nvGraphicFramePr>
        <p:xfrm>
          <a:off x="433942" y="3783790"/>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1401844582"/>
                    </a:ext>
                  </a:extLst>
                </a:gridCol>
              </a:tblGrid>
              <a:tr h="0">
                <a:tc>
                  <a:txBody>
                    <a:bodyPr/>
                    <a:lstStyle/>
                    <a:p>
                      <a:pPr algn="just" rtl="0"/>
                      <a:r>
                        <a:rPr lang="en-US" sz="1200" dirty="0">
                          <a:solidFill>
                            <a:srgbClr val="3C3D3F"/>
                          </a:solidFill>
                          <a:effectLst/>
                          <a:latin typeface="Courier New" panose="02070309020205020404" pitchFamily="49" charset="0"/>
                          <a:ea typeface="Times New Roman" panose="02020603050405020304" pitchFamily="18" charset="0"/>
                          <a:cs typeface="Times New Roman" panose="02020603050405020304" pitchFamily="18" charset="0"/>
                        </a:rPr>
                        <a:t>R3#</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copy run start</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5132395"/>
                  </a:ext>
                </a:extLst>
              </a:tr>
            </a:tbl>
          </a:graphicData>
        </a:graphic>
      </p:graphicFrame>
      <p:sp>
        <p:nvSpPr>
          <p:cNvPr id="34" name="مربع نص 33">
            <a:extLst>
              <a:ext uri="{FF2B5EF4-FFF2-40B4-BE49-F238E27FC236}">
                <a16:creationId xmlns:a16="http://schemas.microsoft.com/office/drawing/2014/main" id="{98B0B948-6AD0-4C57-A1E1-43F2D6EFC499}"/>
              </a:ext>
            </a:extLst>
          </p:cNvPr>
          <p:cNvSpPr txBox="1"/>
          <p:nvPr/>
        </p:nvSpPr>
        <p:spPr>
          <a:xfrm>
            <a:off x="-365408" y="3898075"/>
            <a:ext cx="6179344" cy="369332"/>
          </a:xfrm>
          <a:prstGeom prst="rect">
            <a:avLst/>
          </a:prstGeom>
          <a:noFill/>
        </p:spPr>
        <p:txBody>
          <a:bodyPr wrap="square">
            <a:spAutoFit/>
          </a:bodyPr>
          <a:lstStyle/>
          <a:p>
            <a:r>
              <a:rPr lang="ar-AE" b="1" dirty="0"/>
              <a:t>الخطوة 6: التحقق</a:t>
            </a:r>
            <a:endParaRPr lang="en-US" b="1" dirty="0"/>
          </a:p>
        </p:txBody>
      </p:sp>
      <p:graphicFrame>
        <p:nvGraphicFramePr>
          <p:cNvPr id="35" name="جدول 34">
            <a:extLst>
              <a:ext uri="{FF2B5EF4-FFF2-40B4-BE49-F238E27FC236}">
                <a16:creationId xmlns:a16="http://schemas.microsoft.com/office/drawing/2014/main" id="{1E47BE3A-B500-41B6-A136-800901F2E785}"/>
              </a:ext>
            </a:extLst>
          </p:cNvPr>
          <p:cNvGraphicFramePr>
            <a:graphicFrameLocks noGrp="1"/>
          </p:cNvGraphicFramePr>
          <p:nvPr>
            <p:extLst>
              <p:ext uri="{D42A27DB-BD31-4B8C-83A1-F6EECF244321}">
                <p14:modId xmlns:p14="http://schemas.microsoft.com/office/powerpoint/2010/main" val="3405041250"/>
              </p:ext>
            </p:extLst>
          </p:nvPr>
        </p:nvGraphicFramePr>
        <p:xfrm>
          <a:off x="433942" y="4259515"/>
          <a:ext cx="5268595" cy="182880"/>
        </p:xfrm>
        <a:graphic>
          <a:graphicData uri="http://schemas.openxmlformats.org/drawingml/2006/table">
            <a:tbl>
              <a:tblPr firstRow="1" firstCol="1" bandRow="1"/>
              <a:tblGrid>
                <a:gridCol w="5268595">
                  <a:extLst>
                    <a:ext uri="{9D8B030D-6E8A-4147-A177-3AD203B41FA5}">
                      <a16:colId xmlns:a16="http://schemas.microsoft.com/office/drawing/2014/main" val="41202878"/>
                    </a:ext>
                  </a:extLst>
                </a:gridCol>
              </a:tblGrid>
              <a:tr h="0">
                <a:tc>
                  <a:txBody>
                    <a:bodyPr/>
                    <a:lstStyle/>
                    <a:p>
                      <a:pPr algn="just" rtl="0"/>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R3#</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show run </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1373938"/>
                  </a:ext>
                </a:extLst>
              </a:tr>
            </a:tbl>
          </a:graphicData>
        </a:graphic>
      </p:graphicFrame>
      <p:sp>
        <p:nvSpPr>
          <p:cNvPr id="37" name="مربع نص 36">
            <a:extLst>
              <a:ext uri="{FF2B5EF4-FFF2-40B4-BE49-F238E27FC236}">
                <a16:creationId xmlns:a16="http://schemas.microsoft.com/office/drawing/2014/main" id="{173FAD90-FF05-4532-BA08-B36C1DACFC91}"/>
              </a:ext>
            </a:extLst>
          </p:cNvPr>
          <p:cNvSpPr txBox="1"/>
          <p:nvPr/>
        </p:nvSpPr>
        <p:spPr>
          <a:xfrm>
            <a:off x="-356382" y="4499220"/>
            <a:ext cx="6179344" cy="369332"/>
          </a:xfrm>
          <a:prstGeom prst="rect">
            <a:avLst/>
          </a:prstGeom>
          <a:noFill/>
        </p:spPr>
        <p:txBody>
          <a:bodyPr wrap="square">
            <a:spAutoFit/>
          </a:bodyPr>
          <a:lstStyle/>
          <a:p>
            <a:pPr algn="r" rtl="1">
              <a:spcAft>
                <a:spcPts val="1000"/>
              </a:spcAft>
            </a:pPr>
            <a:r>
              <a:rPr lang="ar-SA" sz="1800" i="0" dirty="0">
                <a:effectLst/>
                <a:latin typeface="Calibri" panose="020F0502020204030204" pitchFamily="34" charset="0"/>
                <a:ea typeface="Times New Roman" panose="02020603050405020304" pitchFamily="18" charset="0"/>
                <a:cs typeface="Times New Roman" panose="02020603050405020304" pitchFamily="18" charset="0"/>
              </a:rPr>
              <a:t>عرض جميع الاوامر التي تم ادخالها </a:t>
            </a:r>
            <a:endParaRPr lang="en-US" sz="1100" i="1"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8" name="Picture 8">
            <a:extLst>
              <a:ext uri="{FF2B5EF4-FFF2-40B4-BE49-F238E27FC236}">
                <a16:creationId xmlns:a16="http://schemas.microsoft.com/office/drawing/2014/main" id="{217AC5CE-7AA5-4DF6-ABE8-C306B606F9F9}"/>
              </a:ext>
            </a:extLst>
          </p:cNvPr>
          <p:cNvPicPr/>
          <p:nvPr/>
        </p:nvPicPr>
        <p:blipFill rotWithShape="1">
          <a:blip r:embed="rId2"/>
          <a:srcRect t="6420" r="1914" b="6270"/>
          <a:stretch/>
        </p:blipFill>
        <p:spPr bwMode="auto">
          <a:xfrm>
            <a:off x="319370" y="4943810"/>
            <a:ext cx="5373920" cy="174898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10348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Title 21"/>
          <p:cNvSpPr>
            <a:spLocks noGrp="1"/>
          </p:cNvSpPr>
          <p:nvPr>
            <p:ph type="title"/>
          </p:nvPr>
        </p:nvSpPr>
        <p:spPr>
          <a:xfrm>
            <a:off x="1" y="1899463"/>
            <a:ext cx="12192000" cy="2381964"/>
          </a:xfrm>
        </p:spPr>
        <p:txBody>
          <a:bodyPr>
            <a:noAutofit/>
          </a:bodyPr>
          <a:lstStyle/>
          <a:p>
            <a:r>
              <a:rPr lang="ar-SA" sz="1800" dirty="0"/>
              <a:t> </a:t>
            </a:r>
            <a:br>
              <a:rPr lang="en-US" sz="1800" dirty="0"/>
            </a:br>
            <a:r>
              <a:rPr lang="en-US" sz="1800" b="1" dirty="0"/>
              <a:t>DHCPv4</a:t>
            </a:r>
            <a:br>
              <a:rPr lang="en-US" sz="1800" dirty="0"/>
            </a:br>
            <a:r>
              <a:rPr lang="ar-SA" sz="1800" dirty="0"/>
              <a:t>  </a:t>
            </a:r>
            <a:br>
              <a:rPr lang="en-US" sz="1800" dirty="0"/>
            </a:br>
            <a:r>
              <a:rPr lang="ar-SA" sz="1800" b="1" dirty="0"/>
              <a:t>خادم </a:t>
            </a:r>
            <a:r>
              <a:rPr lang="en-US" sz="1800" b="1" dirty="0"/>
              <a:t>DHCPv4</a:t>
            </a:r>
            <a:r>
              <a:rPr lang="ar-SA" sz="1800" b="1" dirty="0"/>
              <a:t> والعميل</a:t>
            </a:r>
            <a:br>
              <a:rPr lang="en-US" sz="1800" b="1" dirty="0"/>
            </a:br>
            <a:r>
              <a:rPr lang="ar-SA" sz="1800" dirty="0"/>
              <a:t> </a:t>
            </a:r>
            <a:br>
              <a:rPr lang="en-US" sz="1800" dirty="0"/>
            </a:br>
            <a:r>
              <a:rPr lang="ar-SA" sz="1800" dirty="0"/>
              <a:t>يقوم بروتوكول التكوين الديناميكي للمضيف (</a:t>
            </a:r>
            <a:r>
              <a:rPr lang="en-US" sz="1800" dirty="0"/>
              <a:t>DHCPv4</a:t>
            </a:r>
            <a:r>
              <a:rPr lang="ar-SA" sz="1800" dirty="0"/>
              <a:t>) بتعيين عناوين </a:t>
            </a:r>
            <a:r>
              <a:rPr lang="en-US" sz="1800" dirty="0"/>
              <a:t>IPv4</a:t>
            </a:r>
            <a:r>
              <a:rPr lang="ar-SA" sz="1800" dirty="0"/>
              <a:t> ومعلومات تكوين الشبكة الأخرى ديناميكيًا. نظرًا لأن عملاء سطح المكتب يشكلون عادةً الجزء الأكبر من عقد الشبكة ، فإن </a:t>
            </a:r>
            <a:r>
              <a:rPr lang="en-US" sz="1800" dirty="0"/>
              <a:t>DHCPv4</a:t>
            </a:r>
            <a:r>
              <a:rPr lang="ar-SA" sz="1800" dirty="0"/>
              <a:t> يعد أداة مفيدة للغاية وموفرة للوقت لمسؤولي الشبكات.</a:t>
            </a:r>
            <a:br>
              <a:rPr lang="en-US" sz="1800" dirty="0"/>
            </a:br>
            <a:r>
              <a:rPr lang="ar-SA" sz="1800" dirty="0"/>
              <a:t> خادم </a:t>
            </a:r>
            <a:r>
              <a:rPr lang="en-US" sz="1800" dirty="0"/>
              <a:t>DHCPv4</a:t>
            </a:r>
            <a:r>
              <a:rPr lang="ar-SA" sz="1800" dirty="0"/>
              <a:t> المخصص قابل للتطوير وسهل الإدارة نسبيًا. ومع ذلك ، في فرع صغير أو موقع </a:t>
            </a:r>
            <a:r>
              <a:rPr lang="en-US" sz="1800" dirty="0"/>
              <a:t>SOHO</a:t>
            </a:r>
            <a:r>
              <a:rPr lang="ar-SA" sz="1800" dirty="0"/>
              <a:t> ، يمكن تكوين موجه </a:t>
            </a:r>
            <a:r>
              <a:rPr lang="en-US" sz="1800" dirty="0"/>
              <a:t>Cisco</a:t>
            </a:r>
            <a:r>
              <a:rPr lang="ar-SA" sz="1800" dirty="0"/>
              <a:t> لتوفير خدمات </a:t>
            </a:r>
            <a:r>
              <a:rPr lang="en-US" sz="1800" dirty="0"/>
              <a:t>DHCPv4</a:t>
            </a:r>
            <a:r>
              <a:rPr lang="ar-SA" sz="1800" dirty="0"/>
              <a:t> دون الحاجة إلى خادم مخصص. يدعم برنامج </a:t>
            </a:r>
            <a:r>
              <a:rPr lang="en-US" sz="1800" dirty="0"/>
              <a:t>Cisco IOS</a:t>
            </a:r>
            <a:r>
              <a:rPr lang="ar-SA" sz="1800" dirty="0"/>
              <a:t> خادم </a:t>
            </a:r>
            <a:r>
              <a:rPr lang="en-US" sz="1800" dirty="0"/>
              <a:t>DHCPv4</a:t>
            </a:r>
            <a:r>
              <a:rPr lang="ar-SA" sz="1800" dirty="0"/>
              <a:t> اختياري كامل الميزات.</a:t>
            </a:r>
            <a:br>
              <a:rPr lang="en-US" sz="1800" dirty="0"/>
            </a:br>
            <a:r>
              <a:rPr lang="ar-SA" sz="1800" dirty="0"/>
              <a:t> يقوم خادم </a:t>
            </a:r>
            <a:r>
              <a:rPr lang="en-US" sz="1800" dirty="0"/>
              <a:t>DHCPv4</a:t>
            </a:r>
            <a:r>
              <a:rPr lang="ar-SA" sz="1800" dirty="0"/>
              <a:t> ديناميكيًا بتعيين أو تأجير عنوان </a:t>
            </a:r>
            <a:r>
              <a:rPr lang="en-US" sz="1800" dirty="0"/>
              <a:t>IPv4</a:t>
            </a:r>
            <a:r>
              <a:rPr lang="ar-SA" sz="1800" dirty="0"/>
              <a:t> من مجموعة عناوين لفترة زمنية محدودة يختارها الخادم ، أو حتى لا يحتاج العميل إلى العنوان.</a:t>
            </a:r>
            <a:br>
              <a:rPr lang="en-US" sz="1800" dirty="0"/>
            </a:br>
            <a:r>
              <a:rPr lang="ar-SA" sz="1800" dirty="0"/>
              <a:t> </a:t>
            </a:r>
            <a:br>
              <a:rPr lang="en-US" sz="1800" dirty="0"/>
            </a:br>
            <a:r>
              <a:rPr lang="ar-SA" sz="1800" dirty="0"/>
              <a:t>يقوم العملاء باستئجار المعلومات من الخادم لفترة محددة إداريًا. يقوم المسؤولون بتكوين خوادم </a:t>
            </a:r>
            <a:r>
              <a:rPr lang="en-US" sz="1800" dirty="0"/>
              <a:t>DHCPv4</a:t>
            </a:r>
            <a:r>
              <a:rPr lang="ar-SA" sz="1800" dirty="0"/>
              <a:t> لتعيين مهلة عقود الإيجار على فترات زمنية مختلفة. عادة ما يكون عقد الإيجار في أي مكان من 24 ساعة إلى أسبوع أو أكثر. عند انتهاء عقد الإيجار ، يجب على العميل أن يطلب عنوانًا آخر ، على الرغم من إعادة تعيين العميل عادةً بنفس العنوان.</a:t>
            </a:r>
            <a:br>
              <a:rPr lang="en-US" sz="1800" dirty="0"/>
            </a:br>
            <a:endParaRPr lang="en-US" sz="1800" dirty="0"/>
          </a:p>
        </p:txBody>
      </p:sp>
      <p:sp>
        <p:nvSpPr>
          <p:cNvPr id="23" name="Text Placeholder 22"/>
          <p:cNvSpPr>
            <a:spLocks noGrp="1"/>
          </p:cNvSpPr>
          <p:nvPr>
            <p:ph type="body" idx="1"/>
          </p:nvPr>
        </p:nvSpPr>
        <p:spPr>
          <a:xfrm>
            <a:off x="-1" y="4081830"/>
            <a:ext cx="12192000" cy="2721299"/>
          </a:xfrm>
        </p:spPr>
        <p:txBody>
          <a:bodyPr>
            <a:normAutofit/>
          </a:bodyPr>
          <a:lstStyle/>
          <a:p>
            <a:r>
              <a:rPr lang="ar-SA" sz="1800" dirty="0">
                <a:solidFill>
                  <a:schemeClr val="tx1"/>
                </a:solidFill>
              </a:rPr>
              <a:t>1. تبدأ عملية تأجير </a:t>
            </a:r>
            <a:r>
              <a:rPr lang="en-US" sz="1800" dirty="0">
                <a:solidFill>
                  <a:schemeClr val="tx1"/>
                </a:solidFill>
              </a:rPr>
              <a:t>DHCPv4</a:t>
            </a:r>
            <a:r>
              <a:rPr lang="ar-SA" sz="1800" dirty="0">
                <a:solidFill>
                  <a:schemeClr val="tx1"/>
                </a:solidFill>
              </a:rPr>
              <a:t> بإرسال العميل رسالة يطلب فيها خدمات خادم </a:t>
            </a:r>
            <a:r>
              <a:rPr lang="en-US" sz="1800" dirty="0">
                <a:solidFill>
                  <a:schemeClr val="tx1"/>
                </a:solidFill>
              </a:rPr>
              <a:t>DHCP</a:t>
            </a:r>
            <a:r>
              <a:rPr lang="ar-SA" sz="1800" dirty="0">
                <a:solidFill>
                  <a:schemeClr val="tx1"/>
                </a:solidFill>
              </a:rPr>
              <a:t>.</a:t>
            </a:r>
            <a:endParaRPr lang="en-US" sz="1800" dirty="0">
              <a:solidFill>
                <a:schemeClr val="tx1"/>
              </a:solidFill>
            </a:endParaRPr>
          </a:p>
          <a:p>
            <a:r>
              <a:rPr lang="ar-SA" sz="1800" dirty="0">
                <a:solidFill>
                  <a:schemeClr val="tx1"/>
                </a:solidFill>
              </a:rPr>
              <a:t> </a:t>
            </a:r>
            <a:endParaRPr lang="en-US" sz="1800" dirty="0">
              <a:solidFill>
                <a:schemeClr val="tx1"/>
              </a:solidFill>
            </a:endParaRPr>
          </a:p>
          <a:p>
            <a:r>
              <a:rPr lang="ar-SA" sz="1800" dirty="0">
                <a:solidFill>
                  <a:schemeClr val="tx1"/>
                </a:solidFill>
              </a:rPr>
              <a:t>2. إذا كان هناك خادم </a:t>
            </a:r>
            <a:r>
              <a:rPr lang="en-US" sz="1800" dirty="0">
                <a:solidFill>
                  <a:schemeClr val="tx1"/>
                </a:solidFill>
              </a:rPr>
              <a:t>DHCPv4 </a:t>
            </a:r>
            <a:r>
              <a:rPr lang="ar-SA" sz="1800" dirty="0">
                <a:solidFill>
                  <a:schemeClr val="tx1"/>
                </a:solidFill>
              </a:rPr>
              <a:t> يتلقى الرسالة ، فسوف يستجيب بعنوان </a:t>
            </a:r>
          </a:p>
          <a:p>
            <a:r>
              <a:rPr lang="ar-SA" sz="1800" dirty="0">
                <a:solidFill>
                  <a:schemeClr val="tx1"/>
                </a:solidFill>
              </a:rPr>
              <a:t>  </a:t>
            </a:r>
            <a:r>
              <a:rPr lang="en-US" sz="1800" dirty="0">
                <a:solidFill>
                  <a:schemeClr val="tx1"/>
                </a:solidFill>
              </a:rPr>
              <a:t>IPv4 </a:t>
            </a:r>
            <a:r>
              <a:rPr lang="ar-SA" sz="1800" dirty="0">
                <a:solidFill>
                  <a:schemeClr val="tx1"/>
                </a:solidFill>
              </a:rPr>
              <a:t> ومعلومات تكوين شبكة أخرى محتملة.</a:t>
            </a:r>
            <a:endParaRPr lang="en-US" sz="1800" dirty="0">
              <a:solidFill>
                <a:schemeClr val="tx1"/>
              </a:solidFill>
            </a:endParaRPr>
          </a:p>
          <a:p>
            <a:endParaRPr lang="en-US" sz="1800" dirty="0">
              <a:solidFill>
                <a:schemeClr val="tx1"/>
              </a:solidFill>
            </a:endParaRPr>
          </a:p>
        </p:txBody>
      </p:sp>
      <p:pic>
        <p:nvPicPr>
          <p:cNvPr id="24" name="صورة 2"/>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4081830"/>
            <a:ext cx="5399123" cy="2409070"/>
          </a:xfrm>
          <a:prstGeom prst="rect">
            <a:avLst/>
          </a:prstGeom>
          <a:noFill/>
          <a:ln>
            <a:noFill/>
          </a:ln>
        </p:spPr>
      </p:pic>
    </p:spTree>
    <p:extLst>
      <p:ext uri="{BB962C8B-B14F-4D97-AF65-F5344CB8AC3E}">
        <p14:creationId xmlns:p14="http://schemas.microsoft.com/office/powerpoint/2010/main" val="1822118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itle 1"/>
          <p:cNvSpPr>
            <a:spLocks noGrp="1"/>
          </p:cNvSpPr>
          <p:nvPr>
            <p:ph type="title"/>
          </p:nvPr>
        </p:nvSpPr>
        <p:spPr>
          <a:xfrm>
            <a:off x="0" y="2371207"/>
            <a:ext cx="12192000" cy="1325563"/>
          </a:xfrm>
        </p:spPr>
        <p:txBody>
          <a:bodyPr>
            <a:noAutofit/>
          </a:bodyPr>
          <a:lstStyle/>
          <a:p>
            <a:r>
              <a:rPr lang="ar-SA" sz="1600" dirty="0"/>
              <a:t> </a:t>
            </a:r>
            <a:br>
              <a:rPr lang="en-US" sz="1600" dirty="0"/>
            </a:br>
            <a:r>
              <a:rPr lang="ar-SA" sz="1600" b="1" dirty="0"/>
              <a:t>عملية </a:t>
            </a:r>
            <a:r>
              <a:rPr lang="en-US" sz="1600" b="1" dirty="0"/>
              <a:t>DHCPv4</a:t>
            </a:r>
            <a:br>
              <a:rPr lang="en-US" sz="1600" dirty="0"/>
            </a:br>
            <a:r>
              <a:rPr lang="ar-SA" sz="1600" dirty="0"/>
              <a:t> </a:t>
            </a:r>
            <a:br>
              <a:rPr lang="en-US" sz="1600" dirty="0"/>
            </a:br>
            <a:r>
              <a:rPr lang="ar-SA" sz="1600" dirty="0"/>
              <a:t>يعمل </a:t>
            </a:r>
            <a:r>
              <a:rPr lang="en-US" sz="1600" dirty="0"/>
              <a:t>DHCPv4 </a:t>
            </a:r>
            <a:r>
              <a:rPr lang="ar-SA" sz="1600" dirty="0"/>
              <a:t>في وضع العميل / الخادم. عندما يتصل العميل بخادم </a:t>
            </a:r>
            <a:r>
              <a:rPr lang="en-US" sz="1600" dirty="0"/>
              <a:t>DHCPv4 </a:t>
            </a:r>
            <a:r>
              <a:rPr lang="ar-SA" sz="1600" dirty="0"/>
              <a:t>، يقوم الخادم بتعيين أو تأجير عنوان </a:t>
            </a:r>
            <a:r>
              <a:rPr lang="en-US" sz="1600" dirty="0"/>
              <a:t>IPv4 </a:t>
            </a:r>
            <a:r>
              <a:rPr lang="ar-SA" sz="1600" dirty="0"/>
              <a:t>لذلك العميل. يتصل العميل بالشبكة بعنوان </a:t>
            </a:r>
            <a:r>
              <a:rPr lang="en-US" sz="1600" dirty="0"/>
              <a:t>IPv4 </a:t>
            </a:r>
            <a:r>
              <a:rPr lang="ar-SA" sz="1600" dirty="0"/>
              <a:t>المؤجر هذا حتى انتهاء عقد الإيجار. يجب على العميل الاتصال بخادم </a:t>
            </a:r>
            <a:r>
              <a:rPr lang="en-US" sz="1600" dirty="0"/>
              <a:t> DHCP </a:t>
            </a:r>
            <a:r>
              <a:rPr lang="ar-SA" sz="1600" dirty="0"/>
              <a:t>بشكل دوري لتمديد عقد الإيجار. تضمن آلية التأجير هذه أن العملاء الذين ينتقلون أو يتوقفون عن العمل لا يحتفظون بالعناوين التي لم يعودوا بحاجة إليها. عند انتهاء صلاحية عقد الإيجار ، يقوم خادم </a:t>
            </a:r>
            <a:r>
              <a:rPr lang="en-US" sz="1600" dirty="0"/>
              <a:t>DHCP  </a:t>
            </a:r>
            <a:r>
              <a:rPr lang="ar-SA" sz="1600" dirty="0"/>
              <a:t> بإرجاع العنوان إلى التجمع حيث يمكن إعادة تخصيصه حسب الضرورة.</a:t>
            </a:r>
            <a:br>
              <a:rPr lang="en-US" sz="1600" dirty="0"/>
            </a:br>
            <a:r>
              <a:rPr lang="ar-SA" sz="1600" dirty="0"/>
              <a:t> </a:t>
            </a:r>
            <a:br>
              <a:rPr lang="en-US" sz="1600" dirty="0"/>
            </a:br>
            <a:r>
              <a:rPr lang="ar-SA" sz="1600" b="1" dirty="0"/>
              <a:t>خادم </a:t>
            </a:r>
            <a:r>
              <a:rPr lang="en-US" sz="1600" b="1" dirty="0"/>
              <a:t>Cisco IOS DHCPv4</a:t>
            </a:r>
            <a:br>
              <a:rPr lang="en-US" sz="1600" dirty="0"/>
            </a:br>
            <a:r>
              <a:rPr lang="ar-SA" sz="1600" dirty="0"/>
              <a:t> </a:t>
            </a:r>
            <a:br>
              <a:rPr lang="en-US" sz="1600" dirty="0"/>
            </a:br>
            <a:r>
              <a:rPr lang="ar-SA" sz="1600" dirty="0"/>
              <a:t>الآن لديك فهم أساسي لكيفية عمل </a:t>
            </a:r>
            <a:r>
              <a:rPr lang="en-US" sz="1600" dirty="0"/>
              <a:t>DHCPv4 </a:t>
            </a:r>
            <a:r>
              <a:rPr lang="ar-SA" sz="1600" dirty="0"/>
              <a:t> وكيف يمكن أن يجعل عملك أسهل قليلاً. إذا لم يكن لديك خادم </a:t>
            </a:r>
            <a:r>
              <a:rPr lang="en-US" sz="1600" dirty="0"/>
              <a:t>DHCPv4 </a:t>
            </a:r>
            <a:r>
              <a:rPr lang="ar-SA" sz="1600" dirty="0"/>
              <a:t> منفصل ، فسيوضح لك هذا الموضوع كيفية تكوين موجه </a:t>
            </a:r>
            <a:r>
              <a:rPr lang="en-US" sz="1600" dirty="0"/>
              <a:t>Cisco IOS </a:t>
            </a:r>
            <a:r>
              <a:rPr lang="ar-SA" sz="1600" dirty="0"/>
              <a:t>للعمل كواحد. يمكن تكوين موجه </a:t>
            </a:r>
            <a:r>
              <a:rPr lang="en-US" sz="1600" dirty="0"/>
              <a:t>Cisco </a:t>
            </a:r>
            <a:r>
              <a:rPr lang="ar-SA" sz="1600" dirty="0"/>
              <a:t> الذي يقوم بتشغيل برنامج </a:t>
            </a:r>
            <a:r>
              <a:rPr lang="en-US" sz="1600" dirty="0"/>
              <a:t>Cisco IOS </a:t>
            </a:r>
            <a:r>
              <a:rPr lang="ar-SA" sz="1600" dirty="0"/>
              <a:t> ليعمل كخادم </a:t>
            </a:r>
            <a:r>
              <a:rPr lang="en-US" sz="1600" dirty="0"/>
              <a:t>DHCPv4</a:t>
            </a:r>
            <a:r>
              <a:rPr lang="ar-SA" sz="1600" dirty="0"/>
              <a:t>. يقوم خادم </a:t>
            </a:r>
            <a:r>
              <a:rPr lang="en-US" sz="1600" dirty="0"/>
              <a:t>Cisco IOS DHCPv4 </a:t>
            </a:r>
            <a:r>
              <a:rPr lang="ar-SA" sz="1600" dirty="0"/>
              <a:t> بتعيين وإدارة عناوين </a:t>
            </a:r>
            <a:r>
              <a:rPr lang="en-US" sz="1600" dirty="0"/>
              <a:t>IPv4 </a:t>
            </a:r>
            <a:r>
              <a:rPr lang="ar-SA" sz="1600" dirty="0"/>
              <a:t> من تجمعات العناوين المحددة داخل جهاز التوجيه لعملاء </a:t>
            </a:r>
            <a:r>
              <a:rPr lang="en-US" sz="1600" dirty="0"/>
              <a:t>DHCPv4</a:t>
            </a:r>
            <a:r>
              <a:rPr lang="ar-SA" sz="1600" dirty="0"/>
              <a:t>.</a:t>
            </a:r>
            <a:br>
              <a:rPr lang="en-US" sz="1600" dirty="0"/>
            </a:br>
            <a:r>
              <a:rPr lang="ar-SA" sz="1600" dirty="0"/>
              <a:t> </a:t>
            </a:r>
            <a:br>
              <a:rPr lang="en-US" sz="1600" dirty="0"/>
            </a:br>
            <a:r>
              <a:rPr lang="ar-SA" sz="1600" dirty="0"/>
              <a:t> </a:t>
            </a:r>
            <a:br>
              <a:rPr lang="en-US" sz="1600" dirty="0"/>
            </a:br>
            <a:r>
              <a:rPr lang="ar-SA" sz="1600" b="1" dirty="0"/>
              <a:t>خطوات تكوين خادم </a:t>
            </a:r>
            <a:r>
              <a:rPr lang="en-US" sz="1600" b="1" dirty="0"/>
              <a:t>Cisco IOS DHCPv4</a:t>
            </a:r>
            <a:br>
              <a:rPr lang="en-US" sz="1600" dirty="0"/>
            </a:br>
            <a:r>
              <a:rPr lang="ar-SA" sz="1600" dirty="0"/>
              <a:t> </a:t>
            </a:r>
            <a:br>
              <a:rPr lang="en-US" sz="1600" dirty="0"/>
            </a:br>
            <a:r>
              <a:rPr lang="ar-SA" sz="1600" dirty="0"/>
              <a:t>تكوين </a:t>
            </a:r>
            <a:r>
              <a:rPr lang="en-US" sz="1600" dirty="0"/>
              <a:t>R1</a:t>
            </a:r>
            <a:br>
              <a:rPr lang="en-US" sz="1600" dirty="0"/>
            </a:br>
            <a:r>
              <a:rPr lang="ar-SA" sz="1600" dirty="0"/>
              <a:t> </a:t>
            </a:r>
            <a:br>
              <a:rPr lang="en-US" sz="1600" dirty="0"/>
            </a:br>
            <a:r>
              <a:rPr lang="ar-SA" sz="1600" b="1" dirty="0"/>
              <a:t>الخطوة 1. استبعاد عناوين </a:t>
            </a:r>
            <a:r>
              <a:rPr lang="en-US" sz="1600" b="1" dirty="0"/>
              <a:t>IPv4</a:t>
            </a:r>
            <a:br>
              <a:rPr lang="en-US" sz="1600" dirty="0"/>
            </a:br>
            <a:r>
              <a:rPr lang="ar-SA" sz="1600" dirty="0"/>
              <a:t> </a:t>
            </a:r>
            <a:br>
              <a:rPr lang="en-US" sz="1600" dirty="0"/>
            </a:br>
            <a:r>
              <a:rPr lang="ar-SA" sz="1600" dirty="0"/>
              <a:t>يقوم جهاز التوجيه الذي يعمل كخادم </a:t>
            </a:r>
            <a:r>
              <a:rPr lang="en-US" sz="1600" dirty="0"/>
              <a:t>DHCPv4 </a:t>
            </a:r>
            <a:r>
              <a:rPr lang="ar-SA" sz="1600" dirty="0"/>
              <a:t> بتعيين كافة عناوين </a:t>
            </a:r>
            <a:r>
              <a:rPr lang="en-US" sz="1600" dirty="0"/>
              <a:t>IPv4 </a:t>
            </a:r>
            <a:r>
              <a:rPr lang="ar-SA" sz="1600" dirty="0"/>
              <a:t> في تجمع عناوين </a:t>
            </a:r>
            <a:r>
              <a:rPr lang="en-US" sz="1600" dirty="0"/>
              <a:t>DHCPv4 </a:t>
            </a:r>
            <a:r>
              <a:rPr lang="ar-SA" sz="1600" dirty="0"/>
              <a:t> ما لم يتم تكوينه لاستبعاد عناوين محددة. عادةً ما يتم تعيين بعض عناوين </a:t>
            </a:r>
            <a:r>
              <a:rPr lang="en-US" sz="1600" dirty="0"/>
              <a:t>IPv4 </a:t>
            </a:r>
            <a:r>
              <a:rPr lang="ar-SA" sz="1600" dirty="0"/>
              <a:t> في التجمع لأجهزة الشبكة التي تتطلب تعيينات عناوين ثابتة. لذلك ، لا ينبغي تعيين عناوين </a:t>
            </a:r>
            <a:r>
              <a:rPr lang="en-US" sz="1600" dirty="0"/>
              <a:t>IPv4 </a:t>
            </a:r>
            <a:r>
              <a:rPr lang="ar-SA" sz="1600" dirty="0"/>
              <a:t> هذه لأجهزة أخرى. صيغة الأمر لاستبعاد عناوين </a:t>
            </a:r>
            <a:r>
              <a:rPr lang="en-US" sz="1600" dirty="0"/>
              <a:t>IPv4 </a:t>
            </a:r>
            <a:r>
              <a:rPr lang="ar-SA" sz="1600" dirty="0"/>
              <a:t> هي كما يلي:</a:t>
            </a:r>
            <a:br>
              <a:rPr lang="en-US" sz="1400" dirty="0"/>
            </a:br>
            <a:endParaRPr lang="en-US" sz="1400" dirty="0"/>
          </a:p>
        </p:txBody>
      </p:sp>
      <p:graphicFrame>
        <p:nvGraphicFramePr>
          <p:cNvPr id="5" name="Table 4"/>
          <p:cNvGraphicFramePr>
            <a:graphicFrameLocks noGrp="1"/>
          </p:cNvGraphicFramePr>
          <p:nvPr>
            <p:extLst>
              <p:ext uri="{D42A27DB-BD31-4B8C-83A1-F6EECF244321}">
                <p14:modId xmlns:p14="http://schemas.microsoft.com/office/powerpoint/2010/main" val="225957644"/>
              </p:ext>
            </p:extLst>
          </p:nvPr>
        </p:nvGraphicFramePr>
        <p:xfrm>
          <a:off x="578544" y="5877058"/>
          <a:ext cx="5268595" cy="245110"/>
        </p:xfrm>
        <a:graphic>
          <a:graphicData uri="http://schemas.openxmlformats.org/drawingml/2006/table">
            <a:tbl>
              <a:tblPr rtl="1" firstRow="1" firstCol="1" bandRow="1">
                <a:tableStyleId>{073A0DAA-6AF3-43AB-8588-CEC1D06C72B9}</a:tableStyleId>
              </a:tblPr>
              <a:tblGrid>
                <a:gridCol w="5268595">
                  <a:extLst>
                    <a:ext uri="{9D8B030D-6E8A-4147-A177-3AD203B41FA5}">
                      <a16:colId xmlns:a16="http://schemas.microsoft.com/office/drawing/2014/main" val="20000"/>
                    </a:ext>
                  </a:extLst>
                </a:gridCol>
              </a:tblGrid>
              <a:tr h="245110">
                <a:tc>
                  <a:txBody>
                    <a:bodyPr/>
                    <a:lstStyle/>
                    <a:p>
                      <a:pPr marL="0" marR="0" algn="l" rtl="1">
                        <a:spcBef>
                          <a:spcPts val="0"/>
                        </a:spcBef>
                        <a:spcAft>
                          <a:spcPts val="0"/>
                        </a:spcAft>
                        <a:tabLst>
                          <a:tab pos="1222375" algn="l"/>
                          <a:tab pos="5131435" algn="r"/>
                        </a:tabLst>
                      </a:pPr>
                      <a:r>
                        <a:rPr lang="en-US" sz="1100" dirty="0">
                          <a:solidFill>
                            <a:schemeClr val="tx1"/>
                          </a:solidFill>
                          <a:effectLst/>
                        </a:rPr>
                        <a:t>	R1(</a:t>
                      </a:r>
                      <a:r>
                        <a:rPr lang="en-US" sz="1100" dirty="0" err="1">
                          <a:solidFill>
                            <a:schemeClr val="tx1"/>
                          </a:solidFill>
                          <a:effectLst/>
                        </a:rPr>
                        <a:t>config</a:t>
                      </a:r>
                      <a:r>
                        <a:rPr lang="en-US" sz="1100" dirty="0">
                          <a:solidFill>
                            <a:schemeClr val="tx1"/>
                          </a:solidFill>
                          <a:effectLst/>
                        </a:rPr>
                        <a:t>)#</a:t>
                      </a:r>
                      <a:r>
                        <a:rPr lang="en-US" sz="1100" dirty="0" err="1">
                          <a:solidFill>
                            <a:srgbClr val="FF0000"/>
                          </a:solidFill>
                          <a:effectLst/>
                        </a:rPr>
                        <a:t>ip</a:t>
                      </a:r>
                      <a:r>
                        <a:rPr lang="en-US" sz="1100" dirty="0">
                          <a:solidFill>
                            <a:srgbClr val="FF0000"/>
                          </a:solidFill>
                          <a:effectLst/>
                        </a:rPr>
                        <a:t> </a:t>
                      </a:r>
                      <a:r>
                        <a:rPr lang="en-US" sz="1100" dirty="0" err="1">
                          <a:solidFill>
                            <a:srgbClr val="FF0000"/>
                          </a:solidFill>
                          <a:effectLst/>
                        </a:rPr>
                        <a:t>dhcp</a:t>
                      </a:r>
                      <a:r>
                        <a:rPr lang="en-US" sz="1100" dirty="0">
                          <a:solidFill>
                            <a:srgbClr val="FF0000"/>
                          </a:solidFill>
                          <a:effectLst/>
                        </a:rPr>
                        <a:t> excluded-address 192.168.1.1 192.168.1.4</a:t>
                      </a:r>
                      <a:endParaRPr lang="en-US" sz="12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4267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10116457" y="-101600"/>
            <a:ext cx="2075543"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itle 1"/>
          <p:cNvSpPr>
            <a:spLocks noGrp="1"/>
          </p:cNvSpPr>
          <p:nvPr>
            <p:ph type="title"/>
          </p:nvPr>
        </p:nvSpPr>
        <p:spPr>
          <a:xfrm>
            <a:off x="5925120" y="934574"/>
            <a:ext cx="6147851" cy="3040267"/>
          </a:xfrm>
        </p:spPr>
        <p:txBody>
          <a:bodyPr>
            <a:normAutofit/>
          </a:bodyPr>
          <a:lstStyle/>
          <a:p>
            <a:r>
              <a:rPr lang="ar-SA" sz="1800" b="1" dirty="0"/>
              <a:t>الخطوة 2. تحديد اسم تجمع </a:t>
            </a:r>
            <a:r>
              <a:rPr lang="en-US" sz="1800" b="1" dirty="0"/>
              <a:t>DHCPv4</a:t>
            </a:r>
            <a:br>
              <a:rPr lang="en-US" sz="1800" dirty="0"/>
            </a:br>
            <a:r>
              <a:rPr lang="ar-SA" sz="1800" dirty="0"/>
              <a:t> </a:t>
            </a:r>
            <a:br>
              <a:rPr lang="en-US" sz="1800" dirty="0"/>
            </a:br>
            <a:r>
              <a:rPr lang="ar-SA" sz="1800" dirty="0"/>
              <a:t>يتضمن تكوين خادم </a:t>
            </a:r>
            <a:r>
              <a:rPr lang="en-US" sz="1800" dirty="0"/>
              <a:t>DHCPv4 </a:t>
            </a:r>
            <a:r>
              <a:rPr lang="ar-SA" sz="1800" dirty="0"/>
              <a:t> تحديد مجموعة من العناوين لتعيينها.</a:t>
            </a:r>
            <a:br>
              <a:rPr lang="en-US" sz="1800" dirty="0"/>
            </a:br>
            <a:r>
              <a:rPr lang="ar-SA" sz="1800" dirty="0"/>
              <a:t> </a:t>
            </a:r>
            <a:br>
              <a:rPr lang="en-US" sz="1800" dirty="0"/>
            </a:br>
            <a:r>
              <a:rPr lang="ar-SA" sz="1800" dirty="0"/>
              <a:t>يقوم الأمر </a:t>
            </a:r>
            <a:r>
              <a:rPr lang="en-US" sz="1800" dirty="0" err="1"/>
              <a:t>ip</a:t>
            </a:r>
            <a:r>
              <a:rPr lang="en-US" sz="1800" dirty="0"/>
              <a:t> </a:t>
            </a:r>
            <a:r>
              <a:rPr lang="en-US" sz="1800" dirty="0" err="1"/>
              <a:t>dhcp</a:t>
            </a:r>
            <a:r>
              <a:rPr lang="en-US" sz="1800" dirty="0"/>
              <a:t> pool pool-name </a:t>
            </a:r>
            <a:r>
              <a:rPr lang="ar-SA" sz="1800" dirty="0"/>
              <a:t> بإنشاء تجمع بالاسم المحدد ويضع جهاز التوجيه في وضع تكوين </a:t>
            </a:r>
            <a:r>
              <a:rPr lang="en-US" sz="1800" dirty="0"/>
              <a:t>DHCPv4 </a:t>
            </a:r>
            <a:r>
              <a:rPr lang="ar-SA" sz="1800" dirty="0"/>
              <a:t>، والذي يتم تحديده بواسطة موجه الموجه (</a:t>
            </a:r>
            <a:r>
              <a:rPr lang="en-US" sz="1800" dirty="0" err="1"/>
              <a:t>dhcp-config</a:t>
            </a:r>
            <a:r>
              <a:rPr lang="ar-SA" sz="1800" dirty="0"/>
              <a:t>) #.</a:t>
            </a:r>
            <a:br>
              <a:rPr lang="en-US" sz="1800" dirty="0"/>
            </a:br>
            <a:r>
              <a:rPr lang="ar-SA" sz="1800" dirty="0"/>
              <a:t> </a:t>
            </a:r>
            <a:br>
              <a:rPr lang="en-US" sz="1800" dirty="0"/>
            </a:br>
            <a:r>
              <a:rPr lang="ar-SA" sz="1800" dirty="0"/>
              <a:t>بناء جملة الأمر لتعريف التجمع هو كما يلي:</a:t>
            </a:r>
            <a:br>
              <a:rPr lang="en-US" sz="1800" dirty="0"/>
            </a:br>
            <a:endParaRPr lang="en-US" sz="1800" dirty="0"/>
          </a:p>
        </p:txBody>
      </p:sp>
      <p:sp>
        <p:nvSpPr>
          <p:cNvPr id="4" name="Text Placeholder 3"/>
          <p:cNvSpPr>
            <a:spLocks noGrp="1"/>
          </p:cNvSpPr>
          <p:nvPr>
            <p:ph type="body" idx="1"/>
          </p:nvPr>
        </p:nvSpPr>
        <p:spPr>
          <a:xfrm>
            <a:off x="-35754" y="934574"/>
            <a:ext cx="5086558" cy="1248698"/>
          </a:xfrm>
        </p:spPr>
        <p:txBody>
          <a:bodyPr>
            <a:noAutofit/>
          </a:bodyPr>
          <a:lstStyle/>
          <a:p>
            <a:r>
              <a:rPr lang="ar-SA" sz="1800" b="1" dirty="0">
                <a:solidFill>
                  <a:schemeClr val="tx1"/>
                </a:solidFill>
              </a:rPr>
              <a:t>الخطوة الثالثة. تكوين تجمع </a:t>
            </a:r>
            <a:r>
              <a:rPr lang="en-US" sz="1800" b="1" dirty="0">
                <a:solidFill>
                  <a:schemeClr val="tx1"/>
                </a:solidFill>
              </a:rPr>
              <a:t>DHCPv4</a:t>
            </a:r>
          </a:p>
          <a:p>
            <a:r>
              <a:rPr lang="ar-SA" sz="1800" dirty="0">
                <a:solidFill>
                  <a:schemeClr val="tx1"/>
                </a:solidFill>
              </a:rPr>
              <a:t> </a:t>
            </a:r>
            <a:endParaRPr lang="en-US" sz="1800" dirty="0">
              <a:solidFill>
                <a:schemeClr val="tx1"/>
              </a:solidFill>
            </a:endParaRPr>
          </a:p>
          <a:p>
            <a:r>
              <a:rPr lang="ar-SA" sz="1800" dirty="0">
                <a:solidFill>
                  <a:schemeClr val="tx1"/>
                </a:solidFill>
              </a:rPr>
              <a:t>يسرد الجدول المهام لإكمال تكوين تجمع </a:t>
            </a:r>
            <a:r>
              <a:rPr lang="en-US" sz="1800" dirty="0">
                <a:solidFill>
                  <a:schemeClr val="tx1"/>
                </a:solidFill>
              </a:rPr>
              <a:t>DHCPv4</a:t>
            </a:r>
            <a:r>
              <a:rPr lang="ar-SA" sz="1800" dirty="0">
                <a:solidFill>
                  <a:schemeClr val="tx1"/>
                </a:solidFill>
              </a:rPr>
              <a:t>.</a:t>
            </a:r>
            <a:endParaRPr lang="en-US" sz="1800" dirty="0">
              <a:solidFill>
                <a:schemeClr val="tx1"/>
              </a:solidFill>
            </a:endParaRPr>
          </a:p>
          <a:p>
            <a:r>
              <a:rPr lang="ar-SA" sz="1800" dirty="0">
                <a:solidFill>
                  <a:schemeClr val="tx1"/>
                </a:solidFill>
              </a:rPr>
              <a:t> </a:t>
            </a:r>
            <a:endParaRPr lang="en-US" sz="1800" dirty="0">
              <a:solidFill>
                <a:schemeClr val="tx1"/>
              </a:solidFill>
            </a:endParaRPr>
          </a:p>
          <a:p>
            <a:r>
              <a:rPr lang="ar-SA" sz="1800" dirty="0">
                <a:solidFill>
                  <a:schemeClr val="tx1"/>
                </a:solidFill>
              </a:rPr>
              <a:t>يجب تكوين تجمع العناوين وجهاز توجيه العبّارة الافتراضية. استخدم بيان الشبكة لتحديد نطاق العناوين المتاحة. استخدم الأمر       </a:t>
            </a:r>
            <a:r>
              <a:rPr lang="en-US" sz="1800" dirty="0">
                <a:solidFill>
                  <a:schemeClr val="tx1"/>
                </a:solidFill>
              </a:rPr>
              <a:t>default-router </a:t>
            </a:r>
            <a:r>
              <a:rPr lang="ar-SA" sz="1800" dirty="0">
                <a:solidFill>
                  <a:schemeClr val="tx1"/>
                </a:solidFill>
              </a:rPr>
              <a:t>لتحديد موجه </a:t>
            </a:r>
            <a:r>
              <a:rPr lang="en-US" sz="1800" dirty="0">
                <a:solidFill>
                  <a:schemeClr val="tx1"/>
                </a:solidFill>
              </a:rPr>
              <a:t>gateway </a:t>
            </a:r>
            <a:r>
              <a:rPr lang="ar-SA" sz="1800" dirty="0">
                <a:solidFill>
                  <a:schemeClr val="tx1"/>
                </a:solidFill>
              </a:rPr>
              <a:t> الافتراضي. عادةً ما تكون البوابة هي واجهة </a:t>
            </a:r>
            <a:r>
              <a:rPr lang="en-US" sz="1800" dirty="0">
                <a:solidFill>
                  <a:schemeClr val="tx1"/>
                </a:solidFill>
              </a:rPr>
              <a:t>LAN </a:t>
            </a:r>
            <a:r>
              <a:rPr lang="ar-SA" sz="1800" dirty="0">
                <a:solidFill>
                  <a:schemeClr val="tx1"/>
                </a:solidFill>
              </a:rPr>
              <a:t> الخاصة بالموجه الأقرب إلى أجهزة العميل. يلزم وجود بوابة واحدة ، ولكن يمكنك سرد ما يصل إلى ثمانية عناوين إذا كانت هناك عدة بوابات.</a:t>
            </a:r>
            <a:endParaRPr lang="en-US" sz="1800" dirty="0">
              <a:solidFill>
                <a:schemeClr val="tx1"/>
              </a:solidFill>
            </a:endParaRPr>
          </a:p>
          <a:p>
            <a:endParaRPr lang="en-US" sz="1800" dirty="0">
              <a:solidFill>
                <a:schemeClr val="tx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9269327"/>
              </p:ext>
            </p:extLst>
          </p:nvPr>
        </p:nvGraphicFramePr>
        <p:xfrm>
          <a:off x="6794204" y="4980509"/>
          <a:ext cx="5278767" cy="245110"/>
        </p:xfrm>
        <a:graphic>
          <a:graphicData uri="http://schemas.openxmlformats.org/drawingml/2006/table">
            <a:tbl>
              <a:tblPr rtl="1" firstRow="1" firstCol="1" bandRow="1">
                <a:tableStyleId>{5C22544A-7EE6-4342-B048-85BDC9FD1C3A}</a:tableStyleId>
              </a:tblPr>
              <a:tblGrid>
                <a:gridCol w="5278767">
                  <a:extLst>
                    <a:ext uri="{9D8B030D-6E8A-4147-A177-3AD203B41FA5}">
                      <a16:colId xmlns:a16="http://schemas.microsoft.com/office/drawing/2014/main" val="20000"/>
                    </a:ext>
                  </a:extLst>
                </a:gridCol>
              </a:tblGrid>
              <a:tr h="245110">
                <a:tc>
                  <a:txBody>
                    <a:bodyPr/>
                    <a:lstStyle/>
                    <a:p>
                      <a:pPr marL="0" marR="0" algn="l" rtl="0">
                        <a:spcBef>
                          <a:spcPts val="0"/>
                        </a:spcBef>
                        <a:spcAft>
                          <a:spcPts val="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err="1">
                          <a:solidFill>
                            <a:srgbClr val="FF0000"/>
                          </a:solidFill>
                          <a:effectLst/>
                        </a:rPr>
                        <a:t>ip</a:t>
                      </a:r>
                      <a:r>
                        <a:rPr lang="en-US" sz="1100" dirty="0">
                          <a:solidFill>
                            <a:srgbClr val="FF0000"/>
                          </a:solidFill>
                          <a:effectLst/>
                        </a:rPr>
                        <a:t> </a:t>
                      </a:r>
                      <a:r>
                        <a:rPr lang="en-US" sz="1100" dirty="0" err="1">
                          <a:solidFill>
                            <a:srgbClr val="FF0000"/>
                          </a:solidFill>
                          <a:effectLst/>
                        </a:rPr>
                        <a:t>dhcp</a:t>
                      </a:r>
                      <a:r>
                        <a:rPr lang="en-US" sz="1100" dirty="0">
                          <a:solidFill>
                            <a:srgbClr val="FF0000"/>
                          </a:solidFill>
                          <a:effectLst/>
                        </a:rPr>
                        <a:t> pool lan1</a:t>
                      </a:r>
                      <a:endParaRPr lang="en-US" sz="12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707074754"/>
              </p:ext>
            </p:extLst>
          </p:nvPr>
        </p:nvGraphicFramePr>
        <p:xfrm>
          <a:off x="140586" y="4536230"/>
          <a:ext cx="5268595" cy="335280"/>
        </p:xfrm>
        <a:graphic>
          <a:graphicData uri="http://schemas.openxmlformats.org/drawingml/2006/table">
            <a:tbl>
              <a:tblPr rtl="1" firstRow="1" firstCol="1" bandRow="1">
                <a:tableStyleId>{5C22544A-7EE6-4342-B048-85BDC9FD1C3A}</a:tableStyleId>
              </a:tblPr>
              <a:tblGrid>
                <a:gridCol w="5268595">
                  <a:extLst>
                    <a:ext uri="{9D8B030D-6E8A-4147-A177-3AD203B41FA5}">
                      <a16:colId xmlns:a16="http://schemas.microsoft.com/office/drawing/2014/main" val="20000"/>
                    </a:ext>
                  </a:extLst>
                </a:gridCol>
              </a:tblGrid>
              <a:tr h="245110">
                <a:tc>
                  <a:txBody>
                    <a:bodyPr/>
                    <a:lstStyle/>
                    <a:p>
                      <a:pPr marL="0" marR="0" algn="l" rtl="0">
                        <a:spcBef>
                          <a:spcPts val="0"/>
                        </a:spcBef>
                        <a:spcAft>
                          <a:spcPts val="0"/>
                        </a:spcAft>
                      </a:pPr>
                      <a:r>
                        <a:rPr lang="en-US" sz="1100" dirty="0">
                          <a:solidFill>
                            <a:schemeClr val="tx1"/>
                          </a:solidFill>
                          <a:effectLst/>
                        </a:rPr>
                        <a:t>R1(</a:t>
                      </a:r>
                      <a:r>
                        <a:rPr lang="en-US" sz="1100" dirty="0" err="1">
                          <a:solidFill>
                            <a:schemeClr val="tx1"/>
                          </a:solidFill>
                          <a:effectLst/>
                        </a:rPr>
                        <a:t>dhcp-config</a:t>
                      </a:r>
                      <a:r>
                        <a:rPr lang="en-US" sz="1100" dirty="0">
                          <a:solidFill>
                            <a:schemeClr val="tx1"/>
                          </a:solidFill>
                          <a:effectLst/>
                        </a:rPr>
                        <a:t>)#</a:t>
                      </a:r>
                      <a:r>
                        <a:rPr lang="en-US" sz="1100" dirty="0">
                          <a:solidFill>
                            <a:srgbClr val="FF0000"/>
                          </a:solidFill>
                          <a:effectLst/>
                        </a:rPr>
                        <a:t>network 192.168.1.0 255.255.255.0</a:t>
                      </a:r>
                      <a:endParaRPr lang="en-US" sz="1200" dirty="0">
                        <a:solidFill>
                          <a:srgbClr val="FF0000"/>
                        </a:solidFill>
                        <a:effectLst/>
                      </a:endParaRPr>
                    </a:p>
                    <a:p>
                      <a:pPr marL="0" marR="0" algn="l" rtl="1">
                        <a:spcBef>
                          <a:spcPts val="0"/>
                        </a:spcBef>
                        <a:spcAft>
                          <a:spcPts val="0"/>
                        </a:spcAft>
                      </a:pPr>
                      <a:r>
                        <a:rPr lang="en-US" sz="1100" dirty="0">
                          <a:solidFill>
                            <a:schemeClr val="tx1"/>
                          </a:solidFill>
                          <a:effectLst/>
                        </a:rPr>
                        <a:t>R1(</a:t>
                      </a:r>
                      <a:r>
                        <a:rPr lang="en-US" sz="1100" dirty="0" err="1">
                          <a:solidFill>
                            <a:schemeClr val="tx1"/>
                          </a:solidFill>
                          <a:effectLst/>
                        </a:rPr>
                        <a:t>dhcp-config</a:t>
                      </a:r>
                      <a:r>
                        <a:rPr lang="en-US" sz="1100" dirty="0">
                          <a:solidFill>
                            <a:schemeClr val="tx1"/>
                          </a:solidFill>
                          <a:effectLst/>
                        </a:rPr>
                        <a:t>)#</a:t>
                      </a:r>
                      <a:r>
                        <a:rPr lang="en-US" sz="1100" dirty="0">
                          <a:solidFill>
                            <a:srgbClr val="FF0000"/>
                          </a:solidFill>
                          <a:effectLst/>
                        </a:rPr>
                        <a:t>default-router 192.168.1.1</a:t>
                      </a:r>
                      <a:endParaRPr lang="en-US" sz="12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8" name="Rectangle 7"/>
          <p:cNvSpPr/>
          <p:nvPr/>
        </p:nvSpPr>
        <p:spPr>
          <a:xfrm>
            <a:off x="4396124" y="5362383"/>
            <a:ext cx="936474" cy="369332"/>
          </a:xfrm>
          <a:prstGeom prst="rect">
            <a:avLst/>
          </a:prstGeom>
        </p:spPr>
        <p:txBody>
          <a:bodyPr wrap="none">
            <a:spAutoFit/>
          </a:bodyPr>
          <a:lstStyle/>
          <a:p>
            <a:pPr algn="just"/>
            <a:r>
              <a:rPr lang="ar-SA" dirty="0">
                <a:latin typeface="Calibri" panose="020F0502020204030204" pitchFamily="34" charset="0"/>
                <a:ea typeface="Times New Roman" panose="02020603050405020304" pitchFamily="18" charset="0"/>
                <a:cs typeface="Times New Roman" panose="02020603050405020304" pitchFamily="18" charset="0"/>
              </a:rPr>
              <a:t>تكوين </a:t>
            </a:r>
            <a:r>
              <a:rPr lang="en-US" dirty="0">
                <a:latin typeface="Times New Roman" panose="02020603050405020304" pitchFamily="18" charset="0"/>
                <a:ea typeface="Times New Roman" panose="02020603050405020304" pitchFamily="18" charset="0"/>
                <a:cs typeface="Times New Roman" panose="02020603050405020304" pitchFamily="18" charset="0"/>
              </a:rPr>
              <a:t>R2</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64579191"/>
              </p:ext>
            </p:extLst>
          </p:nvPr>
        </p:nvGraphicFramePr>
        <p:xfrm>
          <a:off x="157309" y="6029673"/>
          <a:ext cx="5268595" cy="670560"/>
        </p:xfrm>
        <a:graphic>
          <a:graphicData uri="http://schemas.openxmlformats.org/drawingml/2006/table">
            <a:tbl>
              <a:tblPr rtl="1" firstRow="1" firstCol="1" bandRow="1">
                <a:tableStyleId>{5C22544A-7EE6-4342-B048-85BDC9FD1C3A}</a:tableStyleId>
              </a:tblPr>
              <a:tblGrid>
                <a:gridCol w="5268595">
                  <a:extLst>
                    <a:ext uri="{9D8B030D-6E8A-4147-A177-3AD203B41FA5}">
                      <a16:colId xmlns:a16="http://schemas.microsoft.com/office/drawing/2014/main" val="20000"/>
                    </a:ext>
                  </a:extLst>
                </a:gridCol>
              </a:tblGrid>
              <a:tr h="245110">
                <a:tc>
                  <a:txBody>
                    <a:bodyPr/>
                    <a:lstStyle/>
                    <a:p>
                      <a:pPr marL="0" marR="0" algn="l" rtl="1">
                        <a:spcBef>
                          <a:spcPts val="0"/>
                        </a:spcBef>
                        <a:spcAft>
                          <a:spcPts val="0"/>
                        </a:spcAft>
                      </a:pPr>
                      <a:r>
                        <a:rPr lang="en-US" sz="1100" dirty="0">
                          <a:solidFill>
                            <a:schemeClr val="tx1"/>
                          </a:solidFill>
                          <a:effectLst/>
                        </a:rPr>
                        <a:t>R2(</a:t>
                      </a:r>
                      <a:r>
                        <a:rPr lang="en-US" sz="1100" dirty="0" err="1">
                          <a:solidFill>
                            <a:schemeClr val="tx1"/>
                          </a:solidFill>
                          <a:effectLst/>
                        </a:rPr>
                        <a:t>config</a:t>
                      </a:r>
                      <a:r>
                        <a:rPr lang="en-US" sz="1100" dirty="0">
                          <a:solidFill>
                            <a:schemeClr val="tx1"/>
                          </a:solidFill>
                          <a:effectLst/>
                        </a:rPr>
                        <a:t>)#</a:t>
                      </a:r>
                      <a:r>
                        <a:rPr lang="en-US" sz="1100" dirty="0" err="1">
                          <a:solidFill>
                            <a:srgbClr val="FF0000"/>
                          </a:solidFill>
                          <a:effectLst/>
                        </a:rPr>
                        <a:t>ip</a:t>
                      </a:r>
                      <a:r>
                        <a:rPr lang="en-US" sz="1100" dirty="0">
                          <a:solidFill>
                            <a:srgbClr val="FF0000"/>
                          </a:solidFill>
                          <a:effectLst/>
                        </a:rPr>
                        <a:t> </a:t>
                      </a:r>
                      <a:r>
                        <a:rPr lang="en-US" sz="1100" dirty="0" err="1">
                          <a:solidFill>
                            <a:srgbClr val="FF0000"/>
                          </a:solidFill>
                          <a:effectLst/>
                        </a:rPr>
                        <a:t>dhcp</a:t>
                      </a:r>
                      <a:r>
                        <a:rPr lang="en-US" sz="1100" dirty="0">
                          <a:solidFill>
                            <a:srgbClr val="FF0000"/>
                          </a:solidFill>
                          <a:effectLst/>
                        </a:rPr>
                        <a:t> excluded-address 192.168.2.1 192.168.2.4</a:t>
                      </a:r>
                      <a:endParaRPr lang="en-US" sz="1200" dirty="0">
                        <a:solidFill>
                          <a:srgbClr val="FF0000"/>
                        </a:solidFill>
                        <a:effectLst/>
                      </a:endParaRPr>
                    </a:p>
                    <a:p>
                      <a:pPr marL="0" marR="0" algn="l" rtl="0">
                        <a:spcBef>
                          <a:spcPts val="0"/>
                        </a:spcBef>
                        <a:spcAft>
                          <a:spcPts val="0"/>
                        </a:spcAft>
                      </a:pPr>
                      <a:r>
                        <a:rPr lang="en-US" sz="1100" dirty="0">
                          <a:solidFill>
                            <a:schemeClr val="tx1"/>
                          </a:solidFill>
                          <a:effectLst/>
                        </a:rPr>
                        <a:t>R2(</a:t>
                      </a:r>
                      <a:r>
                        <a:rPr lang="en-US" sz="1100" dirty="0" err="1">
                          <a:solidFill>
                            <a:schemeClr val="tx1"/>
                          </a:solidFill>
                          <a:effectLst/>
                        </a:rPr>
                        <a:t>config</a:t>
                      </a:r>
                      <a:r>
                        <a:rPr lang="en-US" sz="1100" dirty="0">
                          <a:solidFill>
                            <a:schemeClr val="tx1"/>
                          </a:solidFill>
                          <a:effectLst/>
                        </a:rPr>
                        <a:t>)#</a:t>
                      </a:r>
                      <a:r>
                        <a:rPr lang="en-US" sz="1100" dirty="0" err="1">
                          <a:solidFill>
                            <a:srgbClr val="FF0000"/>
                          </a:solidFill>
                          <a:effectLst/>
                        </a:rPr>
                        <a:t>ip</a:t>
                      </a:r>
                      <a:r>
                        <a:rPr lang="en-US" sz="1100" dirty="0">
                          <a:solidFill>
                            <a:srgbClr val="FF0000"/>
                          </a:solidFill>
                          <a:effectLst/>
                        </a:rPr>
                        <a:t> </a:t>
                      </a:r>
                      <a:r>
                        <a:rPr lang="en-US" sz="1100" dirty="0" err="1">
                          <a:solidFill>
                            <a:srgbClr val="FF0000"/>
                          </a:solidFill>
                          <a:effectLst/>
                        </a:rPr>
                        <a:t>dhcp</a:t>
                      </a:r>
                      <a:r>
                        <a:rPr lang="en-US" sz="1100" dirty="0">
                          <a:solidFill>
                            <a:srgbClr val="FF0000"/>
                          </a:solidFill>
                          <a:effectLst/>
                        </a:rPr>
                        <a:t> pool lan2</a:t>
                      </a:r>
                      <a:endParaRPr lang="en-US" sz="1200" dirty="0">
                        <a:solidFill>
                          <a:srgbClr val="FF0000"/>
                        </a:solidFill>
                        <a:effectLst/>
                      </a:endParaRPr>
                    </a:p>
                    <a:p>
                      <a:pPr marL="0" marR="0" algn="l" rtl="0">
                        <a:spcBef>
                          <a:spcPts val="0"/>
                        </a:spcBef>
                        <a:spcAft>
                          <a:spcPts val="0"/>
                        </a:spcAft>
                      </a:pPr>
                      <a:r>
                        <a:rPr lang="en-US" sz="1100" dirty="0">
                          <a:solidFill>
                            <a:schemeClr val="tx1"/>
                          </a:solidFill>
                          <a:effectLst/>
                        </a:rPr>
                        <a:t>R2(</a:t>
                      </a:r>
                      <a:r>
                        <a:rPr lang="en-US" sz="1100" dirty="0" err="1">
                          <a:solidFill>
                            <a:schemeClr val="tx1"/>
                          </a:solidFill>
                          <a:effectLst/>
                        </a:rPr>
                        <a:t>dhcp-config</a:t>
                      </a:r>
                      <a:r>
                        <a:rPr lang="en-US" sz="1100" dirty="0">
                          <a:solidFill>
                            <a:schemeClr val="tx1"/>
                          </a:solidFill>
                          <a:effectLst/>
                        </a:rPr>
                        <a:t>)#</a:t>
                      </a:r>
                      <a:r>
                        <a:rPr lang="en-US" sz="1100" dirty="0">
                          <a:solidFill>
                            <a:srgbClr val="FF0000"/>
                          </a:solidFill>
                          <a:effectLst/>
                        </a:rPr>
                        <a:t>network 192.168.2.0 255.255.255.0</a:t>
                      </a:r>
                      <a:endParaRPr lang="en-US" sz="1200" dirty="0">
                        <a:solidFill>
                          <a:srgbClr val="FF0000"/>
                        </a:solidFill>
                        <a:effectLst/>
                      </a:endParaRPr>
                    </a:p>
                    <a:p>
                      <a:pPr marL="0" marR="0" algn="l" rtl="1">
                        <a:spcBef>
                          <a:spcPts val="0"/>
                        </a:spcBef>
                        <a:spcAft>
                          <a:spcPts val="0"/>
                        </a:spcAft>
                      </a:pPr>
                      <a:r>
                        <a:rPr lang="en-US" sz="1100" dirty="0">
                          <a:solidFill>
                            <a:schemeClr val="tx1"/>
                          </a:solidFill>
                          <a:effectLst/>
                        </a:rPr>
                        <a:t>R2(</a:t>
                      </a:r>
                      <a:r>
                        <a:rPr lang="en-US" sz="1100" dirty="0" err="1">
                          <a:solidFill>
                            <a:schemeClr val="tx1"/>
                          </a:solidFill>
                          <a:effectLst/>
                        </a:rPr>
                        <a:t>dhcp-config</a:t>
                      </a:r>
                      <a:r>
                        <a:rPr lang="en-US" sz="1100" dirty="0">
                          <a:solidFill>
                            <a:schemeClr val="tx1"/>
                          </a:solidFill>
                          <a:effectLst/>
                        </a:rPr>
                        <a:t>)#</a:t>
                      </a:r>
                      <a:r>
                        <a:rPr lang="en-US" sz="1100" dirty="0">
                          <a:solidFill>
                            <a:srgbClr val="FF0000"/>
                          </a:solidFill>
                          <a:effectLst/>
                        </a:rPr>
                        <a:t>default-router 192.168.2.1</a:t>
                      </a:r>
                      <a:endParaRPr lang="en-US" sz="12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326081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9927771" y="-101600"/>
            <a:ext cx="2264229" cy="1138773"/>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p:cNvSpPr/>
          <p:nvPr/>
        </p:nvSpPr>
        <p:spPr>
          <a:xfrm>
            <a:off x="0" y="575508"/>
            <a:ext cx="12191999" cy="5769272"/>
          </a:xfrm>
          <a:prstGeom prst="rect">
            <a:avLst/>
          </a:prstGeom>
        </p:spPr>
        <p:txBody>
          <a:bodyPr wrap="square">
            <a:spAutoFit/>
          </a:bodyPr>
          <a:lstStyle/>
          <a:p>
            <a:pPr algn="just"/>
            <a:endParaRPr lang="ar-SA" sz="2000" b="1"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2000" b="1" dirty="0">
                <a:latin typeface="Calibri" panose="020F0502020204030204" pitchFamily="34" charset="0"/>
                <a:ea typeface="Times New Roman" panose="02020603050405020304" pitchFamily="18" charset="0"/>
                <a:cs typeface="Times New Roman" panose="02020603050405020304" pitchFamily="18" charset="0"/>
              </a:rPr>
              <a:t>مقدمه</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solidFill>
                  <a:srgbClr val="202122"/>
                </a:solidFill>
                <a:latin typeface="Calibri" panose="020F0502020204030204" pitchFamily="34" charset="0"/>
                <a:ea typeface="Times New Roman" panose="02020603050405020304" pitchFamily="18" charset="0"/>
                <a:cs typeface="Times New Roman" panose="02020603050405020304" pitchFamily="18" charset="0"/>
              </a:rPr>
              <a:t>هي مجموعة من الإجراءات التي يمكن خلالها توفير الحماية القصوى للمعلومات والبيانات في الشبكات من كافة المخاطر التي تهددها، وذلك من خلال توفير الأدوات والوسائل اللازم توفيرها لحماية المعلومات من المخاطر الداخلية أو الخارجية</a:t>
            </a:r>
            <a:r>
              <a:rPr lang="en-US" dirty="0">
                <a:solidFill>
                  <a:srgbClr val="202122"/>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ar-SA" sz="2000" b="1" dirty="0">
                <a:latin typeface="Calibri" panose="020F0502020204030204" pitchFamily="34" charset="0"/>
                <a:ea typeface="Times New Roman" panose="02020603050405020304" pitchFamily="18" charset="0"/>
                <a:cs typeface="Times New Roman" panose="02020603050405020304" pitchFamily="18" charset="0"/>
              </a:rPr>
              <a:t>السياسات الأمنيه</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ts val="1920"/>
              </a:lnSpc>
            </a:pPr>
            <a:r>
              <a:rPr lang="ar-SA" dirty="0">
                <a:solidFill>
                  <a:srgbClr val="202122"/>
                </a:solidFill>
                <a:latin typeface="Times New Roman" panose="02020603050405020304" pitchFamily="18" charset="0"/>
                <a:ea typeface="Times New Roman" panose="02020603050405020304" pitchFamily="18" charset="0"/>
                <a:cs typeface="Times New Roman" panose="02020603050405020304" pitchFamily="18" charset="0"/>
              </a:rPr>
              <a:t>أمان إضافي لكلمة المرور</a:t>
            </a:r>
            <a:endParaRPr lang="en-US" dirty="0">
              <a:latin typeface="Times New Roman" panose="02020603050405020304" pitchFamily="18" charset="0"/>
              <a:ea typeface="Times New Roman" panose="02020603050405020304" pitchFamily="18" charset="0"/>
            </a:endParaRPr>
          </a:p>
          <a:p>
            <a:pPr algn="just">
              <a:lnSpc>
                <a:spcPts val="1920"/>
              </a:lnSpc>
            </a:pPr>
            <a:r>
              <a:rPr lang="ar-SA" dirty="0">
                <a:solidFill>
                  <a:srgbClr val="202122"/>
                </a:solidFill>
                <a:latin typeface="Times New Roman" panose="02020603050405020304" pitchFamily="18" charset="0"/>
                <a:ea typeface="Times New Roman" panose="02020603050405020304" pitchFamily="18" charset="0"/>
                <a:cs typeface="Times New Roman" panose="02020603050405020304" pitchFamily="18" charset="0"/>
              </a:rPr>
              <a:t>تكون كلمات المرور القوية مفيدة فقط إذا كانت سرية. هناك العديد من الخطوات التي يمكن اتخاذها للمساعدة في ضمان بقاء كلمات المرور سرية على جهاز توجيه</a:t>
            </a:r>
            <a:r>
              <a:rPr lang="en-US" dirty="0">
                <a:solidFill>
                  <a:srgbClr val="202122"/>
                </a:solidFill>
                <a:latin typeface="Times New Roman" panose="02020603050405020304" pitchFamily="18" charset="0"/>
                <a:ea typeface="Times New Roman" panose="02020603050405020304" pitchFamily="18" charset="0"/>
                <a:cs typeface="Times New Roman" panose="02020603050405020304" pitchFamily="18" charset="0"/>
              </a:rPr>
              <a:t> Cisco </a:t>
            </a:r>
            <a:r>
              <a:rPr lang="ar-SA" dirty="0">
                <a:solidFill>
                  <a:srgbClr val="202122"/>
                </a:solidFill>
                <a:latin typeface="Times New Roman" panose="02020603050405020304" pitchFamily="18" charset="0"/>
                <a:ea typeface="Times New Roman" panose="02020603050405020304" pitchFamily="18" charset="0"/>
                <a:cs typeface="Times New Roman" panose="02020603050405020304" pitchFamily="18" charset="0"/>
              </a:rPr>
              <a:t> والتبديل بما في ذلك ما يلي</a:t>
            </a:r>
            <a:r>
              <a:rPr lang="en-US" dirty="0">
                <a:solidFill>
                  <a:srgbClr val="202122"/>
                </a:solidFill>
                <a:latin typeface="Times New Roman" panose="02020603050405020304" pitchFamily="18" charset="0"/>
                <a:ea typeface="Times New Roman" panose="02020603050405020304" pitchFamily="18" charset="0"/>
                <a:cs typeface="Times New Roman" panose="02020603050405020304" pitchFamily="18" charset="0"/>
              </a:rPr>
              <a:t>:</a:t>
            </a:r>
            <a:endParaRPr lang="ar-SA" dirty="0">
              <a:solidFill>
                <a:srgbClr val="202122"/>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ts val="1920"/>
              </a:lnSpc>
            </a:pPr>
            <a:endParaRPr lang="en-US" dirty="0">
              <a:latin typeface="Times New Roman" panose="02020603050405020304" pitchFamily="18" charset="0"/>
              <a:ea typeface="Times New Roman" panose="02020603050405020304" pitchFamily="18" charset="0"/>
            </a:endParaRPr>
          </a:p>
          <a:p>
            <a:pPr marL="342900" lvl="0" indent="-342900">
              <a:lnSpc>
                <a:spcPts val="1920"/>
              </a:lnSpc>
              <a:buFont typeface="Symbol" panose="05050102010706020507" pitchFamily="18" charset="2"/>
              <a:buChar char=""/>
            </a:pPr>
            <a:r>
              <a:rPr lang="ar-SA" dirty="0">
                <a:latin typeface="Times New Roman" panose="02020603050405020304" pitchFamily="18" charset="0"/>
                <a:ea typeface="Times New Roman" panose="02020603050405020304" pitchFamily="18" charset="0"/>
                <a:cs typeface="Times New Roman" panose="02020603050405020304" pitchFamily="18" charset="0"/>
              </a:rPr>
              <a:t>تشفير جميع كلمات مرور النص العادي</a:t>
            </a:r>
            <a:endParaRPr lang="en-US" dirty="0">
              <a:latin typeface="Times New Roman" panose="02020603050405020304" pitchFamily="18" charset="0"/>
              <a:ea typeface="Times New Roman" panose="02020603050405020304" pitchFamily="18" charset="0"/>
            </a:endParaRPr>
          </a:p>
          <a:p>
            <a:pPr marL="342900" lvl="0" indent="-342900">
              <a:lnSpc>
                <a:spcPts val="1920"/>
              </a:lnSpc>
              <a:buFont typeface="Symbol" panose="05050102010706020507" pitchFamily="18" charset="2"/>
              <a:buChar char=""/>
            </a:pPr>
            <a:r>
              <a:rPr lang="ar-SA" dirty="0">
                <a:latin typeface="Times New Roman" panose="02020603050405020304" pitchFamily="18" charset="0"/>
                <a:ea typeface="Times New Roman" panose="02020603050405020304" pitchFamily="18" charset="0"/>
                <a:cs typeface="Times New Roman" panose="02020603050405020304" pitchFamily="18" charset="0"/>
              </a:rPr>
              <a:t>تعيين حد أدنى مقبول لطول كلمة المرور</a:t>
            </a:r>
            <a:endParaRPr lang="en-US" dirty="0">
              <a:latin typeface="Times New Roman" panose="02020603050405020304" pitchFamily="18" charset="0"/>
              <a:ea typeface="Times New Roman" panose="02020603050405020304" pitchFamily="18" charset="0"/>
            </a:endParaRPr>
          </a:p>
          <a:p>
            <a:pPr marL="342900" lvl="0" indent="-342900">
              <a:lnSpc>
                <a:spcPts val="1920"/>
              </a:lnSpc>
              <a:spcBef>
                <a:spcPts val="600"/>
              </a:spcBef>
              <a:spcAft>
                <a:spcPts val="600"/>
              </a:spcAft>
              <a:buFont typeface="Symbol" panose="05050102010706020507" pitchFamily="18" charset="2"/>
              <a:buChar char=""/>
            </a:pPr>
            <a:r>
              <a:rPr lang="ar-SA" dirty="0">
                <a:latin typeface="Times New Roman" panose="02020603050405020304" pitchFamily="18" charset="0"/>
                <a:ea typeface="Times New Roman" panose="02020603050405020304" pitchFamily="18" charset="0"/>
                <a:cs typeface="Times New Roman" panose="02020603050405020304" pitchFamily="18" charset="0"/>
              </a:rPr>
              <a:t>ردع هجمات التخمين باستخدام القوة الغاشمة</a:t>
            </a:r>
            <a:endParaRPr lang="en-US" dirty="0">
              <a:latin typeface="Times New Roman" panose="02020603050405020304" pitchFamily="18" charset="0"/>
              <a:ea typeface="Times New Roman" panose="02020603050405020304" pitchFamily="18" charset="0"/>
            </a:endParaRPr>
          </a:p>
          <a:p>
            <a:pPr marL="457200" algn="just"/>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يمنع أمر التكوين العام لتشفير كلمة مرور الخدمة الأفراد غير المصرح لهم من عرض كلمات مرور النص العادي في ملف التكوين. يقوم هذا الأمر بتشفير جميع كلمات مرور النص العادي.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457200" algn="just"/>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للتأكد من أن جميع كلمات المرور المكونة بحد أدنى من الطول المحدد ، استخدم أمر </a:t>
            </a:r>
            <a:r>
              <a:rPr lang="en-US" dirty="0">
                <a:latin typeface="Times New Roman" panose="02020603050405020304" pitchFamily="18" charset="0"/>
                <a:ea typeface="Times New Roman" panose="02020603050405020304" pitchFamily="18" charset="0"/>
                <a:cs typeface="Times New Roman" panose="02020603050405020304" pitchFamily="18" charset="0"/>
              </a:rPr>
              <a:t>min-length</a:t>
            </a:r>
            <a:r>
              <a:rPr lang="ar-SA" dirty="0">
                <a:latin typeface="Calibri" panose="020F0502020204030204" pitchFamily="34" charset="0"/>
                <a:ea typeface="Times New Roman" panose="02020603050405020304" pitchFamily="18" charset="0"/>
                <a:cs typeface="Times New Roman" panose="02020603050405020304" pitchFamily="18" charset="0"/>
              </a:rPr>
              <a:t> لكلمات مرور الأمان في وضع التكوين العام. في الشكل ، يجب ألا يقل طول أي كلمة مرور جديدة مكونة عن ثمانية أحرف.</a:t>
            </a:r>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6374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B7A4760-CA3B-420C-A83D-14CD97B4281C}"/>
              </a:ext>
            </a:extLst>
          </p:cNvPr>
          <p:cNvSpPr txBox="1"/>
          <p:nvPr/>
        </p:nvSpPr>
        <p:spPr>
          <a:xfrm>
            <a:off x="9955763" y="-101600"/>
            <a:ext cx="2236237" cy="861774"/>
          </a:xfrm>
          <a:prstGeom prst="rect">
            <a:avLst/>
          </a:prstGeom>
          <a:noFill/>
        </p:spPr>
        <p:txBody>
          <a:bodyPr wrap="square">
            <a:spAutoFit/>
          </a:bodyPr>
          <a:lstStyle/>
          <a:p>
            <a:pPr algn="r" rtl="1"/>
            <a:r>
              <a:rPr lang="ar-SA" sz="20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kern="1200"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b="1" dirty="0">
              <a:solidFill>
                <a:schemeClr val="accent1">
                  <a:lumMod val="50000"/>
                </a:schemeClr>
              </a:solidFill>
              <a:effectLst/>
              <a:latin typeface="Calibri" panose="020F0502020204030204" pitchFamily="34" charset="0"/>
              <a:ea typeface="Times New Roman" panose="02020603050405020304" pitchFamily="18" charset="0"/>
              <a:cs typeface="Times New Roman" panose="02020603050405020304" pitchFamily="18" charset="0"/>
            </a:endParaRPr>
          </a:p>
          <a:p>
            <a:pPr algn="r" rtl="1"/>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21A75CF-46E0-4EE6-9CAF-719AF26BE6EB}"/>
              </a:ext>
            </a:extLst>
          </p:cNvPr>
          <p:cNvSpPr>
            <a:spLocks noChangeArrowheads="1"/>
          </p:cNvSpPr>
          <p:nvPr/>
        </p:nvSpPr>
        <p:spPr bwMode="auto">
          <a:xfrm>
            <a:off x="5925120" y="6490900"/>
            <a:ext cx="341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algn="l" rtl="0"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p:cNvSpPr/>
          <p:nvPr/>
        </p:nvSpPr>
        <p:spPr>
          <a:xfrm>
            <a:off x="0" y="749585"/>
            <a:ext cx="12191999" cy="923330"/>
          </a:xfrm>
          <a:prstGeom prst="rect">
            <a:avLst/>
          </a:prstGeom>
        </p:spPr>
        <p:txBody>
          <a:bodyPr wrap="square">
            <a:spAutoFit/>
          </a:bodyPr>
          <a:lstStyle/>
          <a:p>
            <a:pPr algn="just"/>
            <a:r>
              <a:rPr lang="ar-SA" dirty="0">
                <a:latin typeface="Calibri" panose="020F0502020204030204" pitchFamily="34" charset="0"/>
                <a:ea typeface="Times New Roman" panose="02020603050405020304" pitchFamily="18" charset="0"/>
                <a:cs typeface="Times New Roman" panose="02020603050405020304" pitchFamily="18" charset="0"/>
              </a:rPr>
              <a:t>قد يستخدم القائمون بالتهديد برنامج تكسير كلمات المرور لشن هجوم عنيف على جهاز الشبكة. يحاول هذا الهجوم باستمرار تخمين كلمات المرور الصالحة حتى يعمل أحدها. استخدم حظر تسجيل الدخول لـ # محاولات # داخل أمر التكوين العام لردع هذا النوع من الهجوم. في الشكل على سبيل المثال ، حظر تسجيل الدخول لـ 120 محاولة 2 في 60 أمرًا سيمنع محاولات تسجيل الدخول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vty</a:t>
            </a:r>
            <a:r>
              <a:rPr lang="ar-SA" dirty="0">
                <a:latin typeface="Calibri" panose="020F0502020204030204" pitchFamily="34" charset="0"/>
                <a:ea typeface="Times New Roman" panose="02020603050405020304" pitchFamily="18" charset="0"/>
                <a:cs typeface="Times New Roman" panose="02020603050405020304" pitchFamily="18" charset="0"/>
              </a:rPr>
              <a:t> لمدة 120 ثانية إذا كانت هناك ثنين محاولات تسجيل دخول فاشلة خلال 60 ثانية.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266782830"/>
              </p:ext>
            </p:extLst>
          </p:nvPr>
        </p:nvGraphicFramePr>
        <p:xfrm>
          <a:off x="266061" y="1691011"/>
          <a:ext cx="8195733" cy="1249680"/>
        </p:xfrm>
        <a:graphic>
          <a:graphicData uri="http://schemas.openxmlformats.org/drawingml/2006/table">
            <a:tbl>
              <a:tblPr firstRow="1" firstCol="1" bandRow="1">
                <a:tableStyleId>{5C22544A-7EE6-4342-B048-85BDC9FD1C3A}</a:tableStyleId>
              </a:tblPr>
              <a:tblGrid>
                <a:gridCol w="8195733">
                  <a:extLst>
                    <a:ext uri="{9D8B030D-6E8A-4147-A177-3AD203B41FA5}">
                      <a16:colId xmlns:a16="http://schemas.microsoft.com/office/drawing/2014/main" val="20000"/>
                    </a:ext>
                  </a:extLst>
                </a:gridCol>
              </a:tblGrid>
              <a:tr h="0">
                <a:tc>
                  <a:txBody>
                    <a:bodyPr/>
                    <a:lstStyle/>
                    <a:p>
                      <a:pPr marL="0" marR="0" algn="just" rtl="0">
                        <a:spcBef>
                          <a:spcPts val="0"/>
                        </a:spcBef>
                        <a:spcAft>
                          <a:spcPts val="0"/>
                        </a:spcAft>
                      </a:pPr>
                      <a:r>
                        <a:rPr lang="en-US" sz="1200" dirty="0">
                          <a:solidFill>
                            <a:schemeClr val="tx1"/>
                          </a:solidFill>
                          <a:effectLst/>
                        </a:rPr>
                        <a:t>R1(</a:t>
                      </a:r>
                      <a:r>
                        <a:rPr lang="en-US" sz="1200" dirty="0" err="1">
                          <a:solidFill>
                            <a:schemeClr val="tx1"/>
                          </a:solidFill>
                          <a:effectLst/>
                        </a:rPr>
                        <a:t>config</a:t>
                      </a:r>
                      <a:r>
                        <a:rPr lang="en-US" sz="1200" dirty="0">
                          <a:solidFill>
                            <a:schemeClr val="tx1"/>
                          </a:solidFill>
                          <a:effectLst/>
                        </a:rPr>
                        <a:t>)#</a:t>
                      </a:r>
                      <a:r>
                        <a:rPr lang="en-US" sz="1200" dirty="0">
                          <a:solidFill>
                            <a:srgbClr val="FF0000"/>
                          </a:solidFill>
                          <a:effectLst/>
                        </a:rPr>
                        <a:t>service password-encryption</a:t>
                      </a:r>
                    </a:p>
                    <a:p>
                      <a:pPr marL="0" marR="0" algn="just" rtl="0">
                        <a:spcBef>
                          <a:spcPts val="0"/>
                        </a:spcBef>
                        <a:spcAft>
                          <a:spcPts val="0"/>
                        </a:spcAft>
                      </a:pPr>
                      <a:r>
                        <a:rPr lang="en-US" sz="1200" dirty="0">
                          <a:solidFill>
                            <a:schemeClr val="tx1"/>
                          </a:solidFill>
                          <a:effectLst/>
                        </a:rPr>
                        <a:t>R1(</a:t>
                      </a:r>
                      <a:r>
                        <a:rPr lang="en-US" sz="1200" dirty="0" err="1">
                          <a:solidFill>
                            <a:schemeClr val="tx1"/>
                          </a:solidFill>
                          <a:effectLst/>
                        </a:rPr>
                        <a:t>config</a:t>
                      </a:r>
                      <a:r>
                        <a:rPr lang="en-US" sz="1200" dirty="0">
                          <a:solidFill>
                            <a:schemeClr val="tx1"/>
                          </a:solidFill>
                          <a:effectLst/>
                        </a:rPr>
                        <a:t>)#</a:t>
                      </a:r>
                      <a:r>
                        <a:rPr lang="en-US" sz="1200" dirty="0">
                          <a:solidFill>
                            <a:srgbClr val="FF0000"/>
                          </a:solidFill>
                          <a:effectLst/>
                        </a:rPr>
                        <a:t>security passwords min-length 8</a:t>
                      </a:r>
                    </a:p>
                    <a:p>
                      <a:pPr marL="0" marR="0" algn="just" rtl="0">
                        <a:spcBef>
                          <a:spcPts val="0"/>
                        </a:spcBef>
                        <a:spcAft>
                          <a:spcPts val="0"/>
                        </a:spcAft>
                      </a:pPr>
                      <a:r>
                        <a:rPr lang="en-US" sz="1000" dirty="0">
                          <a:solidFill>
                            <a:schemeClr val="tx1"/>
                          </a:solidFill>
                          <a:effectLst/>
                        </a:rPr>
                        <a:t>R1(</a:t>
                      </a:r>
                      <a:r>
                        <a:rPr lang="en-US" sz="1000" dirty="0" err="1">
                          <a:solidFill>
                            <a:schemeClr val="tx1"/>
                          </a:solidFill>
                          <a:effectLst/>
                        </a:rPr>
                        <a:t>config</a:t>
                      </a:r>
                      <a:r>
                        <a:rPr lang="en-US" sz="1000" dirty="0">
                          <a:solidFill>
                            <a:schemeClr val="tx1"/>
                          </a:solidFill>
                          <a:effectLst/>
                        </a:rPr>
                        <a:t>)#</a:t>
                      </a:r>
                      <a:r>
                        <a:rPr lang="en-US" sz="1000" dirty="0">
                          <a:solidFill>
                            <a:srgbClr val="FF0000"/>
                          </a:solidFill>
                          <a:effectLst/>
                        </a:rPr>
                        <a:t>login block-for 120 attempts 2 within 120</a:t>
                      </a:r>
                      <a:endParaRPr lang="en-US" sz="1200" dirty="0">
                        <a:solidFill>
                          <a:srgbClr val="FF0000"/>
                        </a:solidFill>
                        <a:effectLst/>
                      </a:endParaRPr>
                    </a:p>
                    <a:p>
                      <a:pPr marL="0" marR="0" algn="just" rtl="0">
                        <a:spcBef>
                          <a:spcPts val="0"/>
                        </a:spcBef>
                        <a:spcAft>
                          <a:spcPts val="0"/>
                        </a:spcAft>
                      </a:pPr>
                      <a:r>
                        <a:rPr lang="en-US" sz="1200" dirty="0">
                          <a:solidFill>
                            <a:schemeClr val="tx1"/>
                          </a:solidFill>
                          <a:effectLst/>
                        </a:rPr>
                        <a:t>R1(</a:t>
                      </a:r>
                      <a:r>
                        <a:rPr lang="en-US" sz="1200" dirty="0" err="1">
                          <a:solidFill>
                            <a:schemeClr val="tx1"/>
                          </a:solidFill>
                          <a:effectLst/>
                        </a:rPr>
                        <a:t>config</a:t>
                      </a:r>
                      <a:r>
                        <a:rPr lang="en-US" sz="1200" dirty="0">
                          <a:solidFill>
                            <a:schemeClr val="tx1"/>
                          </a:solidFill>
                          <a:effectLst/>
                        </a:rPr>
                        <a:t>)#</a:t>
                      </a:r>
                      <a:r>
                        <a:rPr lang="en-US" sz="1200" dirty="0">
                          <a:solidFill>
                            <a:srgbClr val="FF0000"/>
                          </a:solidFill>
                          <a:effectLst/>
                        </a:rPr>
                        <a:t>line </a:t>
                      </a:r>
                      <a:r>
                        <a:rPr lang="en-US" sz="1200" dirty="0" err="1">
                          <a:solidFill>
                            <a:srgbClr val="FF0000"/>
                          </a:solidFill>
                          <a:effectLst/>
                        </a:rPr>
                        <a:t>vty</a:t>
                      </a:r>
                      <a:r>
                        <a:rPr lang="en-US" sz="1200" dirty="0">
                          <a:solidFill>
                            <a:srgbClr val="FF0000"/>
                          </a:solidFill>
                          <a:effectLst/>
                        </a:rPr>
                        <a:t> 0 4</a:t>
                      </a:r>
                    </a:p>
                    <a:p>
                      <a:pPr marL="0" marR="0" algn="just" rtl="0">
                        <a:spcBef>
                          <a:spcPts val="0"/>
                        </a:spcBef>
                        <a:spcAft>
                          <a:spcPts val="0"/>
                        </a:spcAft>
                      </a:pPr>
                      <a:r>
                        <a:rPr lang="en-US" sz="1200" dirty="0">
                          <a:solidFill>
                            <a:schemeClr val="tx1"/>
                          </a:solidFill>
                          <a:effectLst/>
                        </a:rPr>
                        <a:t>R1(</a:t>
                      </a:r>
                      <a:r>
                        <a:rPr lang="en-US" sz="1200" dirty="0" err="1">
                          <a:solidFill>
                            <a:schemeClr val="tx1"/>
                          </a:solidFill>
                          <a:effectLst/>
                        </a:rPr>
                        <a:t>config</a:t>
                      </a:r>
                      <a:r>
                        <a:rPr lang="en-US" sz="1200" dirty="0">
                          <a:solidFill>
                            <a:schemeClr val="tx1"/>
                          </a:solidFill>
                          <a:effectLst/>
                        </a:rPr>
                        <a:t>-line)#</a:t>
                      </a:r>
                      <a:r>
                        <a:rPr lang="en-US" sz="1200" dirty="0">
                          <a:solidFill>
                            <a:srgbClr val="FF0000"/>
                          </a:solidFill>
                          <a:effectLst/>
                        </a:rPr>
                        <a:t>password lab123</a:t>
                      </a:r>
                    </a:p>
                    <a:p>
                      <a:pPr marL="0" marR="0" algn="just" rtl="0">
                        <a:spcBef>
                          <a:spcPts val="0"/>
                        </a:spcBef>
                        <a:spcAft>
                          <a:spcPts val="0"/>
                        </a:spcAft>
                      </a:pPr>
                      <a:r>
                        <a:rPr lang="en-US" sz="1200" dirty="0">
                          <a:solidFill>
                            <a:schemeClr val="tx1"/>
                          </a:solidFill>
                          <a:effectLst/>
                        </a:rPr>
                        <a:t>R1(</a:t>
                      </a:r>
                      <a:r>
                        <a:rPr lang="en-US" sz="1200" dirty="0" err="1">
                          <a:solidFill>
                            <a:schemeClr val="tx1"/>
                          </a:solidFill>
                          <a:effectLst/>
                        </a:rPr>
                        <a:t>config</a:t>
                      </a:r>
                      <a:r>
                        <a:rPr lang="en-US" sz="1200" dirty="0">
                          <a:solidFill>
                            <a:schemeClr val="tx1"/>
                          </a:solidFill>
                          <a:effectLst/>
                        </a:rPr>
                        <a:t>-line)#</a:t>
                      </a:r>
                      <a:r>
                        <a:rPr lang="en-US" sz="1200" dirty="0">
                          <a:solidFill>
                            <a:srgbClr val="FF0000"/>
                          </a:solidFill>
                          <a:effectLst/>
                        </a:rPr>
                        <a:t>transport input </a:t>
                      </a:r>
                      <a:r>
                        <a:rPr lang="en-US" sz="1200" dirty="0" err="1">
                          <a:solidFill>
                            <a:srgbClr val="FF0000"/>
                          </a:solidFill>
                          <a:effectLst/>
                        </a:rPr>
                        <a:t>ssh</a:t>
                      </a:r>
                      <a:endParaRPr lang="en-US" sz="1200" dirty="0">
                        <a:solidFill>
                          <a:srgbClr val="FF0000"/>
                        </a:solidFill>
                        <a:effectLst/>
                      </a:endParaRPr>
                    </a:p>
                    <a:p>
                      <a:pPr marL="0" marR="0" algn="just" rtl="0">
                        <a:spcBef>
                          <a:spcPts val="0"/>
                        </a:spcBef>
                        <a:spcAft>
                          <a:spcPts val="0"/>
                        </a:spcAft>
                      </a:pPr>
                      <a:r>
                        <a:rPr lang="en-US" sz="1200" dirty="0">
                          <a:solidFill>
                            <a:schemeClr val="tx1"/>
                          </a:solidFill>
                          <a:effectLst/>
                        </a:rPr>
                        <a:t>R1(</a:t>
                      </a:r>
                      <a:r>
                        <a:rPr lang="en-US" sz="1200" dirty="0" err="1">
                          <a:solidFill>
                            <a:schemeClr val="tx1"/>
                          </a:solidFill>
                          <a:effectLst/>
                        </a:rPr>
                        <a:t>config</a:t>
                      </a:r>
                      <a:r>
                        <a:rPr lang="en-US" sz="1200" dirty="0">
                          <a:solidFill>
                            <a:schemeClr val="tx1"/>
                          </a:solidFill>
                          <a:effectLst/>
                        </a:rPr>
                        <a:t>-line)#</a:t>
                      </a:r>
                      <a:r>
                        <a:rPr lang="en-US" sz="1200" dirty="0">
                          <a:solidFill>
                            <a:srgbClr val="FF0000"/>
                          </a:solidFill>
                          <a:effectLst/>
                        </a:rPr>
                        <a:t>end</a:t>
                      </a:r>
                      <a:endParaRPr lang="en-US" sz="12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7" name="Rectangle 6"/>
          <p:cNvSpPr/>
          <p:nvPr/>
        </p:nvSpPr>
        <p:spPr>
          <a:xfrm>
            <a:off x="4731590" y="3389095"/>
            <a:ext cx="7460409" cy="800219"/>
          </a:xfrm>
          <a:prstGeom prst="rect">
            <a:avLst/>
          </a:prstGeom>
        </p:spPr>
        <p:txBody>
          <a:bodyPr wrap="square">
            <a:spAutoFit/>
          </a:bodyPr>
          <a:lstStyle/>
          <a:p>
            <a:pPr marL="457200" algn="just"/>
            <a:r>
              <a:rPr lang="ar-SA" sz="1600" dirty="0">
                <a:latin typeface="Calibri" panose="020F0502020204030204" pitchFamily="34" charset="0"/>
                <a:ea typeface="Times New Roman" panose="02020603050405020304" pitchFamily="18" charset="0"/>
                <a:cs typeface="Times New Roman" panose="02020603050405020304" pitchFamily="18" charset="0"/>
              </a:rPr>
              <a:t> </a:t>
            </a:r>
          </a:p>
          <a:p>
            <a:pPr marL="457200" algn="just"/>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600" b="1" dirty="0">
                <a:latin typeface="Calibri" panose="020F0502020204030204" pitchFamily="34" charset="0"/>
                <a:ea typeface="Times New Roman" panose="02020603050405020304" pitchFamily="18" charset="0"/>
                <a:cs typeface="Times New Roman" panose="02020603050405020304" pitchFamily="18" charset="0"/>
              </a:rPr>
              <a:t>الخطوة 1. قم بتكوين اسم مضيف فريد للجهاز. يجب أن يكون للجهاز اسم مضيف فريد بخلاف الاسم الافتراضي.</a:t>
            </a:r>
            <a:endParaRPr lang="en-US" sz="14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8" name="Rectangle 7"/>
          <p:cNvSpPr/>
          <p:nvPr/>
        </p:nvSpPr>
        <p:spPr>
          <a:xfrm>
            <a:off x="29991" y="3789204"/>
            <a:ext cx="12192000" cy="2492990"/>
          </a:xfrm>
          <a:prstGeom prst="rect">
            <a:avLst/>
          </a:prstGeom>
        </p:spPr>
        <p:txBody>
          <a:bodyPr wrap="square">
            <a:spAutoFit/>
          </a:bodyPr>
          <a:lstStyle/>
          <a:p>
            <a:pPr algn="just"/>
            <a:endParaRPr lang="ar-SA" sz="1600" b="1" dirty="0">
              <a:latin typeface="Calibri" panose="020F0502020204030204" pitchFamily="34" charset="0"/>
              <a:ea typeface="Times New Roman" panose="02020603050405020304" pitchFamily="18" charset="0"/>
              <a:cs typeface="Times New Roman" panose="02020603050405020304" pitchFamily="18" charset="0"/>
            </a:endParaRPr>
          </a:p>
          <a:p>
            <a:pPr algn="just"/>
            <a:endParaRPr lang="ar-SA" sz="1600" b="1"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600" b="1" dirty="0">
                <a:latin typeface="Calibri" panose="020F0502020204030204" pitchFamily="34" charset="0"/>
                <a:ea typeface="Times New Roman" panose="02020603050405020304" pitchFamily="18" charset="0"/>
                <a:cs typeface="Times New Roman" panose="02020603050405020304" pitchFamily="18" charset="0"/>
              </a:rPr>
              <a:t>الخطوة 2. تكوين اسم مجال  </a:t>
            </a:r>
            <a:r>
              <a:rPr lang="en-US" sz="1600" b="1" dirty="0">
                <a:latin typeface="Calibri" panose="020F0502020204030204" pitchFamily="34" charset="0"/>
                <a:ea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IP. </a:t>
            </a:r>
            <a:r>
              <a:rPr lang="ar-SA" sz="1600" b="1" dirty="0">
                <a:latin typeface="Calibri" panose="020F0502020204030204" pitchFamily="34" charset="0"/>
                <a:ea typeface="Times New Roman" panose="02020603050405020304" pitchFamily="18" charset="0"/>
                <a:cs typeface="Times New Roman" panose="02020603050405020304" pitchFamily="18" charset="0"/>
              </a:rPr>
              <a:t>قم بتكوين اسم مجال </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IP</a:t>
            </a:r>
            <a:r>
              <a:rPr lang="ar-SA" sz="1600" b="1" dirty="0">
                <a:latin typeface="Calibri" panose="020F0502020204030204" pitchFamily="34" charset="0"/>
                <a:ea typeface="Times New Roman" panose="02020603050405020304" pitchFamily="18" charset="0"/>
                <a:cs typeface="Times New Roman" panose="02020603050405020304" pitchFamily="18" charset="0"/>
              </a:rPr>
              <a:t> للشبكة باستخدام الأمر وضع التكوين العام </a:t>
            </a:r>
            <a:r>
              <a:rPr lang="en-US" sz="1600" b="1" dirty="0" err="1">
                <a:latin typeface="Times New Roman" panose="02020603050405020304" pitchFamily="18" charset="0"/>
                <a:ea typeface="Times New Roman" panose="02020603050405020304" pitchFamily="18" charset="0"/>
                <a:cs typeface="Times New Roman" panose="02020603050405020304" pitchFamily="18" charset="0"/>
              </a:rPr>
              <a:t>ip</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 domain name.</a:t>
            </a:r>
            <a:endParaRPr lang="ar-SA" sz="1400" dirty="0">
              <a:latin typeface="Calibri" panose="020F0502020204030204" pitchFamily="34" charset="0"/>
              <a:ea typeface="Times New Roman" panose="02020603050405020304" pitchFamily="18" charset="0"/>
              <a:cs typeface="Times New Roman" panose="02020603050405020304" pitchFamily="18" charset="0"/>
            </a:endParaRPr>
          </a:p>
          <a:p>
            <a:pPr marL="457200" algn="just"/>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600" b="1" dirty="0">
                <a:latin typeface="Calibri" panose="020F0502020204030204" pitchFamily="34" charset="0"/>
                <a:ea typeface="Times New Roman" panose="02020603050405020304" pitchFamily="18" charset="0"/>
                <a:cs typeface="Times New Roman" panose="02020603050405020304" pitchFamily="18" charset="0"/>
              </a:rPr>
              <a:t>الخطوة 3. قم بإنشاء مفتاح لتشفير حركة مرور  </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SSH</a:t>
            </a:r>
            <a:r>
              <a:rPr lang="ar-SA" sz="1600" b="1" dirty="0">
                <a:latin typeface="Times New Roman" panose="02020603050405020304" pitchFamily="18" charset="0"/>
                <a:ea typeface="Times New Roman" panose="02020603050405020304" pitchFamily="18" charset="0"/>
                <a:cs typeface="Times New Roman" panose="02020603050405020304" pitchFamily="18" charset="0"/>
              </a:rPr>
              <a:t> </a:t>
            </a:r>
            <a:r>
              <a:rPr lang="ar-SA" sz="1600" b="1" dirty="0">
                <a:latin typeface="Calibri" panose="020F0502020204030204" pitchFamily="34" charset="0"/>
                <a:ea typeface="Times New Roman" panose="02020603050405020304" pitchFamily="18" charset="0"/>
                <a:cs typeface="Times New Roman" panose="02020603050405020304" pitchFamily="18" charset="0"/>
              </a:rPr>
              <a:t>يقوم </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SSH</a:t>
            </a:r>
            <a:r>
              <a:rPr lang="ar-SA" sz="1600" b="1" dirty="0">
                <a:latin typeface="Calibri" panose="020F0502020204030204" pitchFamily="34" charset="0"/>
                <a:ea typeface="Times New Roman" panose="02020603050405020304" pitchFamily="18" charset="0"/>
                <a:cs typeface="Times New Roman" panose="02020603050405020304" pitchFamily="18" charset="0"/>
              </a:rPr>
              <a:t> بتشفير حركة المرور بين المصدر والوجهة. ومع ذلك ، للقيام بذلك ، يجب إنشاء مفتاح مصادقة فريد باستخدام مفتاح تشفير أمر التكوين العام لتوليد وحدات بتات معامل المفاتيح العامة لـ </a:t>
            </a:r>
            <a:r>
              <a:rPr lang="en-US" sz="1600" b="1" dirty="0">
                <a:latin typeface="Calibri" panose="020F0502020204030204" pitchFamily="34" charset="0"/>
                <a:ea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ea typeface="Times New Roman" panose="02020603050405020304" pitchFamily="18" charset="0"/>
                <a:cs typeface="Times New Roman" panose="02020603050405020304" pitchFamily="18" charset="0"/>
              </a:rPr>
              <a:t>rsa</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 </a:t>
            </a:r>
            <a:r>
              <a:rPr lang="ar-SA" sz="1600" b="1" dirty="0">
                <a:latin typeface="Calibri" panose="020F0502020204030204" pitchFamily="34" charset="0"/>
                <a:ea typeface="Times New Roman" panose="02020603050405020304" pitchFamily="18" charset="0"/>
                <a:cs typeface="Times New Roman" panose="02020603050405020304" pitchFamily="18" charset="0"/>
              </a:rPr>
              <a:t>تحدد وحدات بتات المعامل حجم المفتاح ويمكن تكوينها من 360 بت إلى 2048 بت. كلما زادت قيمة البت ، زاد أمان المفتاح. ومع ذلك ، فإن قيم البت الأكبر تستغرق أيضًا وقتًا أطول لتشفير المعلومات وفك تشفيرها. الحد الأدنى لطول المعامل الموصى به هو 1024 بت.</a:t>
            </a:r>
            <a:endParaRPr lang="en-US" sz="1400" b="1" dirty="0">
              <a:latin typeface="Calibri" panose="020F0502020204030204" pitchFamily="34" charset="0"/>
              <a:ea typeface="Times New Roman" panose="02020603050405020304" pitchFamily="18" charset="0"/>
              <a:cs typeface="Times New Roman" panose="02020603050405020304" pitchFamily="18" charset="0"/>
            </a:endParaRPr>
          </a:p>
          <a:p>
            <a:pPr marL="457200" algn="just"/>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600" b="1" dirty="0">
                <a:latin typeface="Calibri" panose="020F0502020204030204" pitchFamily="34" charset="0"/>
                <a:ea typeface="Times New Roman" panose="02020603050405020304" pitchFamily="18" charset="0"/>
                <a:cs typeface="Times New Roman" panose="02020603050405020304" pitchFamily="18" charset="0"/>
              </a:rPr>
              <a:t>الخطوة 4. تحقق من إدخال قاعدة بيانات محلية أو أنشئه. قم بإنشاء إدخال اسم مستخدم قاعدة البيانات المحلية باستخدام أمر التكوين العام اسم المستخدم. في المثال ، يتم استخدام سر المعلمة بحيث يتم تشفير كلمة المرور باستخدام </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MD5.</a:t>
            </a:r>
            <a:endParaRPr lang="en-US" sz="14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9" name="مربع نص 8">
            <a:extLst>
              <a:ext uri="{FF2B5EF4-FFF2-40B4-BE49-F238E27FC236}">
                <a16:creationId xmlns:a16="http://schemas.microsoft.com/office/drawing/2014/main" id="{A503FB51-F2EC-488B-B857-3473ED7A55DE}"/>
              </a:ext>
            </a:extLst>
          </p:cNvPr>
          <p:cNvSpPr txBox="1"/>
          <p:nvPr/>
        </p:nvSpPr>
        <p:spPr>
          <a:xfrm>
            <a:off x="29991" y="2414798"/>
            <a:ext cx="12191999" cy="1477328"/>
          </a:xfrm>
          <a:prstGeom prst="rect">
            <a:avLst/>
          </a:prstGeom>
          <a:noFill/>
        </p:spPr>
        <p:txBody>
          <a:bodyPr wrap="square">
            <a:spAutoFit/>
          </a:bodyPr>
          <a:lstStyle/>
          <a:p>
            <a:pPr algn="just"/>
            <a:endParaRPr lang="ar-SA" sz="1800" dirty="0">
              <a:latin typeface="Calibri" panose="020F0502020204030204" pitchFamily="34" charset="0"/>
              <a:ea typeface="Times New Roman" panose="02020603050405020304" pitchFamily="18" charset="0"/>
              <a:cs typeface="Times New Roman" panose="02020603050405020304" pitchFamily="18" charset="0"/>
            </a:endParaRPr>
          </a:p>
          <a:p>
            <a:pPr algn="just"/>
            <a:endParaRPr lang="ar-SA" sz="18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800" dirty="0">
                <a:latin typeface="Calibri" panose="020F0502020204030204" pitchFamily="34" charset="0"/>
                <a:ea typeface="Times New Roman" panose="02020603050405020304" pitchFamily="18" charset="0"/>
                <a:cs typeface="Times New Roman" panose="02020603050405020304" pitchFamily="18" charset="0"/>
              </a:rPr>
              <a:t>يبسط </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Telnet</a:t>
            </a:r>
            <a:r>
              <a:rPr lang="ar-SA" sz="1800" dirty="0">
                <a:latin typeface="Calibri" panose="020F0502020204030204" pitchFamily="34" charset="0"/>
                <a:ea typeface="Times New Roman" panose="02020603050405020304" pitchFamily="18" charset="0"/>
                <a:cs typeface="Times New Roman" panose="02020603050405020304" pitchFamily="18" charset="0"/>
              </a:rPr>
              <a:t> الوصول إلى الجهاز عن بُعد ، ولكنه ليس آمنًا. يتم إرسال البيانات الموجودة في حزمة </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Telnet</a:t>
            </a:r>
            <a:r>
              <a:rPr lang="ar-SA" sz="1800" dirty="0">
                <a:latin typeface="Calibri" panose="020F0502020204030204" pitchFamily="34" charset="0"/>
                <a:ea typeface="Times New Roman" panose="02020603050405020304" pitchFamily="18" charset="0"/>
                <a:cs typeface="Times New Roman" panose="02020603050405020304" pitchFamily="18" charset="0"/>
              </a:rPr>
              <a:t> دون تشفير.</a:t>
            </a:r>
          </a:p>
          <a:p>
            <a:pPr algn="just"/>
            <a:r>
              <a:rPr lang="ar-SA" sz="1800" dirty="0">
                <a:latin typeface="Calibri" panose="020F0502020204030204" pitchFamily="34" charset="0"/>
                <a:ea typeface="Times New Roman" panose="02020603050405020304" pitchFamily="18" charset="0"/>
                <a:cs typeface="Times New Roman" panose="02020603050405020304" pitchFamily="18" charset="0"/>
              </a:rPr>
              <a:t> لهذا السبب ، يوصى بشدة بتمكين </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Secure Shell (SSH)</a:t>
            </a:r>
            <a:r>
              <a:rPr lang="ar-SA" sz="1800" dirty="0">
                <a:latin typeface="Calibri" panose="020F0502020204030204" pitchFamily="34" charset="0"/>
                <a:ea typeface="Times New Roman" panose="02020603050405020304" pitchFamily="18" charset="0"/>
                <a:cs typeface="Times New Roman" panose="02020603050405020304" pitchFamily="18" charset="0"/>
              </a:rPr>
              <a:t> على الأجهزة للوصول الآمن عن بُعد.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800" dirty="0">
                <a:latin typeface="Calibri" panose="020F0502020204030204" pitchFamily="34" charset="0"/>
                <a:ea typeface="Times New Roman" panose="02020603050405020304" pitchFamily="18" charset="0"/>
                <a:cs typeface="Times New Roman" panose="02020603050405020304" pitchFamily="18" charset="0"/>
              </a:rPr>
              <a:t>من الممكن تكوين جهاز </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Cisco</a:t>
            </a:r>
            <a:r>
              <a:rPr lang="ar-SA" sz="1800" dirty="0">
                <a:latin typeface="Calibri" panose="020F0502020204030204" pitchFamily="34" charset="0"/>
                <a:ea typeface="Times New Roman" panose="02020603050405020304" pitchFamily="18" charset="0"/>
                <a:cs typeface="Times New Roman" panose="02020603050405020304" pitchFamily="18" charset="0"/>
              </a:rPr>
              <a:t> لدعم </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SSH</a:t>
            </a:r>
            <a:r>
              <a:rPr lang="ar-SA" sz="1800" dirty="0">
                <a:latin typeface="Calibri" panose="020F0502020204030204" pitchFamily="34" charset="0"/>
                <a:ea typeface="Times New Roman" panose="02020603050405020304" pitchFamily="18" charset="0"/>
                <a:cs typeface="Times New Roman" panose="02020603050405020304" pitchFamily="18" charset="0"/>
              </a:rPr>
              <a:t> باتباع الخطوات الست التالية: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7119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7461" y="-65314"/>
            <a:ext cx="2724539" cy="584775"/>
          </a:xfrm>
          <a:prstGeom prst="rect">
            <a:avLst/>
          </a:prstGeom>
        </p:spPr>
        <p:txBody>
          <a:bodyPr wrap="square">
            <a:spAutoFit/>
          </a:bodyPr>
          <a:lstStyle/>
          <a:p>
            <a:r>
              <a:rPr lang="ar-SA" sz="20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en-US"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Rectangle 2"/>
          <p:cNvSpPr/>
          <p:nvPr/>
        </p:nvSpPr>
        <p:spPr>
          <a:xfrm>
            <a:off x="0" y="1142914"/>
            <a:ext cx="12192000" cy="1200329"/>
          </a:xfrm>
          <a:prstGeom prst="rect">
            <a:avLst/>
          </a:prstGeom>
        </p:spPr>
        <p:txBody>
          <a:bodyPr wrap="square">
            <a:spAutoFit/>
          </a:bodyPr>
          <a:lstStyle/>
          <a:p>
            <a:pPr algn="just"/>
            <a:r>
              <a:rPr lang="ar-SA" dirty="0">
                <a:latin typeface="Calibri" panose="020F0502020204030204" pitchFamily="34" charset="0"/>
                <a:ea typeface="Times New Roman" panose="02020603050405020304" pitchFamily="18" charset="0"/>
                <a:cs typeface="Times New Roman" panose="02020603050405020304" pitchFamily="18" charset="0"/>
              </a:rPr>
              <a:t>الخطوة 5. المصادقة على قاعدة البيانات المحلية. استخدم أمر تكوين الخط المحلي لتسجيل الدخول لمصادقة سطر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vty</a:t>
            </a:r>
            <a:r>
              <a:rPr lang="ar-SA" dirty="0">
                <a:latin typeface="Calibri" panose="020F0502020204030204" pitchFamily="34" charset="0"/>
                <a:ea typeface="Times New Roman" panose="02020603050405020304" pitchFamily="18" charset="0"/>
                <a:cs typeface="Times New Roman" panose="02020603050405020304" pitchFamily="18" charset="0"/>
              </a:rPr>
              <a:t> مقابل قاعدة البيانات المحلية.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marL="457200" algn="just"/>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الخطوة 6. قم بتمكين جلسات </a:t>
            </a:r>
            <a:r>
              <a:rPr lang="en-US" dirty="0">
                <a:latin typeface="Times New Roman" panose="02020603050405020304" pitchFamily="18" charset="0"/>
                <a:ea typeface="Times New Roman" panose="02020603050405020304" pitchFamily="18" charset="0"/>
                <a:cs typeface="Times New Roman" panose="02020603050405020304" pitchFamily="18" charset="0"/>
              </a:rPr>
              <a:t>SSH</a:t>
            </a:r>
            <a:r>
              <a:rPr lang="ar-SA" dirty="0">
                <a:latin typeface="Calibri" panose="020F0502020204030204" pitchFamily="34" charset="0"/>
                <a:ea typeface="Times New Roman" panose="02020603050405020304" pitchFamily="18" charset="0"/>
                <a:cs typeface="Times New Roman" panose="02020603050405020304" pitchFamily="18" charset="0"/>
              </a:rPr>
              <a:t> الواردة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vty</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ar-SA" dirty="0">
                <a:latin typeface="Times New Roman" panose="02020603050405020304" pitchFamily="18" charset="0"/>
                <a:ea typeface="Times New Roman" panose="02020603050405020304" pitchFamily="18" charset="0"/>
                <a:cs typeface="Times New Roman" panose="02020603050405020304" pitchFamily="18" charset="0"/>
              </a:rPr>
              <a:t> </a:t>
            </a:r>
            <a:r>
              <a:rPr lang="ar-SA" dirty="0">
                <a:latin typeface="Calibri" panose="020F0502020204030204" pitchFamily="34" charset="0"/>
                <a:ea typeface="Times New Roman" panose="02020603050405020304" pitchFamily="18" charset="0"/>
                <a:cs typeface="Times New Roman" panose="02020603050405020304" pitchFamily="18" charset="0"/>
              </a:rPr>
              <a:t>بشكل افتراضي ، لا يُسمح بجلسة إدخال على سطور</a:t>
            </a:r>
            <a:r>
              <a:rPr lang="en-US" dirty="0" err="1">
                <a:latin typeface="Times New Roman" panose="02020603050405020304" pitchFamily="18" charset="0"/>
                <a:ea typeface="Times New Roman" panose="02020603050405020304" pitchFamily="18" charset="0"/>
                <a:cs typeface="Times New Roman" panose="02020603050405020304" pitchFamily="18" charset="0"/>
              </a:rPr>
              <a:t>vty</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ar-SA" dirty="0">
                <a:latin typeface="Times New Roman" panose="02020603050405020304" pitchFamily="18" charset="0"/>
                <a:ea typeface="Times New Roman" panose="02020603050405020304" pitchFamily="18" charset="0"/>
                <a:cs typeface="Times New Roman" panose="02020603050405020304" pitchFamily="18" charset="0"/>
              </a:rPr>
              <a:t> يمكنك تحديد بروتوكولات إدخال متعددة بما في ذلك </a:t>
            </a:r>
            <a:r>
              <a:rPr lang="en-US" dirty="0">
                <a:latin typeface="Times New Roman" panose="02020603050405020304" pitchFamily="18" charset="0"/>
                <a:ea typeface="Times New Roman" panose="02020603050405020304" pitchFamily="18" charset="0"/>
                <a:cs typeface="Times New Roman" panose="02020603050405020304" pitchFamily="18" charset="0"/>
              </a:rPr>
              <a:t>Telnet</a:t>
            </a:r>
            <a:r>
              <a:rPr lang="ar-SA" dirty="0">
                <a:latin typeface="Calibri" panose="020F0502020204030204" pitchFamily="34" charset="0"/>
                <a:ea typeface="Times New Roman" panose="02020603050405020304" pitchFamily="18" charset="0"/>
                <a:cs typeface="Times New Roman" panose="02020603050405020304" pitchFamily="18" charset="0"/>
              </a:rPr>
              <a:t> و </a:t>
            </a:r>
            <a:r>
              <a:rPr lang="en-US" dirty="0">
                <a:latin typeface="Times New Roman" panose="02020603050405020304" pitchFamily="18" charset="0"/>
                <a:ea typeface="Times New Roman" panose="02020603050405020304" pitchFamily="18" charset="0"/>
                <a:cs typeface="Times New Roman" panose="02020603050405020304" pitchFamily="18" charset="0"/>
              </a:rPr>
              <a:t>SSH</a:t>
            </a:r>
            <a:r>
              <a:rPr lang="ar-SA" dirty="0">
                <a:latin typeface="Calibri" panose="020F0502020204030204" pitchFamily="34" charset="0"/>
                <a:ea typeface="Times New Roman" panose="02020603050405020304" pitchFamily="18" charset="0"/>
                <a:cs typeface="Times New Roman" panose="02020603050405020304" pitchFamily="18" charset="0"/>
              </a:rPr>
              <a:t> باستخدام إدخال النقل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ssh</a:t>
            </a:r>
            <a:r>
              <a:rPr lang="en-US" dirty="0">
                <a:latin typeface="Times New Roman" panose="02020603050405020304" pitchFamily="18" charset="0"/>
                <a:ea typeface="Times New Roman" panose="02020603050405020304" pitchFamily="18" charset="0"/>
                <a:cs typeface="Times New Roman" panose="02020603050405020304" pitchFamily="18" charset="0"/>
              </a:rPr>
              <a:t> | Telnet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130717957"/>
              </p:ext>
            </p:extLst>
          </p:nvPr>
        </p:nvGraphicFramePr>
        <p:xfrm>
          <a:off x="0" y="3243694"/>
          <a:ext cx="12071350" cy="2415540"/>
        </p:xfrm>
        <a:graphic>
          <a:graphicData uri="http://schemas.openxmlformats.org/drawingml/2006/table">
            <a:tbl>
              <a:tblPr firstRow="1" firstCol="1" bandRow="1">
                <a:tableStyleId>{5C22544A-7EE6-4342-B048-85BDC9FD1C3A}</a:tableStyleId>
              </a:tblPr>
              <a:tblGrid>
                <a:gridCol w="12071350">
                  <a:extLst>
                    <a:ext uri="{9D8B030D-6E8A-4147-A177-3AD203B41FA5}">
                      <a16:colId xmlns:a16="http://schemas.microsoft.com/office/drawing/2014/main" val="20000"/>
                    </a:ext>
                  </a:extLst>
                </a:gridCol>
              </a:tblGrid>
              <a:tr h="2296795">
                <a:tc>
                  <a:txBody>
                    <a:bodyPr/>
                    <a:lstStyle/>
                    <a:p>
                      <a:pPr marL="0" marR="0" algn="l">
                        <a:spcBef>
                          <a:spcPts val="0"/>
                        </a:spcBef>
                        <a:spcAft>
                          <a:spcPts val="0"/>
                        </a:spcAft>
                      </a:pPr>
                      <a:endParaRPr lang="ar-SA" sz="1100" dirty="0">
                        <a:solidFill>
                          <a:srgbClr val="FF0000"/>
                        </a:solidFill>
                        <a:effectLst/>
                      </a:endParaRPr>
                    </a:p>
                    <a:p>
                      <a:pPr marL="0" marR="0" indent="0" algn="l" defTabSz="914400" rtl="1" eaLnBrk="1" fontAlgn="auto" latinLnBrk="0" hangingPunct="1">
                        <a:lnSpc>
                          <a:spcPct val="100000"/>
                        </a:lnSpc>
                        <a:spcBef>
                          <a:spcPts val="0"/>
                        </a:spcBef>
                        <a:spcAft>
                          <a:spcPts val="0"/>
                        </a:spcAft>
                        <a:buClrTx/>
                        <a:buSzTx/>
                        <a:buFontTx/>
                        <a:buNone/>
                        <a:tabLst/>
                        <a:defRPr/>
                      </a:pPr>
                      <a:r>
                        <a:rPr lang="en-US" sz="1100" dirty="0">
                          <a:solidFill>
                            <a:schemeClr val="tx1"/>
                          </a:solidFill>
                          <a:effectLst/>
                        </a:rPr>
                        <a:t>Router&gt;</a:t>
                      </a:r>
                      <a:r>
                        <a:rPr lang="en-US" sz="1100" dirty="0">
                          <a:solidFill>
                            <a:srgbClr val="FF0000"/>
                          </a:solidFill>
                          <a:effectLst/>
                        </a:rPr>
                        <a:t>enable</a:t>
                      </a:r>
                      <a:endParaRPr lang="ar-SA" sz="1100" dirty="0">
                        <a:solidFill>
                          <a:srgbClr val="FF0000"/>
                        </a:solidFill>
                        <a:effectLst/>
                      </a:endParaRPr>
                    </a:p>
                    <a:p>
                      <a:pPr marL="0" marR="0" algn="l">
                        <a:spcBef>
                          <a:spcPts val="0"/>
                        </a:spcBef>
                        <a:spcAft>
                          <a:spcPts val="0"/>
                        </a:spcAft>
                      </a:pPr>
                      <a:r>
                        <a:rPr lang="en-US" sz="1100" dirty="0">
                          <a:solidFill>
                            <a:schemeClr val="tx1"/>
                          </a:solidFill>
                          <a:effectLst/>
                        </a:rPr>
                        <a:t>Router# </a:t>
                      </a:r>
                      <a:r>
                        <a:rPr lang="en-US" sz="1100" dirty="0">
                          <a:solidFill>
                            <a:srgbClr val="FF0000"/>
                          </a:solidFill>
                          <a:effectLst/>
                        </a:rPr>
                        <a:t>configure terminal</a:t>
                      </a:r>
                      <a:endParaRPr lang="ar-SA" sz="1100" dirty="0">
                        <a:solidFill>
                          <a:srgbClr val="FF0000"/>
                        </a:solidFill>
                        <a:effectLst/>
                      </a:endParaRPr>
                    </a:p>
                    <a:p>
                      <a:pPr marL="0" marR="0" algn="l">
                        <a:spcBef>
                          <a:spcPts val="0"/>
                        </a:spcBef>
                        <a:spcAft>
                          <a:spcPts val="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a:solidFill>
                            <a:srgbClr val="FF0000"/>
                          </a:solidFill>
                          <a:effectLst/>
                        </a:rPr>
                        <a:t>hostname</a:t>
                      </a:r>
                      <a:r>
                        <a:rPr lang="en-US" sz="1100" baseline="0" dirty="0">
                          <a:solidFill>
                            <a:srgbClr val="FF0000"/>
                          </a:solidFill>
                          <a:effectLst/>
                        </a:rPr>
                        <a:t> R1</a:t>
                      </a:r>
                      <a:endParaRPr lang="en-US" sz="1100" dirty="0">
                        <a:solidFill>
                          <a:srgbClr val="FF0000"/>
                        </a:solidFill>
                        <a:effectLst/>
                      </a:endParaRPr>
                    </a:p>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err="1">
                          <a:solidFill>
                            <a:srgbClr val="FF0000"/>
                          </a:solidFill>
                          <a:effectLst/>
                        </a:rPr>
                        <a:t>ip</a:t>
                      </a:r>
                      <a:r>
                        <a:rPr lang="en-US" sz="1100" dirty="0">
                          <a:solidFill>
                            <a:srgbClr val="FF0000"/>
                          </a:solidFill>
                          <a:effectLst/>
                        </a:rPr>
                        <a:t> domain-name lab.com</a:t>
                      </a:r>
                      <a:endParaRPr lang="en-US" sz="1000" dirty="0">
                        <a:solidFill>
                          <a:srgbClr val="FF0000"/>
                        </a:solidFill>
                        <a:effectLst/>
                      </a:endParaRPr>
                    </a:p>
                    <a:p>
                      <a:pPr marL="0" marR="0" algn="l" rtl="0">
                        <a:spcBef>
                          <a:spcPts val="0"/>
                        </a:spcBef>
                        <a:spcAft>
                          <a:spcPts val="0"/>
                        </a:spcAft>
                      </a:pPr>
                      <a:r>
                        <a:rPr lang="en-US" sz="1200" dirty="0">
                          <a:solidFill>
                            <a:schemeClr val="tx1"/>
                          </a:solidFill>
                          <a:effectLst/>
                        </a:rPr>
                        <a:t>R1(</a:t>
                      </a:r>
                      <a:r>
                        <a:rPr lang="en-US" sz="1200" dirty="0" err="1">
                          <a:solidFill>
                            <a:schemeClr val="tx1"/>
                          </a:solidFill>
                          <a:effectLst/>
                        </a:rPr>
                        <a:t>config</a:t>
                      </a:r>
                      <a:r>
                        <a:rPr lang="en-US" sz="1200" dirty="0">
                          <a:solidFill>
                            <a:schemeClr val="tx1"/>
                          </a:solidFill>
                          <a:effectLst/>
                        </a:rPr>
                        <a:t>)#</a:t>
                      </a:r>
                      <a:r>
                        <a:rPr lang="en-US" sz="1200" dirty="0">
                          <a:solidFill>
                            <a:srgbClr val="FF0000"/>
                          </a:solidFill>
                          <a:effectLst/>
                        </a:rPr>
                        <a:t>crypto key generate </a:t>
                      </a:r>
                      <a:r>
                        <a:rPr lang="en-US" sz="1200" dirty="0" err="1">
                          <a:solidFill>
                            <a:srgbClr val="FF0000"/>
                          </a:solidFill>
                          <a:effectLst/>
                        </a:rPr>
                        <a:t>rsa</a:t>
                      </a:r>
                      <a:endParaRPr lang="en-US" sz="1200" dirty="0">
                        <a:solidFill>
                          <a:srgbClr val="FF0000"/>
                        </a:solidFill>
                        <a:effectLst/>
                      </a:endParaRPr>
                    </a:p>
                    <a:p>
                      <a:pPr marL="0" marR="0" algn="l" rtl="0">
                        <a:spcBef>
                          <a:spcPts val="0"/>
                        </a:spcBef>
                        <a:spcAft>
                          <a:spcPts val="0"/>
                        </a:spcAft>
                      </a:pPr>
                      <a:r>
                        <a:rPr lang="en-US" sz="1000" dirty="0">
                          <a:solidFill>
                            <a:srgbClr val="FF0000"/>
                          </a:solidFill>
                          <a:effectLst/>
                        </a:rPr>
                        <a:t>2048</a:t>
                      </a:r>
                      <a:endParaRPr lang="en-US" sz="1200" dirty="0">
                        <a:solidFill>
                          <a:srgbClr val="FF0000"/>
                        </a:solidFill>
                        <a:effectLst/>
                      </a:endParaRPr>
                    </a:p>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a:solidFill>
                            <a:srgbClr val="FF0000"/>
                          </a:solidFill>
                          <a:effectLst/>
                        </a:rPr>
                        <a:t>username lan1 secret lab123</a:t>
                      </a:r>
                      <a:endParaRPr lang="en-US" sz="1000" dirty="0">
                        <a:solidFill>
                          <a:srgbClr val="FF0000"/>
                        </a:solidFill>
                        <a:effectLst/>
                      </a:endParaRPr>
                    </a:p>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a:solidFill>
                            <a:srgbClr val="FF0000"/>
                          </a:solidFill>
                          <a:effectLst/>
                        </a:rPr>
                        <a:t>line </a:t>
                      </a:r>
                      <a:r>
                        <a:rPr lang="en-US" sz="1100" dirty="0" err="1">
                          <a:solidFill>
                            <a:srgbClr val="FF0000"/>
                          </a:solidFill>
                          <a:effectLst/>
                        </a:rPr>
                        <a:t>vty</a:t>
                      </a:r>
                      <a:r>
                        <a:rPr lang="en-US" sz="1100" dirty="0">
                          <a:solidFill>
                            <a:srgbClr val="FF0000"/>
                          </a:solidFill>
                          <a:effectLst/>
                        </a:rPr>
                        <a:t> 0 4</a:t>
                      </a:r>
                      <a:endParaRPr lang="en-US" sz="1000" dirty="0">
                        <a:solidFill>
                          <a:srgbClr val="FF0000"/>
                        </a:solidFill>
                        <a:effectLst/>
                      </a:endParaRPr>
                    </a:p>
                    <a:p>
                      <a:pPr marL="0" marR="0" algn="l">
                        <a:spcBef>
                          <a:spcPts val="300"/>
                        </a:spcBef>
                        <a:spcAft>
                          <a:spcPts val="300"/>
                        </a:spcAft>
                      </a:pPr>
                      <a:r>
                        <a:rPr lang="en-US" sz="1000" dirty="0">
                          <a:solidFill>
                            <a:schemeClr val="tx1"/>
                          </a:solidFill>
                          <a:effectLst/>
                        </a:rPr>
                        <a:t>R1(</a:t>
                      </a:r>
                      <a:r>
                        <a:rPr lang="en-US" sz="1000" dirty="0" err="1">
                          <a:solidFill>
                            <a:schemeClr val="tx1"/>
                          </a:solidFill>
                          <a:effectLst/>
                        </a:rPr>
                        <a:t>config</a:t>
                      </a:r>
                      <a:r>
                        <a:rPr lang="en-US" sz="1000" dirty="0">
                          <a:solidFill>
                            <a:schemeClr val="tx1"/>
                          </a:solidFill>
                          <a:effectLst/>
                        </a:rPr>
                        <a:t>-line)#</a:t>
                      </a:r>
                      <a:r>
                        <a:rPr lang="en-US" sz="1100" dirty="0">
                          <a:solidFill>
                            <a:srgbClr val="FF0000"/>
                          </a:solidFill>
                          <a:effectLst/>
                        </a:rPr>
                        <a:t>login local</a:t>
                      </a:r>
                      <a:endParaRPr lang="en-US" sz="1000" dirty="0">
                        <a:solidFill>
                          <a:srgbClr val="FF0000"/>
                        </a:solidFill>
                        <a:effectLst/>
                      </a:endParaRPr>
                    </a:p>
                    <a:p>
                      <a:pPr marL="0" marR="0" algn="l">
                        <a:spcBef>
                          <a:spcPts val="300"/>
                        </a:spcBef>
                        <a:spcAft>
                          <a:spcPts val="300"/>
                        </a:spcAft>
                      </a:pPr>
                      <a:r>
                        <a:rPr lang="en-US" sz="1000" dirty="0">
                          <a:solidFill>
                            <a:schemeClr val="tx1"/>
                          </a:solidFill>
                          <a:effectLst/>
                        </a:rPr>
                        <a:t>R1(</a:t>
                      </a:r>
                      <a:r>
                        <a:rPr lang="en-US" sz="1000" dirty="0" err="1">
                          <a:solidFill>
                            <a:schemeClr val="tx1"/>
                          </a:solidFill>
                          <a:effectLst/>
                        </a:rPr>
                        <a:t>config</a:t>
                      </a:r>
                      <a:r>
                        <a:rPr lang="en-US" sz="1000" dirty="0">
                          <a:solidFill>
                            <a:schemeClr val="tx1"/>
                          </a:solidFill>
                          <a:effectLst/>
                        </a:rPr>
                        <a:t>-line)#</a:t>
                      </a:r>
                      <a:r>
                        <a:rPr lang="en-US" sz="1100" dirty="0">
                          <a:solidFill>
                            <a:srgbClr val="FF0000"/>
                          </a:solidFill>
                          <a:effectLst/>
                        </a:rPr>
                        <a:t>exit</a:t>
                      </a:r>
                      <a:endParaRPr lang="en-US" sz="1000" dirty="0">
                        <a:solidFill>
                          <a:srgbClr val="FF0000"/>
                        </a:solidFill>
                        <a:effectLst/>
                      </a:endParaRPr>
                    </a:p>
                    <a:p>
                      <a:pPr marL="0" marR="0" algn="l">
                        <a:spcBef>
                          <a:spcPts val="300"/>
                        </a:spcBef>
                        <a:spcAft>
                          <a:spcPts val="300"/>
                        </a:spcAft>
                      </a:pPr>
                      <a:r>
                        <a:rPr lang="en-US" sz="1000" dirty="0">
                          <a:solidFill>
                            <a:schemeClr val="tx1"/>
                          </a:solidFill>
                          <a:effectLst/>
                        </a:rPr>
                        <a:t> </a:t>
                      </a:r>
                      <a:endParaRPr lang="en-US" sz="1000" dirty="0">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7" name="مربع نص 6">
            <a:extLst>
              <a:ext uri="{FF2B5EF4-FFF2-40B4-BE49-F238E27FC236}">
                <a16:creationId xmlns:a16="http://schemas.microsoft.com/office/drawing/2014/main" id="{8D8DD0F3-A076-4B57-96AE-F35921A626C1}"/>
              </a:ext>
            </a:extLst>
          </p:cNvPr>
          <p:cNvSpPr txBox="1"/>
          <p:nvPr/>
        </p:nvSpPr>
        <p:spPr>
          <a:xfrm>
            <a:off x="3005667" y="6440940"/>
            <a:ext cx="6180666"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26</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1429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491213"/>
            <a:ext cx="12192000" cy="3693319"/>
          </a:xfrm>
          <a:prstGeom prst="rect">
            <a:avLst/>
          </a:prstGeom>
        </p:spPr>
        <p:txBody>
          <a:bodyPr wrap="square">
            <a:spAutoFit/>
          </a:bodyPr>
          <a:lstStyle/>
          <a:p>
            <a:r>
              <a:rPr lang="ar-SA" sz="1600"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rtl="0">
              <a:tabLst>
                <a:tab pos="3887470" algn="l"/>
              </a:tabLst>
            </a:pPr>
            <a:r>
              <a:rPr lang="ar-SA" sz="2000" b="1" dirty="0">
                <a:latin typeface="Calibri" panose="020F0502020204030204" pitchFamily="34" charset="0"/>
                <a:ea typeface="Times New Roman" panose="02020603050405020304" pitchFamily="18" charset="0"/>
                <a:cs typeface="Times New Roman" panose="02020603050405020304" pitchFamily="18" charset="0"/>
              </a:rPr>
              <a:t> المحلية والخادم هما طريقتان شائعتان لتنفيذ مصادقة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AAA</a:t>
            </a:r>
            <a:endParaRPr lang="ar-SA" sz="2000" b="1"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sz="2000" b="1" dirty="0">
                <a:latin typeface="Calibri" panose="020F0502020204030204" pitchFamily="34" charset="0"/>
                <a:ea typeface="Times New Roman" panose="02020603050405020304" pitchFamily="18" charset="0"/>
                <a:cs typeface="Times New Roman" panose="02020603050405020304" pitchFamily="18" charset="0"/>
              </a:rPr>
              <a:t>مصادقة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AAA</a:t>
            </a:r>
            <a:r>
              <a:rPr lang="ar-SA" sz="2000" b="1" dirty="0">
                <a:latin typeface="Calibri" panose="020F0502020204030204" pitchFamily="34" charset="0"/>
                <a:ea typeface="Times New Roman" panose="02020603050405020304" pitchFamily="18" charset="0"/>
                <a:cs typeface="Times New Roman" panose="02020603050405020304" pitchFamily="18" charset="0"/>
              </a:rPr>
              <a:t> محلية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endParaRPr lang="ar-SA"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يخزن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المحلي أسماء المستخدمين وكلمات المرور محليًا في جهاز شبكة مثل جهاز توجيه </a:t>
            </a:r>
            <a:r>
              <a:rPr lang="en-US" dirty="0">
                <a:latin typeface="Times New Roman" panose="02020603050405020304" pitchFamily="18" charset="0"/>
                <a:ea typeface="Times New Roman" panose="02020603050405020304" pitchFamily="18" charset="0"/>
                <a:cs typeface="Times New Roman" panose="02020603050405020304" pitchFamily="18" charset="0"/>
              </a:rPr>
              <a:t>Cisco. </a:t>
            </a:r>
            <a:r>
              <a:rPr lang="ar-SA" dirty="0">
                <a:latin typeface="Times New Roman" panose="02020603050405020304" pitchFamily="18" charset="0"/>
                <a:ea typeface="Times New Roman" panose="02020603050405020304" pitchFamily="18" charset="0"/>
                <a:cs typeface="Times New Roman" panose="02020603050405020304" pitchFamily="18" charset="0"/>
              </a:rPr>
              <a:t> </a:t>
            </a:r>
            <a:r>
              <a:rPr lang="ar-SA" dirty="0">
                <a:latin typeface="Calibri" panose="020F0502020204030204" pitchFamily="34" charset="0"/>
                <a:ea typeface="Times New Roman" panose="02020603050405020304" pitchFamily="18" charset="0"/>
                <a:cs typeface="Times New Roman" panose="02020603050405020304" pitchFamily="18" charset="0"/>
              </a:rPr>
              <a:t>يقوم المستخدمون بالمصادقة على قاعدة البيانات المحلية ، تعد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المحلية مثالية للشبكات الصغيرة.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endParaRPr lang="ar-SA"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يتصل العميل البعيد بجهاز توجيه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 ويطلب منه إدخال اسم مستخدم وكلمة مرور ، ويقوم جهاز التوجيه بفحص قاعدة البيانات المحلية الخاصة به قبل السماح بالوصول إلى شبكة الشركة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العميل البعيد: جهاز توجيه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 شبكة الشركات</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يقوم العميل بإنشاء اتصال مع جهاز التوجيه.</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endParaRPr lang="ar-SA"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endParaRPr lang="ar-SA"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5"/>
          <p:cNvSpPr/>
          <p:nvPr/>
        </p:nvSpPr>
        <p:spPr>
          <a:xfrm>
            <a:off x="6096000" y="-99650"/>
            <a:ext cx="6096000" cy="584775"/>
          </a:xfrm>
          <a:prstGeom prst="rect">
            <a:avLst/>
          </a:prstGeom>
        </p:spPr>
        <p:txBody>
          <a:bodyPr>
            <a:spAutoFit/>
          </a:bodyPr>
          <a:lstStyle/>
          <a:p>
            <a:r>
              <a:rPr lang="ar-SA" sz="20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en-US"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p:txBody>
      </p:sp>
      <p:sp>
        <p:nvSpPr>
          <p:cNvPr id="7" name="مربع نص 6">
            <a:extLst>
              <a:ext uri="{FF2B5EF4-FFF2-40B4-BE49-F238E27FC236}">
                <a16:creationId xmlns:a16="http://schemas.microsoft.com/office/drawing/2014/main" id="{3AF6F01D-CD31-4D96-BCB8-E02D2D6A325E}"/>
              </a:ext>
            </a:extLst>
          </p:cNvPr>
          <p:cNvSpPr txBox="1"/>
          <p:nvPr/>
        </p:nvSpPr>
        <p:spPr>
          <a:xfrm>
            <a:off x="0" y="628891"/>
            <a:ext cx="12192000" cy="2062103"/>
          </a:xfrm>
          <a:prstGeom prst="rect">
            <a:avLst/>
          </a:prstGeom>
          <a:noFill/>
        </p:spPr>
        <p:txBody>
          <a:bodyPr wrap="square">
            <a:spAutoFit/>
          </a:bodyPr>
          <a:lstStyle/>
          <a:p>
            <a:r>
              <a:rPr lang="en-US" dirty="0"/>
              <a:t> </a:t>
            </a:r>
          </a:p>
          <a:p>
            <a:r>
              <a:rPr lang="en-US" sz="2000" b="1" dirty="0"/>
              <a:t>AAA</a:t>
            </a:r>
          </a:p>
          <a:p>
            <a:r>
              <a:rPr lang="en-US" dirty="0"/>
              <a:t> </a:t>
            </a:r>
          </a:p>
          <a:p>
            <a:r>
              <a:rPr lang="ar-AE" dirty="0"/>
              <a:t>مكونات </a:t>
            </a:r>
            <a:r>
              <a:rPr lang="en-US" dirty="0"/>
              <a:t>AAA</a:t>
            </a:r>
          </a:p>
          <a:p>
            <a:r>
              <a:rPr lang="en-US" dirty="0"/>
              <a:t> </a:t>
            </a:r>
            <a:r>
              <a:rPr lang="ar-AE" dirty="0"/>
              <a:t> </a:t>
            </a:r>
          </a:p>
          <a:p>
            <a:r>
              <a:rPr lang="ar-AE" dirty="0"/>
              <a:t>يوفر</a:t>
            </a:r>
            <a:r>
              <a:rPr lang="ar-SA" dirty="0"/>
              <a:t> </a:t>
            </a:r>
            <a:r>
              <a:rPr lang="en-US" dirty="0"/>
              <a:t>AAA</a:t>
            </a:r>
            <a:r>
              <a:rPr lang="ar-SA" dirty="0"/>
              <a:t> </a:t>
            </a:r>
            <a:r>
              <a:rPr lang="ar-AE" dirty="0"/>
              <a:t>الإطار الأساسي لإعداد التحكم في الوصول على جهاز الشبكة. </a:t>
            </a:r>
            <a:r>
              <a:rPr lang="en-US" dirty="0"/>
              <a:t>AAA </a:t>
            </a:r>
            <a:r>
              <a:rPr lang="ar-SA" dirty="0"/>
              <a:t> </a:t>
            </a:r>
            <a:r>
              <a:rPr lang="ar-AE" dirty="0"/>
              <a:t>هي طريقة للتحكم في من يُسمح له بالوصول إلى الشبكة (المصادقة) ، وما الذي يمكنهم فعله أثناء وجودهم هناك (التفويض) ، ومراجعة الإجراءات التي قاموا بها أثناء الوصول إلى الشبكة (المحاسبة).</a:t>
            </a:r>
          </a:p>
        </p:txBody>
      </p:sp>
      <p:sp>
        <p:nvSpPr>
          <p:cNvPr id="8" name="مربع نص 7">
            <a:extLst>
              <a:ext uri="{FF2B5EF4-FFF2-40B4-BE49-F238E27FC236}">
                <a16:creationId xmlns:a16="http://schemas.microsoft.com/office/drawing/2014/main" id="{548CD875-ED6E-4E6C-B9C5-4708D4B5F98E}"/>
              </a:ext>
            </a:extLst>
          </p:cNvPr>
          <p:cNvSpPr txBox="1"/>
          <p:nvPr/>
        </p:nvSpPr>
        <p:spPr>
          <a:xfrm>
            <a:off x="2968978" y="6454744"/>
            <a:ext cx="6175022"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cs typeface="Times New Roman" panose="02020603050405020304" pitchFamily="18" charset="0"/>
              </a:rPr>
              <a:t>27</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6013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68E43156-2082-48C8-A3C5-3F0A6C96C0FF}"/>
              </a:ext>
            </a:extLst>
          </p:cNvPr>
          <p:cNvSpPr txBox="1"/>
          <p:nvPr/>
        </p:nvSpPr>
        <p:spPr>
          <a:xfrm>
            <a:off x="0" y="3367500"/>
            <a:ext cx="12192000" cy="3108543"/>
          </a:xfrm>
          <a:prstGeom prst="rect">
            <a:avLst/>
          </a:prstGeom>
          <a:noFill/>
        </p:spPr>
        <p:txBody>
          <a:bodyPr wrap="square">
            <a:spAutoFit/>
          </a:bodyPr>
          <a:lstStyle/>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باستخدام الطريقة القائمة على الخادم ، يصل الموجه إلى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مركزي ، يحتوي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على أسماء المستخدمين وكلمات المرور لجميع المستخدمين. يستخدم جهاز التوجيه إما بروتوكولات خدمة مستخدم الطلب الهاتفي للمصادقة عن بُعد </a:t>
            </a:r>
            <a:r>
              <a:rPr lang="en-US" dirty="0">
                <a:latin typeface="Times New Roman" panose="02020603050405020304" pitchFamily="18" charset="0"/>
                <a:ea typeface="Times New Roman" panose="02020603050405020304" pitchFamily="18" charset="0"/>
                <a:cs typeface="Times New Roman" panose="02020603050405020304" pitchFamily="18" charset="0"/>
              </a:rPr>
              <a:t>RADIUS)</a:t>
            </a:r>
            <a:r>
              <a:rPr lang="ar-SA" dirty="0">
                <a:latin typeface="Times New Roman" panose="02020603050405020304" pitchFamily="18" charset="0"/>
                <a:ea typeface="Times New Roman" panose="02020603050405020304" pitchFamily="18" charset="0"/>
                <a:cs typeface="Times New Roman" panose="02020603050405020304" pitchFamily="18" charset="0"/>
              </a:rPr>
              <a:t>) </a:t>
            </a:r>
            <a:r>
              <a:rPr lang="ar-SA" dirty="0">
                <a:latin typeface="Calibri" panose="020F0502020204030204" pitchFamily="34" charset="0"/>
                <a:ea typeface="Times New Roman" panose="02020603050405020304" pitchFamily="18" charset="0"/>
                <a:cs typeface="Times New Roman" panose="02020603050405020304" pitchFamily="18" charset="0"/>
              </a:rPr>
              <a:t>أو بروتوكولات نظام التحكم في الوصول إلى وحدة التحكم في الوصول الطرفي (</a:t>
            </a:r>
            <a:r>
              <a:rPr lang="en-US" dirty="0">
                <a:latin typeface="Times New Roman" panose="02020603050405020304" pitchFamily="18" charset="0"/>
                <a:ea typeface="Times New Roman" panose="02020603050405020304" pitchFamily="18" charset="0"/>
                <a:cs typeface="Times New Roman" panose="02020603050405020304" pitchFamily="18" charset="0"/>
              </a:rPr>
              <a:t>TACACS +</a:t>
            </a:r>
            <a:r>
              <a:rPr lang="ar-SA" dirty="0">
                <a:latin typeface="Times New Roman" panose="02020603050405020304" pitchFamily="18" charset="0"/>
                <a:ea typeface="Times New Roman" panose="02020603050405020304" pitchFamily="18" charset="0"/>
                <a:cs typeface="Times New Roman" panose="02020603050405020304" pitchFamily="18" charset="0"/>
              </a:rPr>
              <a:t>) </a:t>
            </a:r>
            <a:r>
              <a:rPr lang="ar-SA" dirty="0">
                <a:latin typeface="Calibri" panose="020F0502020204030204" pitchFamily="34" charset="0"/>
                <a:ea typeface="Times New Roman" panose="02020603050405020304" pitchFamily="18" charset="0"/>
                <a:cs typeface="Times New Roman" panose="02020603050405020304" pitchFamily="18" charset="0"/>
              </a:rPr>
              <a:t>للاتصال بخادم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 </a:t>
            </a:r>
            <a:r>
              <a:rPr lang="ar-SA" dirty="0">
                <a:latin typeface="Calibri" panose="020F0502020204030204" pitchFamily="34" charset="0"/>
                <a:ea typeface="Times New Roman" panose="02020603050405020304" pitchFamily="18" charset="0"/>
                <a:cs typeface="Times New Roman" panose="02020603050405020304" pitchFamily="18" charset="0"/>
              </a:rPr>
              <a:t>عندما يكون هناك العديد من أجهزة التوجيه والمحولات ، يكون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المستند إلى الخادم أكثر ملاءمة</a:t>
            </a:r>
            <a:r>
              <a:rPr lang="en-US" dirty="0">
                <a:latin typeface="Calibri" panose="020F0502020204030204" pitchFamily="34" charset="0"/>
                <a:ea typeface="Times New Roman" panose="02020603050405020304" pitchFamily="18" charset="0"/>
                <a:cs typeface="Times New Roman" panose="02020603050405020304" pitchFamily="18" charset="0"/>
              </a:rPr>
              <a:t>,</a:t>
            </a:r>
            <a:r>
              <a:rPr lang="ar-SA" dirty="0">
                <a:latin typeface="Calibri" panose="020F0502020204030204" pitchFamily="34" charset="0"/>
                <a:ea typeface="Times New Roman" panose="02020603050405020304" pitchFamily="18" charset="0"/>
                <a:cs typeface="Times New Roman" panose="02020603050405020304" pitchFamily="18" charset="0"/>
              </a:rPr>
              <a:t>يتصل العميل البعيد بجهاز توجيه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 ويطلب منه إدخال اسم مستخدم وكلمة مرور ، ويصادق جهاز التوجيه على بيانات الاعتماد باستخدام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 ويتم منح المستخدم حق الوصول إلى الشبكة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العميل البعيد: جهاز توجيه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خادم</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يقوم العميل بإنشاء اتصال مع جهاز التوجيه.</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يطالب موجه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المستخدم بإدخال اسم مستخدم وكلمة مرور.</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يصادق جهاز التوجيه على اسم المستخدم وكلمة المرور باستخدام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يتم توفير وصول المستخدم إلى الشبكة بناءً على المعلومات الموجودة في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البعيد.</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مربع نص 4">
            <a:extLst>
              <a:ext uri="{FF2B5EF4-FFF2-40B4-BE49-F238E27FC236}">
                <a16:creationId xmlns:a16="http://schemas.microsoft.com/office/drawing/2014/main" id="{EA2FF91B-2245-4645-94EE-A0BB3CB8B5E8}"/>
              </a:ext>
            </a:extLst>
          </p:cNvPr>
          <p:cNvSpPr txBox="1"/>
          <p:nvPr/>
        </p:nvSpPr>
        <p:spPr>
          <a:xfrm>
            <a:off x="9742311" y="-22578"/>
            <a:ext cx="2449689" cy="584775"/>
          </a:xfrm>
          <a:prstGeom prst="rect">
            <a:avLst/>
          </a:prstGeom>
          <a:noFill/>
        </p:spPr>
        <p:txBody>
          <a:bodyPr wrap="square">
            <a:spAutoFit/>
          </a:bodyPr>
          <a:lstStyle/>
          <a:p>
            <a:r>
              <a:rPr lang="ar-SA" sz="20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en-US"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p:txBody>
      </p:sp>
      <p:sp>
        <p:nvSpPr>
          <p:cNvPr id="7" name="مربع نص 6">
            <a:extLst>
              <a:ext uri="{FF2B5EF4-FFF2-40B4-BE49-F238E27FC236}">
                <a16:creationId xmlns:a16="http://schemas.microsoft.com/office/drawing/2014/main" id="{44CE217B-FFEB-42EA-A8F1-67A8177B8A12}"/>
              </a:ext>
            </a:extLst>
          </p:cNvPr>
          <p:cNvSpPr txBox="1"/>
          <p:nvPr/>
        </p:nvSpPr>
        <p:spPr>
          <a:xfrm>
            <a:off x="-248355" y="843677"/>
            <a:ext cx="12440355" cy="2585323"/>
          </a:xfrm>
          <a:prstGeom prst="rect">
            <a:avLst/>
          </a:prstGeom>
          <a:noFill/>
        </p:spPr>
        <p:txBody>
          <a:bodyPr wrap="square">
            <a:spAutoFit/>
          </a:bodyPr>
          <a:lstStyle/>
          <a:p>
            <a:r>
              <a:rPr lang="ar-AE" dirty="0"/>
              <a:t>يتصل العميل البعيد بجهاز توجيه </a:t>
            </a:r>
            <a:r>
              <a:rPr lang="en-US" dirty="0"/>
              <a:t>AAA ، </a:t>
            </a:r>
            <a:r>
              <a:rPr lang="ar-AE" dirty="0"/>
              <a:t>ويطلب منه إدخال اسم مستخدم وكلمة مرور ، ويقوم جهاز التوجيه بفحص قاعدة البيانات المحلية الخاصة به قبل السماح</a:t>
            </a:r>
            <a:endParaRPr lang="ar-SA" dirty="0"/>
          </a:p>
          <a:p>
            <a:r>
              <a:rPr lang="ar-AE" dirty="0"/>
              <a:t> بالوصول إلى شبكة الشركة </a:t>
            </a:r>
          </a:p>
          <a:p>
            <a:r>
              <a:rPr lang="ar-AE" dirty="0"/>
              <a:t>العميل البعيد: جهاز توجيه </a:t>
            </a:r>
            <a:r>
              <a:rPr lang="en-US" dirty="0"/>
              <a:t>AAA ، </a:t>
            </a:r>
            <a:r>
              <a:rPr lang="ar-AE" dirty="0"/>
              <a:t>شبكة الشركات</a:t>
            </a:r>
          </a:p>
          <a:p>
            <a:r>
              <a:rPr lang="ar-AE" dirty="0"/>
              <a:t>يقوم العميل بإنشاء اتصال مع جهاز التوجيه.</a:t>
            </a:r>
          </a:p>
          <a:p>
            <a:endParaRPr lang="ar-AE" dirty="0"/>
          </a:p>
          <a:p>
            <a:r>
              <a:rPr lang="ar-AE" dirty="0"/>
              <a:t>يطالب موجه </a:t>
            </a:r>
            <a:r>
              <a:rPr lang="en-US" dirty="0"/>
              <a:t>AAA </a:t>
            </a:r>
            <a:r>
              <a:rPr lang="ar-SA" dirty="0"/>
              <a:t> </a:t>
            </a:r>
            <a:r>
              <a:rPr lang="ar-AE" dirty="0"/>
              <a:t>المستخدم بإدخال اسم مستخدم وكلمة مرور.</a:t>
            </a:r>
          </a:p>
          <a:p>
            <a:r>
              <a:rPr lang="ar-AE" dirty="0"/>
              <a:t>يصادق جهاز التوجيه على اسم المستخدم وكلمة المرور باستخدام قاعدة البيانات المحلية ويتم توفير وصول المستخدم إلى الشبكة بناءً على المعلومات الموجودة في قاعدة البيانات المحلية.</a:t>
            </a:r>
          </a:p>
          <a:p>
            <a:r>
              <a:rPr lang="ar-AE" dirty="0"/>
              <a:t>مصادقة </a:t>
            </a:r>
            <a:r>
              <a:rPr lang="en-US" dirty="0"/>
              <a:t>AAA </a:t>
            </a:r>
            <a:r>
              <a:rPr lang="ar-SA" dirty="0"/>
              <a:t> </a:t>
            </a:r>
            <a:r>
              <a:rPr lang="ar-AE" dirty="0"/>
              <a:t>المستندة إلى الخادم</a:t>
            </a:r>
          </a:p>
        </p:txBody>
      </p:sp>
      <p:sp>
        <p:nvSpPr>
          <p:cNvPr id="9" name="مربع نص 8">
            <a:extLst>
              <a:ext uri="{FF2B5EF4-FFF2-40B4-BE49-F238E27FC236}">
                <a16:creationId xmlns:a16="http://schemas.microsoft.com/office/drawing/2014/main" id="{73747322-9872-45FA-B364-70AA2EC39068}"/>
              </a:ext>
            </a:extLst>
          </p:cNvPr>
          <p:cNvSpPr txBox="1"/>
          <p:nvPr/>
        </p:nvSpPr>
        <p:spPr>
          <a:xfrm>
            <a:off x="2816578" y="6543355"/>
            <a:ext cx="6310488"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28</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3115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424882502"/>
              </p:ext>
            </p:extLst>
          </p:nvPr>
        </p:nvGraphicFramePr>
        <p:xfrm>
          <a:off x="6848760" y="1983509"/>
          <a:ext cx="5268595" cy="655320"/>
        </p:xfrm>
        <a:graphic>
          <a:graphicData uri="http://schemas.openxmlformats.org/drawingml/2006/table">
            <a:tbl>
              <a:tblPr firstRow="1" firstCol="1" bandRow="1">
                <a:tableStyleId>{5C22544A-7EE6-4342-B048-85BDC9FD1C3A}</a:tableStyleId>
              </a:tblPr>
              <a:tblGrid>
                <a:gridCol w="5268595">
                  <a:extLst>
                    <a:ext uri="{9D8B030D-6E8A-4147-A177-3AD203B41FA5}">
                      <a16:colId xmlns:a16="http://schemas.microsoft.com/office/drawing/2014/main" val="20000"/>
                    </a:ext>
                  </a:extLst>
                </a:gridCol>
              </a:tblGrid>
              <a:tr h="0">
                <a:tc>
                  <a:txBody>
                    <a:bodyPr/>
                    <a:lstStyle/>
                    <a:p>
                      <a:pPr marL="0" marR="0" algn="l">
                        <a:spcBef>
                          <a:spcPts val="300"/>
                        </a:spcBef>
                        <a:spcAft>
                          <a:spcPts val="300"/>
                        </a:spcAft>
                      </a:pPr>
                      <a:r>
                        <a:rPr lang="en-US" sz="1100" dirty="0">
                          <a:solidFill>
                            <a:schemeClr val="tx1"/>
                          </a:solidFill>
                          <a:effectLst/>
                        </a:rPr>
                        <a:t>R1&gt;</a:t>
                      </a:r>
                      <a:r>
                        <a:rPr lang="en-US" sz="1000" dirty="0">
                          <a:solidFill>
                            <a:srgbClr val="FF0000"/>
                          </a:solidFill>
                          <a:effectLst/>
                        </a:rPr>
                        <a:t>enable</a:t>
                      </a:r>
                    </a:p>
                    <a:p>
                      <a:pPr marL="0" marR="0" algn="l">
                        <a:spcBef>
                          <a:spcPts val="300"/>
                        </a:spcBef>
                        <a:spcAft>
                          <a:spcPts val="300"/>
                        </a:spcAft>
                      </a:pPr>
                      <a:r>
                        <a:rPr lang="en-US" sz="1100" dirty="0">
                          <a:solidFill>
                            <a:schemeClr val="tx1"/>
                          </a:solidFill>
                          <a:effectLst/>
                        </a:rPr>
                        <a:t>R1#</a:t>
                      </a:r>
                      <a:r>
                        <a:rPr lang="en-US" sz="1000" dirty="0">
                          <a:solidFill>
                            <a:srgbClr val="FF0000"/>
                          </a:solidFill>
                          <a:effectLst/>
                        </a:rPr>
                        <a:t>configure terminal</a:t>
                      </a:r>
                    </a:p>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 </a:t>
                      </a:r>
                      <a:r>
                        <a:rPr lang="en-US" sz="1100" u="sng" dirty="0" err="1">
                          <a:solidFill>
                            <a:srgbClr val="FF0000"/>
                          </a:solidFill>
                          <a:effectLst/>
                        </a:rPr>
                        <a:t>ip</a:t>
                      </a:r>
                      <a:r>
                        <a:rPr lang="en-US" sz="1100" u="sng" dirty="0">
                          <a:solidFill>
                            <a:srgbClr val="FF0000"/>
                          </a:solidFill>
                          <a:effectLst/>
                        </a:rPr>
                        <a:t> domain-name</a:t>
                      </a:r>
                      <a:r>
                        <a:rPr lang="en-US" sz="1100" dirty="0">
                          <a:solidFill>
                            <a:srgbClr val="FF0000"/>
                          </a:solidFill>
                          <a:effectLst/>
                        </a:rPr>
                        <a:t> lab.com</a:t>
                      </a:r>
                      <a:endParaRPr lang="en-US" sz="1000" dirty="0">
                        <a:solidFill>
                          <a:srgbClr val="FF0000"/>
                        </a:solidFill>
                        <a:effectLs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6" name="Rectangle 5"/>
          <p:cNvSpPr/>
          <p:nvPr/>
        </p:nvSpPr>
        <p:spPr>
          <a:xfrm>
            <a:off x="6105331" y="1308500"/>
            <a:ext cx="6096000" cy="646331"/>
          </a:xfrm>
          <a:prstGeom prst="rect">
            <a:avLst/>
          </a:prstGeom>
        </p:spPr>
        <p:txBody>
          <a:bodyPr>
            <a:spAutoFit/>
          </a:bodyPr>
          <a:lstStyle/>
          <a:p>
            <a:pPr>
              <a:tabLst>
                <a:tab pos="445008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اسم النطاق هو المعلومات التي تدخلها في متصفح الويب للوصول إلى موقع ويب معين</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7" name="Rectangle 6"/>
          <p:cNvSpPr/>
          <p:nvPr/>
        </p:nvSpPr>
        <p:spPr>
          <a:xfrm>
            <a:off x="9455622" y="2979100"/>
            <a:ext cx="2571538" cy="369332"/>
          </a:xfrm>
          <a:prstGeom prst="rect">
            <a:avLst/>
          </a:prstGeom>
        </p:spPr>
        <p:txBody>
          <a:bodyPr wrap="none">
            <a:spAutoFit/>
          </a:bodyPr>
          <a:lstStyle/>
          <a:p>
            <a:r>
              <a:rPr lang="ar-SA" dirty="0">
                <a:latin typeface="Calibri" panose="020F0502020204030204" pitchFamily="34" charset="0"/>
                <a:ea typeface="Times New Roman" panose="02020603050405020304" pitchFamily="18" charset="0"/>
                <a:cs typeface="Times New Roman" panose="02020603050405020304" pitchFamily="18" charset="0"/>
              </a:rPr>
              <a:t>التشفير هو إدخالها وجعل </a:t>
            </a:r>
            <a:r>
              <a:rPr lang="en-US" dirty="0">
                <a:latin typeface="Times New Roman" panose="02020603050405020304" pitchFamily="18" charset="0"/>
                <a:ea typeface="Times New Roman" panose="02020603050405020304" pitchFamily="18" charset="0"/>
                <a:cs typeface="Times New Roman" panose="02020603050405020304" pitchFamily="18" charset="0"/>
              </a:rPr>
              <a:t>1024:</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3647389068"/>
              </p:ext>
            </p:extLst>
          </p:nvPr>
        </p:nvGraphicFramePr>
        <p:xfrm>
          <a:off x="6848714" y="3571301"/>
          <a:ext cx="5268595" cy="411480"/>
        </p:xfrm>
        <a:graphic>
          <a:graphicData uri="http://schemas.openxmlformats.org/drawingml/2006/table">
            <a:tbl>
              <a:tblPr firstRow="1" firstCol="1" bandRow="1">
                <a:tableStyleId>{5C22544A-7EE6-4342-B048-85BDC9FD1C3A}</a:tableStyleId>
              </a:tblPr>
              <a:tblGrid>
                <a:gridCol w="5268595">
                  <a:extLst>
                    <a:ext uri="{9D8B030D-6E8A-4147-A177-3AD203B41FA5}">
                      <a16:colId xmlns:a16="http://schemas.microsoft.com/office/drawing/2014/main" val="20000"/>
                    </a:ext>
                  </a:extLst>
                </a:gridCol>
              </a:tblGrid>
              <a:tr h="0">
                <a:tc>
                  <a:txBody>
                    <a:bodyPr/>
                    <a:lstStyle/>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a:solidFill>
                            <a:srgbClr val="FF0000"/>
                          </a:solidFill>
                          <a:effectLst/>
                        </a:rPr>
                        <a:t>crypto key generate </a:t>
                      </a:r>
                      <a:r>
                        <a:rPr lang="en-US" sz="1100" dirty="0" err="1">
                          <a:solidFill>
                            <a:srgbClr val="FF0000"/>
                          </a:solidFill>
                          <a:effectLst/>
                        </a:rPr>
                        <a:t>rsa</a:t>
                      </a:r>
                      <a:r>
                        <a:rPr lang="en-US" sz="1100" dirty="0">
                          <a:solidFill>
                            <a:srgbClr val="FF0000"/>
                          </a:solidFill>
                          <a:effectLst/>
                        </a:rPr>
                        <a:t> </a:t>
                      </a:r>
                      <a:endParaRPr lang="en-US" sz="1000" dirty="0">
                        <a:solidFill>
                          <a:srgbClr val="FF0000"/>
                        </a:solidFill>
                        <a:effectLst/>
                      </a:endParaRPr>
                    </a:p>
                    <a:p>
                      <a:pPr marL="0" marR="0" algn="l">
                        <a:spcBef>
                          <a:spcPts val="300"/>
                        </a:spcBef>
                        <a:spcAft>
                          <a:spcPts val="300"/>
                        </a:spcAft>
                      </a:pPr>
                      <a:r>
                        <a:rPr lang="en-US" sz="1100" dirty="0">
                          <a:solidFill>
                            <a:srgbClr val="FF0000"/>
                          </a:solidFill>
                          <a:effectLst/>
                        </a:rPr>
                        <a:t>2048</a:t>
                      </a:r>
                      <a:endParaRPr lang="en-US"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9" name="Rectangle 8"/>
          <p:cNvSpPr/>
          <p:nvPr/>
        </p:nvSpPr>
        <p:spPr>
          <a:xfrm>
            <a:off x="7051118" y="4313245"/>
            <a:ext cx="4976042" cy="369332"/>
          </a:xfrm>
          <a:prstGeom prst="rect">
            <a:avLst/>
          </a:prstGeom>
        </p:spPr>
        <p:txBody>
          <a:bodyPr wrap="none">
            <a:spAutoFit/>
          </a:bodyPr>
          <a:lstStyle/>
          <a:p>
            <a:pPr algn="r">
              <a:spcBef>
                <a:spcPts val="300"/>
              </a:spcBef>
              <a:spcAft>
                <a:spcPts val="300"/>
              </a:spcAft>
            </a:pPr>
            <a:r>
              <a:rPr lang="ar-SA" dirty="0">
                <a:latin typeface="Arial" panose="020B0604020202020204" pitchFamily="34" charset="0"/>
                <a:ea typeface="Calibri" panose="020F0502020204030204" pitchFamily="34" charset="0"/>
                <a:cs typeface="Times New Roman" panose="02020603050405020304" pitchFamily="18" charset="0"/>
              </a:rPr>
              <a:t>تكوين </a:t>
            </a:r>
            <a:r>
              <a:rPr lang="en-US" dirty="0">
                <a:latin typeface="Times New Roman" panose="02020603050405020304" pitchFamily="18" charset="0"/>
                <a:ea typeface="Calibri" panose="020F0502020204030204" pitchFamily="34" charset="0"/>
                <a:cs typeface="Times New Roman" panose="02020603050405020304" pitchFamily="18" charset="0"/>
              </a:rPr>
              <a:t>SSH </a:t>
            </a:r>
            <a:r>
              <a:rPr lang="ar-SA" dirty="0">
                <a:latin typeface="Arial" panose="020B0604020202020204" pitchFamily="34" charset="0"/>
                <a:ea typeface="Calibri" panose="020F0502020204030204" pitchFamily="34" charset="0"/>
                <a:cs typeface="Times New Roman" panose="02020603050405020304" pitchFamily="18" charset="0"/>
              </a:rPr>
              <a:t>الإصدار </a:t>
            </a:r>
            <a:r>
              <a:rPr lang="en-US" dirty="0">
                <a:latin typeface="Arial" panose="020B0604020202020204" pitchFamily="34" charset="0"/>
                <a:ea typeface="Calibri" panose="020F0502020204030204" pitchFamily="34" charset="0"/>
                <a:cs typeface="Times New Roman" panose="02020603050405020304" pitchFamily="18" charset="0"/>
              </a:rPr>
              <a:t> ) </a:t>
            </a:r>
            <a:r>
              <a:rPr lang="ar-SA" dirty="0">
                <a:latin typeface="Times New Roman" panose="02020603050405020304" pitchFamily="18" charset="0"/>
                <a:ea typeface="Calibri" panose="020F0502020204030204" pitchFamily="34" charset="0"/>
                <a:cs typeface="Times New Roman" panose="02020603050405020304" pitchFamily="18" charset="0"/>
              </a:rPr>
              <a:t>2</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ar-SA" dirty="0">
                <a:latin typeface="Arial" panose="020B0604020202020204" pitchFamily="34" charset="0"/>
                <a:ea typeface="Calibri" panose="020F0502020204030204" pitchFamily="34" charset="0"/>
                <a:cs typeface="Times New Roman" panose="02020603050405020304" pitchFamily="18" charset="0"/>
              </a:rPr>
              <a:t>وهذا سوف تعطيل </a:t>
            </a:r>
            <a:r>
              <a:rPr lang="en-US" dirty="0">
                <a:latin typeface="Times New Roman" panose="02020603050405020304" pitchFamily="18" charset="0"/>
                <a:ea typeface="Calibri" panose="020F0502020204030204" pitchFamily="34" charset="0"/>
                <a:cs typeface="Times New Roman" panose="02020603050405020304" pitchFamily="18" charset="0"/>
              </a:rPr>
              <a:t>SSH </a:t>
            </a:r>
            <a:r>
              <a:rPr lang="ar-SA" dirty="0">
                <a:latin typeface="Arial" panose="020B0604020202020204" pitchFamily="34" charset="0"/>
                <a:ea typeface="Calibri" panose="020F0502020204030204" pitchFamily="34" charset="0"/>
                <a:cs typeface="Times New Roman" panose="02020603050405020304" pitchFamily="18" charset="0"/>
              </a:rPr>
              <a:t>الإصدار</a:t>
            </a:r>
            <a:r>
              <a:rPr lang="en-US" dirty="0">
                <a:latin typeface="Arial" panose="020B0604020202020204" pitchFamily="34" charset="0"/>
                <a:ea typeface="Calibri" panose="020F0502020204030204" pitchFamily="34" charset="0"/>
                <a:cs typeface="Times New Roman" panose="02020603050405020304" pitchFamily="18" charset="0"/>
              </a:rPr>
              <a:t>(1</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311587190"/>
              </p:ext>
            </p:extLst>
          </p:nvPr>
        </p:nvGraphicFramePr>
        <p:xfrm>
          <a:off x="6839339" y="4975271"/>
          <a:ext cx="5286818" cy="328576"/>
        </p:xfrm>
        <a:graphic>
          <a:graphicData uri="http://schemas.openxmlformats.org/drawingml/2006/table">
            <a:tbl>
              <a:tblPr firstRow="1" firstCol="1" bandRow="1">
                <a:tableStyleId>{5C22544A-7EE6-4342-B048-85BDC9FD1C3A}</a:tableStyleId>
              </a:tblPr>
              <a:tblGrid>
                <a:gridCol w="5286818">
                  <a:extLst>
                    <a:ext uri="{9D8B030D-6E8A-4147-A177-3AD203B41FA5}">
                      <a16:colId xmlns:a16="http://schemas.microsoft.com/office/drawing/2014/main" val="20000"/>
                    </a:ext>
                  </a:extLst>
                </a:gridCol>
              </a:tblGrid>
              <a:tr h="328576">
                <a:tc>
                  <a:txBody>
                    <a:bodyPr/>
                    <a:lstStyle/>
                    <a:p>
                      <a:pPr marL="0" marR="0" algn="l" rtl="0">
                        <a:spcBef>
                          <a:spcPts val="300"/>
                        </a:spcBef>
                        <a:spcAft>
                          <a:spcPts val="300"/>
                        </a:spcAft>
                        <a:tabLst>
                          <a:tab pos="3550920" algn="l"/>
                        </a:tabLs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err="1">
                          <a:solidFill>
                            <a:srgbClr val="FF0000"/>
                          </a:solidFill>
                          <a:effectLst/>
                        </a:rPr>
                        <a:t>ip</a:t>
                      </a:r>
                      <a:r>
                        <a:rPr lang="en-US" sz="1100" dirty="0">
                          <a:solidFill>
                            <a:srgbClr val="FF0000"/>
                          </a:solidFill>
                          <a:effectLst/>
                        </a:rPr>
                        <a:t> </a:t>
                      </a:r>
                      <a:r>
                        <a:rPr lang="en-US" sz="1100" dirty="0" err="1">
                          <a:solidFill>
                            <a:srgbClr val="FF0000"/>
                          </a:solidFill>
                          <a:effectLst/>
                        </a:rPr>
                        <a:t>ssh</a:t>
                      </a:r>
                      <a:r>
                        <a:rPr lang="en-US" sz="1100" dirty="0">
                          <a:solidFill>
                            <a:srgbClr val="FF0000"/>
                          </a:solidFill>
                          <a:effectLst/>
                        </a:rPr>
                        <a:t> v 2</a:t>
                      </a:r>
                      <a:r>
                        <a:rPr lang="en-US" sz="1100" dirty="0">
                          <a:solidFill>
                            <a:schemeClr val="tx1"/>
                          </a:solidFill>
                          <a:effectLst/>
                        </a:rPr>
                        <a:t>	</a:t>
                      </a:r>
                      <a:endParaRPr lang="en-US" sz="1000" dirty="0">
                        <a:solidFill>
                          <a:schemeClr val="tx1"/>
                        </a:solidFill>
                        <a:effectLs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12" name="Rectangle 11"/>
          <p:cNvSpPr/>
          <p:nvPr/>
        </p:nvSpPr>
        <p:spPr>
          <a:xfrm>
            <a:off x="7924690" y="5647390"/>
            <a:ext cx="4102470" cy="369332"/>
          </a:xfrm>
          <a:prstGeom prst="rect">
            <a:avLst/>
          </a:prstGeom>
        </p:spPr>
        <p:txBody>
          <a:bodyPr wrap="none">
            <a:spAutoFit/>
          </a:bodyPr>
          <a:lstStyle/>
          <a:p>
            <a:pPr>
              <a:spcBef>
                <a:spcPts val="300"/>
              </a:spcBef>
              <a:spcAft>
                <a:spcPts val="300"/>
              </a:spcAft>
            </a:pPr>
            <a:r>
              <a:rPr lang="ar-SA" dirty="0">
                <a:latin typeface="Arial" panose="020B0604020202020204" pitchFamily="34" charset="0"/>
                <a:ea typeface="Calibri" panose="020F0502020204030204" pitchFamily="34" charset="0"/>
                <a:cs typeface="Times New Roman" panose="02020603050405020304" pitchFamily="18" charset="0"/>
              </a:rPr>
              <a:t>يتم تمكين طراز </a:t>
            </a:r>
            <a:r>
              <a:rPr lang="en-US" dirty="0">
                <a:latin typeface="Times New Roman" panose="02020603050405020304" pitchFamily="18" charset="0"/>
                <a:ea typeface="Calibri" panose="020F0502020204030204" pitchFamily="34" charset="0"/>
                <a:cs typeface="Times New Roman" panose="02020603050405020304" pitchFamily="18" charset="0"/>
              </a:rPr>
              <a:t>AAA </a:t>
            </a:r>
            <a:r>
              <a:rPr lang="ar-SA" dirty="0">
                <a:latin typeface="Arial" panose="020B0604020202020204" pitchFamily="34" charset="0"/>
                <a:ea typeface="Calibri" panose="020F0502020204030204" pitchFamily="34" charset="0"/>
                <a:cs typeface="Times New Roman" panose="02020603050405020304" pitchFamily="18" charset="0"/>
              </a:rPr>
              <a:t>الجديد للمصادقة مع أمر واحد</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3348240966"/>
              </p:ext>
            </p:extLst>
          </p:nvPr>
        </p:nvGraphicFramePr>
        <p:xfrm>
          <a:off x="6867331" y="6156197"/>
          <a:ext cx="5259355" cy="356569"/>
        </p:xfrm>
        <a:graphic>
          <a:graphicData uri="http://schemas.openxmlformats.org/drawingml/2006/table">
            <a:tbl>
              <a:tblPr firstRow="1" firstCol="1" bandRow="1">
                <a:tableStyleId>{5C22544A-7EE6-4342-B048-85BDC9FD1C3A}</a:tableStyleId>
              </a:tblPr>
              <a:tblGrid>
                <a:gridCol w="5259355">
                  <a:extLst>
                    <a:ext uri="{9D8B030D-6E8A-4147-A177-3AD203B41FA5}">
                      <a16:colId xmlns:a16="http://schemas.microsoft.com/office/drawing/2014/main" val="20000"/>
                    </a:ext>
                  </a:extLst>
                </a:gridCol>
              </a:tblGrid>
              <a:tr h="356569">
                <a:tc>
                  <a:txBody>
                    <a:bodyPr/>
                    <a:lstStyle/>
                    <a:p>
                      <a:pPr marL="0" marR="0" algn="l" rtl="0">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err="1">
                          <a:solidFill>
                            <a:srgbClr val="FF0000"/>
                          </a:solidFill>
                          <a:effectLst/>
                        </a:rPr>
                        <a:t>aaa</a:t>
                      </a:r>
                      <a:r>
                        <a:rPr lang="en-US" sz="1100" dirty="0">
                          <a:solidFill>
                            <a:srgbClr val="FF0000"/>
                          </a:solidFill>
                          <a:effectLst/>
                        </a:rPr>
                        <a:t> new</a:t>
                      </a:r>
                      <a:r>
                        <a:rPr lang="ar-SA" sz="1100" baseline="0" dirty="0">
                          <a:solidFill>
                            <a:srgbClr val="FF0000"/>
                          </a:solidFill>
                          <a:effectLst/>
                        </a:rPr>
                        <a:t> </a:t>
                      </a:r>
                      <a:r>
                        <a:rPr lang="en-US" sz="1100" dirty="0">
                          <a:solidFill>
                            <a:srgbClr val="FF0000"/>
                          </a:solidFill>
                          <a:effectLst/>
                        </a:rPr>
                        <a:t>model </a:t>
                      </a:r>
                      <a:endParaRPr lang="en-US" sz="1000" dirty="0">
                        <a:solidFill>
                          <a:srgbClr val="FF0000"/>
                        </a:solidFill>
                        <a:effectLs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14" name="Rectangle 13"/>
          <p:cNvSpPr/>
          <p:nvPr/>
        </p:nvSpPr>
        <p:spPr>
          <a:xfrm>
            <a:off x="-164840" y="222675"/>
            <a:ext cx="6096000" cy="1000274"/>
          </a:xfrm>
          <a:prstGeom prst="rect">
            <a:avLst/>
          </a:prstGeom>
        </p:spPr>
        <p:txBody>
          <a:bodyPr>
            <a:spAutoFit/>
          </a:bodyPr>
          <a:lstStyle/>
          <a:p>
            <a:pPr>
              <a:spcBef>
                <a:spcPts val="300"/>
              </a:spcBef>
              <a:spcAft>
                <a:spcPts val="300"/>
              </a:spcAft>
            </a:pPr>
            <a:r>
              <a:rPr lang="ar-SA" dirty="0">
                <a:latin typeface="Arial" panose="020B0604020202020204" pitchFamily="34" charset="0"/>
                <a:ea typeface="Calibri" panose="020F0502020204030204" pitchFamily="34" charset="0"/>
                <a:cs typeface="Times New Roman" panose="02020603050405020304" pitchFamily="18" charset="0"/>
              </a:rPr>
              <a:t>لمصادقة المستخدمين الذين يريدون الوصول إلى </a:t>
            </a:r>
            <a:r>
              <a:rPr lang="en-US" dirty="0">
                <a:latin typeface="Arial" panose="020B0604020202020204" pitchFamily="34" charset="0"/>
                <a:ea typeface="Calibri" panose="020F0502020204030204" pitchFamily="34" charset="0"/>
                <a:cs typeface="Times New Roman" panose="02020603050405020304" pitchFamily="18" charset="0"/>
              </a:rPr>
              <a:t> </a:t>
            </a:r>
            <a:r>
              <a:rPr lang="en-US" dirty="0">
                <a:latin typeface="Times New Roman" panose="02020603050405020304" pitchFamily="18" charset="0"/>
                <a:ea typeface="Calibri" panose="020F0502020204030204" pitchFamily="34" charset="0"/>
                <a:cs typeface="Times New Roman" panose="02020603050405020304" pitchFamily="18" charset="0"/>
              </a:rPr>
              <a:t>exec </a:t>
            </a:r>
            <a:r>
              <a:rPr lang="ar-SA" dirty="0">
                <a:latin typeface="Arial" panose="020B0604020202020204" pitchFamily="34" charset="0"/>
                <a:ea typeface="Calibri" panose="020F0502020204030204" pitchFamily="34" charset="0"/>
                <a:cs typeface="Times New Roman" panose="02020603050405020304" pitchFamily="18" charset="0"/>
              </a:rPr>
              <a:t>في خادم الوصول</a:t>
            </a:r>
          </a:p>
          <a:p>
            <a:pPr>
              <a:spcBef>
                <a:spcPts val="300"/>
              </a:spcBef>
              <a:spcAft>
                <a:spcPts val="300"/>
              </a:spcAft>
            </a:pPr>
            <a:r>
              <a:rPr lang="ar-SA" dirty="0">
                <a:latin typeface="Arial" panose="020B0604020202020204" pitchFamily="34"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tty</a:t>
            </a:r>
            <a:r>
              <a:rPr lang="en-US" dirty="0">
                <a:latin typeface="Times New Roman" panose="02020603050405020304" pitchFamily="18" charset="0"/>
                <a:ea typeface="Calibri" panose="020F0502020204030204" pitchFamily="34" charset="0"/>
                <a:cs typeface="Times New Roman" panose="02020603050405020304" pitchFamily="18" charset="0"/>
              </a:rPr>
              <a:t>)</a:t>
            </a:r>
            <a:r>
              <a:rPr lang="ar-SA" dirty="0">
                <a:latin typeface="Arial" panose="020B0604020202020204" pitchFamily="34"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vty</a:t>
            </a:r>
            <a:r>
              <a:rPr lang="ar-SA" dirty="0">
                <a:latin typeface="Arial" panose="020B0604020202020204" pitchFamily="34" charset="0"/>
                <a:ea typeface="Calibri" panose="020F0502020204030204" pitchFamily="34" charset="0"/>
                <a:cs typeface="Times New Roman" panose="02020603050405020304" pitchFamily="18" charset="0"/>
              </a:rPr>
              <a:t>، وحدة التحكم و </a:t>
            </a:r>
            <a:r>
              <a:rPr lang="en-US" dirty="0">
                <a:latin typeface="Times New Roman" panose="02020603050405020304" pitchFamily="18" charset="0"/>
                <a:ea typeface="Calibri" panose="020F0502020204030204" pitchFamily="34" charset="0"/>
                <a:cs typeface="Times New Roman" panose="02020603050405020304" pitchFamily="18" charset="0"/>
              </a:rPr>
              <a:t>aux</a:t>
            </a:r>
            <a:r>
              <a:rPr lang="ar-SA" dirty="0">
                <a:latin typeface="Times New Roman" panose="02020603050405020304" pitchFamily="18" charset="0"/>
                <a:ea typeface="Calibri" panose="020F0502020204030204" pitchFamily="34" charset="0"/>
                <a:cs typeface="Times New Roman" panose="02020603050405020304" pitchFamily="18" charset="0"/>
              </a:rPr>
              <a:t>)</a:t>
            </a:r>
            <a:r>
              <a:rPr lang="ar-SA" dirty="0">
                <a:latin typeface="Arial" panose="020B0604020202020204" pitchFamily="34" charset="0"/>
                <a:ea typeface="Calibri" panose="020F0502020204030204" pitchFamily="34" charset="0"/>
                <a:cs typeface="Times New Roman" panose="02020603050405020304" pitchFamily="18" charset="0"/>
              </a:rPr>
              <a:t>، والقائمة المسماة هي الافتراضية </a:t>
            </a:r>
            <a:r>
              <a:rPr lang="ar-SA" dirty="0">
                <a:latin typeface="Times New Roman" panose="02020603050405020304" pitchFamily="18" charset="0"/>
                <a:ea typeface="Calibri" panose="020F0502020204030204" pitchFamily="34" charset="0"/>
                <a:cs typeface="Times New Roman" panose="02020603050405020304" pitchFamily="18" charset="0"/>
              </a:rPr>
              <a:t>(</a:t>
            </a:r>
            <a:r>
              <a:rPr lang="ar-SA" dirty="0">
                <a:latin typeface="Arial" panose="020B0604020202020204" pitchFamily="34" charset="0"/>
                <a:ea typeface="Calibri" panose="020F0502020204030204" pitchFamily="34" charset="0"/>
                <a:cs typeface="Times New Roman" panose="02020603050405020304" pitchFamily="18" charset="0"/>
              </a:rPr>
              <a:t>افتراضي</a:t>
            </a:r>
            <a:r>
              <a:rPr lang="ar-SA" dirty="0">
                <a:latin typeface="Times New Roman" panose="02020603050405020304" pitchFamily="18" charset="0"/>
                <a:ea typeface="Calibri" panose="020F0502020204030204" pitchFamily="34" charset="0"/>
                <a:cs typeface="Times New Roman" panose="02020603050405020304" pitchFamily="18" charset="0"/>
              </a:rPr>
              <a:t>)</a:t>
            </a:r>
            <a:r>
              <a:rPr lang="ar-SA" dirty="0">
                <a:latin typeface="Arial" panose="020B0604020202020204" pitchFamily="34" charset="0"/>
                <a:ea typeface="Calibri" panose="020F0502020204030204" pitchFamily="34" charset="0"/>
                <a:cs typeface="Times New Roman" panose="02020603050405020304" pitchFamily="18" charset="0"/>
              </a:rPr>
              <a:t>، وهناك طريقتان المصادقة </a:t>
            </a:r>
            <a:r>
              <a:rPr lang="ar-SA" dirty="0">
                <a:latin typeface="Times New Roman" panose="02020603050405020304" pitchFamily="18" charset="0"/>
                <a:ea typeface="Calibri" panose="020F0502020204030204" pitchFamily="34" charset="0"/>
                <a:cs typeface="Times New Roman" panose="02020603050405020304" pitchFamily="18" charset="0"/>
              </a:rPr>
              <a:t>(</a:t>
            </a:r>
            <a:r>
              <a:rPr lang="ar-SA" dirty="0">
                <a:latin typeface="Arial" panose="020B0604020202020204" pitchFamily="34" charset="0"/>
                <a:ea typeface="Calibri" panose="020F0502020204030204" pitchFamily="34" charset="0"/>
                <a:cs typeface="Times New Roman" panose="02020603050405020304" pitchFamily="18" charset="0"/>
              </a:rPr>
              <a:t>نصف قطر المجموعة والمحلية)</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1082395255"/>
              </p:ext>
            </p:extLst>
          </p:nvPr>
        </p:nvGraphicFramePr>
        <p:xfrm>
          <a:off x="308165" y="1308500"/>
          <a:ext cx="5249979" cy="337129"/>
        </p:xfrm>
        <a:graphic>
          <a:graphicData uri="http://schemas.openxmlformats.org/drawingml/2006/table">
            <a:tbl>
              <a:tblPr firstRow="1" firstCol="1" bandRow="1">
                <a:tableStyleId>{5C22544A-7EE6-4342-B048-85BDC9FD1C3A}</a:tableStyleId>
              </a:tblPr>
              <a:tblGrid>
                <a:gridCol w="5249979">
                  <a:extLst>
                    <a:ext uri="{9D8B030D-6E8A-4147-A177-3AD203B41FA5}">
                      <a16:colId xmlns:a16="http://schemas.microsoft.com/office/drawing/2014/main" val="20000"/>
                    </a:ext>
                  </a:extLst>
                </a:gridCol>
              </a:tblGrid>
              <a:tr h="337129">
                <a:tc>
                  <a:txBody>
                    <a:bodyPr/>
                    <a:lstStyle/>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err="1">
                          <a:solidFill>
                            <a:srgbClr val="FF0000"/>
                          </a:solidFill>
                          <a:effectLst/>
                        </a:rPr>
                        <a:t>aaa</a:t>
                      </a:r>
                      <a:r>
                        <a:rPr lang="en-US" sz="1100" dirty="0">
                          <a:solidFill>
                            <a:srgbClr val="FF0000"/>
                          </a:solidFill>
                          <a:effectLst/>
                        </a:rPr>
                        <a:t> authentication login default group radius local</a:t>
                      </a:r>
                      <a:r>
                        <a:rPr lang="en-US" sz="1100" dirty="0">
                          <a:solidFill>
                            <a:schemeClr val="tx1"/>
                          </a:solidFill>
                          <a:effectLst/>
                        </a:rPr>
                        <a:t>                                          </a:t>
                      </a:r>
                      <a:endParaRPr lang="en-US" sz="1000" dirty="0">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16" name="Rectangle 15"/>
          <p:cNvSpPr/>
          <p:nvPr/>
        </p:nvSpPr>
        <p:spPr>
          <a:xfrm>
            <a:off x="2600379" y="2333594"/>
            <a:ext cx="2961067" cy="369332"/>
          </a:xfrm>
          <a:prstGeom prst="rect">
            <a:avLst/>
          </a:prstGeom>
        </p:spPr>
        <p:txBody>
          <a:bodyPr wrap="none">
            <a:spAutoFit/>
          </a:bodyPr>
          <a:lstStyle/>
          <a:p>
            <a:pPr>
              <a:spcBef>
                <a:spcPts val="300"/>
              </a:spcBef>
              <a:spcAft>
                <a:spcPts val="300"/>
              </a:spcAft>
            </a:pPr>
            <a:r>
              <a:rPr lang="ar-SA" dirty="0">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192.168.1.3</a:t>
            </a:r>
            <a:r>
              <a:rPr lang="ar-SA" dirty="0">
                <a:latin typeface="Calibri" panose="020F0502020204030204" pitchFamily="34" charset="0"/>
                <a:ea typeface="Calibri" panose="020F0502020204030204" pitchFamily="34" charset="0"/>
                <a:cs typeface="Times New Roman" panose="02020603050405020304" pitchFamily="18" charset="0"/>
              </a:rPr>
              <a:t> </a:t>
            </a:r>
            <a:r>
              <a:rPr lang="ar-SA" dirty="0">
                <a:latin typeface="Arial" panose="020B0604020202020204" pitchFamily="34" charset="0"/>
                <a:ea typeface="Calibri" panose="020F0502020204030204" pitchFamily="34" charset="0"/>
                <a:cs typeface="Calibri" panose="020F0502020204030204" pitchFamily="34" charset="0"/>
              </a:rPr>
              <a:t>عنوان </a:t>
            </a:r>
            <a:r>
              <a:rPr lang="en-US" dirty="0">
                <a:latin typeface="Calibri" panose="020F0502020204030204" pitchFamily="34" charset="0"/>
                <a:ea typeface="Calibri" panose="020F0502020204030204" pitchFamily="34" charset="0"/>
                <a:cs typeface="Times New Roman" panose="02020603050405020304" pitchFamily="18" charset="0"/>
              </a:rPr>
              <a:t> IP RADIUS</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7" name="Table 16"/>
          <p:cNvGraphicFramePr>
            <a:graphicFrameLocks noGrp="1"/>
          </p:cNvGraphicFramePr>
          <p:nvPr>
            <p:extLst>
              <p:ext uri="{D42A27DB-BD31-4B8C-83A1-F6EECF244321}">
                <p14:modId xmlns:p14="http://schemas.microsoft.com/office/powerpoint/2010/main" val="935871790"/>
              </p:ext>
            </p:extLst>
          </p:nvPr>
        </p:nvGraphicFramePr>
        <p:xfrm>
          <a:off x="270633" y="2692829"/>
          <a:ext cx="5268595" cy="167640"/>
        </p:xfrm>
        <a:graphic>
          <a:graphicData uri="http://schemas.openxmlformats.org/drawingml/2006/table">
            <a:tbl>
              <a:tblPr firstRow="1" firstCol="1" bandRow="1">
                <a:tableStyleId>{5C22544A-7EE6-4342-B048-85BDC9FD1C3A}</a:tableStyleId>
              </a:tblPr>
              <a:tblGrid>
                <a:gridCol w="5268595">
                  <a:extLst>
                    <a:ext uri="{9D8B030D-6E8A-4147-A177-3AD203B41FA5}">
                      <a16:colId xmlns:a16="http://schemas.microsoft.com/office/drawing/2014/main" val="20000"/>
                    </a:ext>
                  </a:extLst>
                </a:gridCol>
              </a:tblGrid>
              <a:tr h="0">
                <a:tc>
                  <a:txBody>
                    <a:bodyPr/>
                    <a:lstStyle/>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a:solidFill>
                            <a:srgbClr val="FF0000"/>
                          </a:solidFill>
                          <a:effectLst/>
                        </a:rPr>
                        <a:t>radius-server host 192.168.1.3  </a:t>
                      </a:r>
                      <a:endParaRPr lang="en-US" sz="1000" dirty="0">
                        <a:solidFill>
                          <a:srgbClr val="FF0000"/>
                        </a:solidFill>
                        <a:effectLs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18" name="Rectangle 17"/>
          <p:cNvSpPr/>
          <p:nvPr/>
        </p:nvSpPr>
        <p:spPr>
          <a:xfrm>
            <a:off x="3698436" y="3824847"/>
            <a:ext cx="1863010" cy="369332"/>
          </a:xfrm>
          <a:prstGeom prst="rect">
            <a:avLst/>
          </a:prstGeom>
        </p:spPr>
        <p:txBody>
          <a:bodyPr wrap="none">
            <a:spAutoFit/>
          </a:bodyPr>
          <a:lstStyle/>
          <a:p>
            <a:pPr>
              <a:spcBef>
                <a:spcPts val="300"/>
              </a:spcBef>
              <a:spcAft>
                <a:spcPts val="300"/>
              </a:spcAft>
            </a:pPr>
            <a:r>
              <a:rPr lang="en-US" dirty="0">
                <a:latin typeface="Times New Roman" panose="02020603050405020304" pitchFamily="18" charset="0"/>
                <a:ea typeface="Calibri" panose="020F0502020204030204" pitchFamily="34" charset="0"/>
                <a:cs typeface="Times New Roman" panose="02020603050405020304" pitchFamily="18" charset="0"/>
              </a:rPr>
              <a:t>20369 </a:t>
            </a:r>
            <a:r>
              <a:rPr lang="ar-SA" dirty="0">
                <a:latin typeface="Arial" panose="020B0604020202020204" pitchFamily="34" charset="0"/>
                <a:ea typeface="Calibri" panose="020F0502020204030204" pitchFamily="34" charset="0"/>
                <a:cs typeface="Times New Roman" panose="02020603050405020304" pitchFamily="18" charset="0"/>
              </a:rPr>
              <a:t>هو مفتاح </a:t>
            </a:r>
            <a:r>
              <a:rPr lang="en-US" dirty="0">
                <a:latin typeface="Times New Roman" panose="02020603050405020304" pitchFamily="18" charset="0"/>
                <a:ea typeface="Calibri" panose="020F0502020204030204" pitchFamily="34" charset="0"/>
                <a:cs typeface="Times New Roman" panose="02020603050405020304" pitchFamily="18" charset="0"/>
              </a:rPr>
              <a:t>R1:</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4194031936"/>
              </p:ext>
            </p:extLst>
          </p:nvPr>
        </p:nvGraphicFramePr>
        <p:xfrm>
          <a:off x="292851" y="4378959"/>
          <a:ext cx="5268595" cy="167640"/>
        </p:xfrm>
        <a:graphic>
          <a:graphicData uri="http://schemas.openxmlformats.org/drawingml/2006/table">
            <a:tbl>
              <a:tblPr firstRow="1" firstCol="1" bandRow="1">
                <a:tableStyleId>{5C22544A-7EE6-4342-B048-85BDC9FD1C3A}</a:tableStyleId>
              </a:tblPr>
              <a:tblGrid>
                <a:gridCol w="5268595">
                  <a:extLst>
                    <a:ext uri="{9D8B030D-6E8A-4147-A177-3AD203B41FA5}">
                      <a16:colId xmlns:a16="http://schemas.microsoft.com/office/drawing/2014/main" val="20000"/>
                    </a:ext>
                  </a:extLst>
                </a:gridCol>
              </a:tblGrid>
              <a:tr h="0">
                <a:tc>
                  <a:txBody>
                    <a:bodyPr/>
                    <a:lstStyle/>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 </a:t>
                      </a:r>
                      <a:r>
                        <a:rPr lang="en-US" sz="1100" dirty="0">
                          <a:solidFill>
                            <a:srgbClr val="FF0000"/>
                          </a:solidFill>
                          <a:effectLst/>
                        </a:rPr>
                        <a:t>radius-server  key 20396</a:t>
                      </a:r>
                      <a:endParaRPr lang="en-US"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20" name="Rectangle 19"/>
          <p:cNvSpPr/>
          <p:nvPr/>
        </p:nvSpPr>
        <p:spPr>
          <a:xfrm>
            <a:off x="-81421" y="5308835"/>
            <a:ext cx="6029151" cy="369332"/>
          </a:xfrm>
          <a:prstGeom prst="rect">
            <a:avLst/>
          </a:prstGeom>
        </p:spPr>
        <p:txBody>
          <a:bodyPr wrap="none">
            <a:spAutoFit/>
          </a:bodyPr>
          <a:lstStyle/>
          <a:p>
            <a:pPr>
              <a:spcBef>
                <a:spcPts val="300"/>
              </a:spcBef>
              <a:spcAft>
                <a:spcPts val="300"/>
              </a:spcAft>
            </a:pPr>
            <a:r>
              <a:rPr lang="ar-SA" dirty="0">
                <a:latin typeface="Arial" panose="020B0604020202020204" pitchFamily="34" charset="0"/>
                <a:ea typeface="Calibri" panose="020F0502020204030204" pitchFamily="34" charset="0"/>
                <a:cs typeface="Times New Roman" panose="02020603050405020304" pitchFamily="18" charset="0"/>
              </a:rPr>
              <a:t>هو منفذ الظاهري وتستخدم للحصول على </a:t>
            </a:r>
            <a:r>
              <a:rPr lang="en-US" dirty="0">
                <a:latin typeface="Times New Roman" panose="02020603050405020304" pitchFamily="18" charset="0"/>
                <a:ea typeface="Calibri" panose="020F0502020204030204" pitchFamily="34" charset="0"/>
                <a:cs typeface="Times New Roman" panose="02020603050405020304" pitchFamily="18" charset="0"/>
              </a:rPr>
              <a:t>Telnet </a:t>
            </a:r>
            <a:r>
              <a:rPr lang="ar-SA" dirty="0">
                <a:latin typeface="Arial" panose="020B0604020202020204" pitchFamily="34" charset="0"/>
                <a:ea typeface="Calibri" panose="020F0502020204030204" pitchFamily="34" charset="0"/>
                <a:cs typeface="Times New Roman" panose="02020603050405020304" pitchFamily="18" charset="0"/>
              </a:rPr>
              <a:t>أو </a:t>
            </a:r>
            <a:r>
              <a:rPr lang="en-US" dirty="0">
                <a:latin typeface="Times New Roman" panose="02020603050405020304" pitchFamily="18" charset="0"/>
                <a:ea typeface="Calibri" panose="020F0502020204030204" pitchFamily="34" charset="0"/>
                <a:cs typeface="Times New Roman" panose="02020603050405020304" pitchFamily="18" charset="0"/>
              </a:rPr>
              <a:t>SSH </a:t>
            </a:r>
            <a:r>
              <a:rPr lang="ar-SA" dirty="0">
                <a:latin typeface="Arial" panose="020B0604020202020204" pitchFamily="34" charset="0"/>
                <a:ea typeface="Calibri" panose="020F0502020204030204" pitchFamily="34" charset="0"/>
                <a:cs typeface="Times New Roman" panose="02020603050405020304" pitchFamily="18" charset="0"/>
              </a:rPr>
              <a:t>الوصول إلى الجهاز</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21" name="Table 20"/>
          <p:cNvGraphicFramePr>
            <a:graphicFrameLocks noGrp="1"/>
          </p:cNvGraphicFramePr>
          <p:nvPr>
            <p:extLst>
              <p:ext uri="{D42A27DB-BD31-4B8C-83A1-F6EECF244321}">
                <p14:modId xmlns:p14="http://schemas.microsoft.com/office/powerpoint/2010/main" val="1535440070"/>
              </p:ext>
            </p:extLst>
          </p:nvPr>
        </p:nvGraphicFramePr>
        <p:xfrm>
          <a:off x="90535" y="5810966"/>
          <a:ext cx="5604203" cy="167640"/>
        </p:xfrm>
        <a:graphic>
          <a:graphicData uri="http://schemas.openxmlformats.org/drawingml/2006/table">
            <a:tbl>
              <a:tblPr firstRow="1" firstCol="1" bandRow="1">
                <a:tableStyleId>{5C22544A-7EE6-4342-B048-85BDC9FD1C3A}</a:tableStyleId>
              </a:tblPr>
              <a:tblGrid>
                <a:gridCol w="5604203">
                  <a:extLst>
                    <a:ext uri="{9D8B030D-6E8A-4147-A177-3AD203B41FA5}">
                      <a16:colId xmlns:a16="http://schemas.microsoft.com/office/drawing/2014/main" val="20000"/>
                    </a:ext>
                  </a:extLst>
                </a:gridCol>
              </a:tblGrid>
              <a:tr h="0">
                <a:tc>
                  <a:txBody>
                    <a:bodyPr/>
                    <a:lstStyle/>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 </a:t>
                      </a:r>
                      <a:r>
                        <a:rPr lang="en-US" sz="1100" dirty="0">
                          <a:solidFill>
                            <a:srgbClr val="FF0000"/>
                          </a:solidFill>
                          <a:effectLst/>
                        </a:rPr>
                        <a:t>line </a:t>
                      </a:r>
                      <a:r>
                        <a:rPr lang="en-US" sz="1100" dirty="0" err="1">
                          <a:solidFill>
                            <a:srgbClr val="FF0000"/>
                          </a:solidFill>
                          <a:effectLst/>
                        </a:rPr>
                        <a:t>vty</a:t>
                      </a:r>
                      <a:r>
                        <a:rPr lang="en-US" sz="1100" dirty="0">
                          <a:solidFill>
                            <a:srgbClr val="FF0000"/>
                          </a:solidFill>
                          <a:effectLst/>
                        </a:rPr>
                        <a:t> 0 9 </a:t>
                      </a:r>
                      <a:endParaRPr lang="en-US" sz="1000" dirty="0">
                        <a:solidFill>
                          <a:srgbClr val="FF0000"/>
                        </a:solidFill>
                        <a:effectLs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22" name="Rectangle 21"/>
          <p:cNvSpPr/>
          <p:nvPr/>
        </p:nvSpPr>
        <p:spPr>
          <a:xfrm>
            <a:off x="6105331" y="-208212"/>
            <a:ext cx="6096000" cy="584775"/>
          </a:xfrm>
          <a:prstGeom prst="rect">
            <a:avLst/>
          </a:prstGeom>
        </p:spPr>
        <p:txBody>
          <a:bodyPr>
            <a:spAutoFit/>
          </a:bodyPr>
          <a:lstStyle/>
          <a:p>
            <a:r>
              <a:rPr lang="ar-SA" sz="20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en-US"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p:txBody>
      </p:sp>
      <p:sp>
        <p:nvSpPr>
          <p:cNvPr id="23" name="مربع نص 22">
            <a:extLst>
              <a:ext uri="{FF2B5EF4-FFF2-40B4-BE49-F238E27FC236}">
                <a16:creationId xmlns:a16="http://schemas.microsoft.com/office/drawing/2014/main" id="{5CDEA49A-3DFB-452E-AA04-36553EA33EEF}"/>
              </a:ext>
            </a:extLst>
          </p:cNvPr>
          <p:cNvSpPr txBox="1"/>
          <p:nvPr/>
        </p:nvSpPr>
        <p:spPr>
          <a:xfrm>
            <a:off x="2933155" y="6542557"/>
            <a:ext cx="6220176"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29</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5771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996473" y="0"/>
            <a:ext cx="6096000" cy="584775"/>
          </a:xfrm>
          <a:prstGeom prst="rect">
            <a:avLst/>
          </a:prstGeom>
        </p:spPr>
        <p:txBody>
          <a:bodyPr>
            <a:spAutoFit/>
          </a:bodyPr>
          <a:lstStyle/>
          <a:p>
            <a:r>
              <a:rPr lang="ar-SA" sz="20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en-US"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Rectangle 4"/>
          <p:cNvSpPr/>
          <p:nvPr/>
        </p:nvSpPr>
        <p:spPr>
          <a:xfrm>
            <a:off x="7597025" y="1408766"/>
            <a:ext cx="3921266" cy="461665"/>
          </a:xfrm>
          <a:prstGeom prst="rect">
            <a:avLst/>
          </a:prstGeom>
        </p:spPr>
        <p:txBody>
          <a:bodyPr wrap="none">
            <a:spAutoFit/>
          </a:bodyPr>
          <a:lstStyle/>
          <a:p>
            <a:r>
              <a:rPr lang="ar-SA" sz="2400" dirty="0">
                <a:latin typeface="Times New Roman" panose="02020603050405020304" pitchFamily="18" charset="0"/>
                <a:ea typeface="Times New Roman" panose="02020603050405020304" pitchFamily="18" charset="0"/>
                <a:cs typeface="+mj-cs"/>
              </a:rPr>
              <a:t>المصادقة:</a:t>
            </a:r>
            <a:r>
              <a:rPr lang="ar-SA" sz="1400" dirty="0">
                <a:latin typeface="Times New Roman" panose="02020603050405020304" pitchFamily="18" charset="0"/>
                <a:ea typeface="Times New Roman" panose="02020603050405020304" pitchFamily="18" charset="0"/>
                <a:cs typeface="+mj-cs"/>
              </a:rPr>
              <a:t> </a:t>
            </a:r>
            <a:r>
              <a:rPr lang="ar-SA" dirty="0">
                <a:latin typeface="Times New Roman" panose="02020603050405020304" pitchFamily="18" charset="0"/>
                <a:ea typeface="Times New Roman" panose="02020603050405020304" pitchFamily="18" charset="0"/>
                <a:cs typeface="+mj-cs"/>
              </a:rPr>
              <a:t>الخدمة ناجحة والآن نذهب إلى الخادم</a:t>
            </a:r>
            <a:r>
              <a:rPr lang="en-US" dirty="0">
                <a:latin typeface="Times New Roman" panose="02020603050405020304" pitchFamily="18" charset="0"/>
                <a:ea typeface="Times New Roman" panose="02020603050405020304" pitchFamily="18" charset="0"/>
                <a:cs typeface="+mj-cs"/>
              </a:rPr>
              <a:t>:</a:t>
            </a:r>
            <a:endParaRPr lang="en-US" dirty="0">
              <a:effectLst/>
              <a:latin typeface="Times New Roman" panose="02020603050405020304" pitchFamily="18" charset="0"/>
              <a:ea typeface="Times New Roman" panose="02020603050405020304" pitchFamily="18" charset="0"/>
              <a:cs typeface="+mj-cs"/>
            </a:endParaRPr>
          </a:p>
        </p:txBody>
      </p:sp>
      <p:graphicFrame>
        <p:nvGraphicFramePr>
          <p:cNvPr id="6" name="Table 5"/>
          <p:cNvGraphicFramePr>
            <a:graphicFrameLocks noGrp="1"/>
          </p:cNvGraphicFramePr>
          <p:nvPr>
            <p:extLst>
              <p:ext uri="{D42A27DB-BD31-4B8C-83A1-F6EECF244321}">
                <p14:modId xmlns:p14="http://schemas.microsoft.com/office/powerpoint/2010/main" val="3401970828"/>
              </p:ext>
            </p:extLst>
          </p:nvPr>
        </p:nvGraphicFramePr>
        <p:xfrm>
          <a:off x="6823878" y="2302034"/>
          <a:ext cx="5268595" cy="655320"/>
        </p:xfrm>
        <a:graphic>
          <a:graphicData uri="http://schemas.openxmlformats.org/drawingml/2006/table">
            <a:tbl>
              <a:tblPr firstRow="1" firstCol="1" bandRow="1">
                <a:tableStyleId>{5C22544A-7EE6-4342-B048-85BDC9FD1C3A}</a:tableStyleId>
              </a:tblPr>
              <a:tblGrid>
                <a:gridCol w="5268595">
                  <a:extLst>
                    <a:ext uri="{9D8B030D-6E8A-4147-A177-3AD203B41FA5}">
                      <a16:colId xmlns:a16="http://schemas.microsoft.com/office/drawing/2014/main" val="20000"/>
                    </a:ext>
                  </a:extLst>
                </a:gridCol>
              </a:tblGrid>
              <a:tr h="0">
                <a:tc>
                  <a:txBody>
                    <a:bodyPr/>
                    <a:lstStyle/>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-line)#</a:t>
                      </a:r>
                      <a:r>
                        <a:rPr lang="en-US" sz="1100" dirty="0">
                          <a:solidFill>
                            <a:srgbClr val="FF0000"/>
                          </a:solidFill>
                          <a:effectLst/>
                        </a:rPr>
                        <a:t>login authentication default       </a:t>
                      </a:r>
                      <a:endParaRPr lang="en-US" sz="1000" dirty="0">
                        <a:solidFill>
                          <a:srgbClr val="FF0000"/>
                        </a:solidFill>
                        <a:effectLst/>
                      </a:endParaRPr>
                    </a:p>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-line)#</a:t>
                      </a:r>
                      <a:r>
                        <a:rPr lang="en-US" sz="1100" dirty="0">
                          <a:solidFill>
                            <a:srgbClr val="FF0000"/>
                          </a:solidFill>
                          <a:effectLst/>
                        </a:rPr>
                        <a:t>end</a:t>
                      </a:r>
                      <a:endParaRPr lang="en-US" sz="1000" dirty="0">
                        <a:solidFill>
                          <a:srgbClr val="FF0000"/>
                        </a:solidFill>
                        <a:effectLst/>
                      </a:endParaRPr>
                    </a:p>
                    <a:p>
                      <a:pPr marL="0" marR="0" algn="l">
                        <a:spcBef>
                          <a:spcPts val="300"/>
                        </a:spcBef>
                        <a:spcAft>
                          <a:spcPts val="300"/>
                        </a:spcAft>
                      </a:pPr>
                      <a:r>
                        <a:rPr lang="en-US" sz="1100" dirty="0">
                          <a:solidFill>
                            <a:schemeClr val="tx1"/>
                          </a:solidFill>
                          <a:effectLst/>
                        </a:rPr>
                        <a:t> </a:t>
                      </a:r>
                      <a:endParaRPr lang="en-US" sz="1000" dirty="0">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7" name="Rectangle 6"/>
          <p:cNvSpPr/>
          <p:nvPr/>
        </p:nvSpPr>
        <p:spPr>
          <a:xfrm>
            <a:off x="9220513" y="3410340"/>
            <a:ext cx="2069158" cy="369332"/>
          </a:xfrm>
          <a:prstGeom prst="rect">
            <a:avLst/>
          </a:prstGeom>
        </p:spPr>
        <p:txBody>
          <a:bodyPr wrap="square">
            <a:spAutoFit/>
          </a:bodyPr>
          <a:lstStyle/>
          <a:p>
            <a:pPr algn="just">
              <a:spcAft>
                <a:spcPts val="1000"/>
              </a:spcAft>
            </a:pPr>
            <a:r>
              <a:rPr lang="ar-SA" dirty="0">
                <a:latin typeface="Calibri" panose="020F0502020204030204" pitchFamily="34" charset="0"/>
                <a:ea typeface="Times New Roman" panose="02020603050405020304" pitchFamily="18" charset="0"/>
                <a:cs typeface="Times New Roman" panose="02020603050405020304" pitchFamily="18" charset="0"/>
              </a:rPr>
              <a:t>خدمة المصادقة في الخادم </a:t>
            </a:r>
            <a:endParaRPr lang="en-US" sz="1100" i="1"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8" name="صورة 5"/>
          <p:cNvPicPr/>
          <p:nvPr/>
        </p:nvPicPr>
        <p:blipFill>
          <a:blip r:embed="rId2">
            <a:extLst>
              <a:ext uri="{28A0092B-C50C-407E-A947-70E740481C1C}">
                <a14:useLocalDpi xmlns:a14="http://schemas.microsoft.com/office/drawing/2010/main" val="0"/>
              </a:ext>
            </a:extLst>
          </a:blip>
          <a:srcRect/>
          <a:stretch>
            <a:fillRect/>
          </a:stretch>
        </p:blipFill>
        <p:spPr bwMode="auto">
          <a:xfrm>
            <a:off x="7123386" y="3919845"/>
            <a:ext cx="4868545" cy="2597150"/>
          </a:xfrm>
          <a:prstGeom prst="rect">
            <a:avLst/>
          </a:prstGeom>
          <a:noFill/>
          <a:ln>
            <a:noFill/>
          </a:ln>
        </p:spPr>
      </p:pic>
      <p:sp>
        <p:nvSpPr>
          <p:cNvPr id="10" name="Rectangle 9"/>
          <p:cNvSpPr/>
          <p:nvPr/>
        </p:nvSpPr>
        <p:spPr>
          <a:xfrm>
            <a:off x="2469070" y="492442"/>
            <a:ext cx="1319592" cy="369332"/>
          </a:xfrm>
          <a:prstGeom prst="rect">
            <a:avLst/>
          </a:prstGeom>
        </p:spPr>
        <p:txBody>
          <a:bodyPr wrap="none">
            <a:spAutoFit/>
          </a:bodyPr>
          <a:lstStyle/>
          <a:p>
            <a:r>
              <a:rPr lang="ar-SA" dirty="0">
                <a:latin typeface="Calibri" panose="020F0502020204030204" pitchFamily="34" charset="0"/>
                <a:ea typeface="Times New Roman" panose="02020603050405020304" pitchFamily="18" charset="0"/>
                <a:cs typeface="Times New Roman" panose="02020603050405020304" pitchFamily="18" charset="0"/>
              </a:rPr>
              <a:t>تحقق المصادقة</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11" name="صورة 6"/>
          <p:cNvPicPr/>
          <p:nvPr/>
        </p:nvPicPr>
        <p:blipFill rotWithShape="1">
          <a:blip r:embed="rId3">
            <a:extLst>
              <a:ext uri="{28A0092B-C50C-407E-A947-70E740481C1C}">
                <a14:useLocalDpi xmlns:a14="http://schemas.microsoft.com/office/drawing/2010/main" val="0"/>
              </a:ext>
            </a:extLst>
          </a:blip>
          <a:srcRect r="1371"/>
          <a:stretch/>
        </p:blipFill>
        <p:spPr bwMode="auto">
          <a:xfrm>
            <a:off x="526636" y="1128150"/>
            <a:ext cx="5204460" cy="4564380"/>
          </a:xfrm>
          <a:prstGeom prst="rect">
            <a:avLst/>
          </a:prstGeom>
          <a:noFill/>
          <a:ln>
            <a:noFill/>
          </a:ln>
          <a:extLst>
            <a:ext uri="{53640926-AAD7-44D8-BBD7-CCE9431645EC}">
              <a14:shadowObscured xmlns:a14="http://schemas.microsoft.com/office/drawing/2010/main"/>
            </a:ext>
          </a:extLst>
        </p:spPr>
      </p:pic>
      <p:sp>
        <p:nvSpPr>
          <p:cNvPr id="12" name="مربع نص 11">
            <a:extLst>
              <a:ext uri="{FF2B5EF4-FFF2-40B4-BE49-F238E27FC236}">
                <a16:creationId xmlns:a16="http://schemas.microsoft.com/office/drawing/2014/main" id="{C351529B-B026-4963-96BC-2FF3B35F78FA}"/>
              </a:ext>
            </a:extLst>
          </p:cNvPr>
          <p:cNvSpPr txBox="1"/>
          <p:nvPr/>
        </p:nvSpPr>
        <p:spPr>
          <a:xfrm>
            <a:off x="2931540" y="6470355"/>
            <a:ext cx="6129866"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30</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3500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0" y="0"/>
            <a:ext cx="6096000" cy="584775"/>
          </a:xfrm>
          <a:prstGeom prst="rect">
            <a:avLst/>
          </a:prstGeom>
        </p:spPr>
        <p:txBody>
          <a:bodyPr>
            <a:spAutoFit/>
          </a:bodyPr>
          <a:lstStyle/>
          <a:p>
            <a:r>
              <a:rPr lang="ar-SA" sz="20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en-US"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Rectangle 2"/>
          <p:cNvSpPr/>
          <p:nvPr/>
        </p:nvSpPr>
        <p:spPr>
          <a:xfrm>
            <a:off x="41987" y="861774"/>
            <a:ext cx="12108026" cy="1508105"/>
          </a:xfrm>
          <a:prstGeom prst="rect">
            <a:avLst/>
          </a:prstGeom>
        </p:spPr>
        <p:txBody>
          <a:bodyPr wrap="square">
            <a:spAutoFit/>
          </a:bodyPr>
          <a:lstStyle/>
          <a:p>
            <a:pPr algn="just">
              <a:tabLst>
                <a:tab pos="3887470" algn="l"/>
              </a:tabLst>
            </a:pPr>
            <a:r>
              <a:rPr lang="ar-SA" sz="2000" b="1" dirty="0">
                <a:latin typeface="Calibri" panose="020F0502020204030204" pitchFamily="34" charset="0"/>
                <a:ea typeface="Times New Roman" panose="02020603050405020304" pitchFamily="18" charset="0"/>
                <a:cs typeface="Times New Roman" panose="02020603050405020304" pitchFamily="18" charset="0"/>
              </a:rPr>
              <a:t>تفويض</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يعتبر ترخيص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تلقائيًا ولا يتطلب من المستخدمين تنفيذ خطوات إضافية بعد المصادقة. يتحكم التفويض في ما يمكن للمستخدمين فعله وما لا يمكنهم فعله على الشبكة بعد مصادقتهم.</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يستخدم التفويض مجموعة من السمات التي تصف وصول المستخدم إلى الشبكة. يتم استخدام هذه السمات بواسطة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لتحديد الامتيازات والقيود الخاصة بذلك المستخدم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Rectangle 3"/>
          <p:cNvSpPr/>
          <p:nvPr/>
        </p:nvSpPr>
        <p:spPr>
          <a:xfrm>
            <a:off x="-440266" y="5396061"/>
            <a:ext cx="12632266" cy="1200329"/>
          </a:xfrm>
          <a:prstGeom prst="rect">
            <a:avLst/>
          </a:prstGeom>
        </p:spPr>
        <p:txBody>
          <a:bodyPr wrap="square">
            <a:spAutoFit/>
          </a:bodyPr>
          <a:lstStyle/>
          <a:p>
            <a:pPr algn="just">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العميل البعيد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عند مصادقة المستخدم ، يتم إنشاء جلسة بين جهاز التوجيه وخادم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يطلب جهاز التوجيه إذنًا من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للخدمة التي يطلبها العميل.</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يعرض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استجابة </a:t>
            </a:r>
            <a:r>
              <a:rPr lang="en-US" dirty="0">
                <a:latin typeface="Times New Roman" panose="02020603050405020304" pitchFamily="18" charset="0"/>
                <a:ea typeface="Times New Roman" panose="02020603050405020304" pitchFamily="18" charset="0"/>
                <a:cs typeface="Times New Roman" panose="02020603050405020304" pitchFamily="18" charset="0"/>
              </a:rPr>
              <a:t>PASS / FAIL</a:t>
            </a:r>
            <a:r>
              <a:rPr lang="ar-SA" dirty="0">
                <a:latin typeface="Calibri" panose="020F0502020204030204" pitchFamily="34" charset="0"/>
                <a:ea typeface="Times New Roman" panose="02020603050405020304" pitchFamily="18" charset="0"/>
                <a:cs typeface="Times New Roman" panose="02020603050405020304" pitchFamily="18" charset="0"/>
              </a:rPr>
              <a:t> للمصادقة.</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Rectangle 4"/>
          <p:cNvSpPr/>
          <p:nvPr/>
        </p:nvSpPr>
        <p:spPr>
          <a:xfrm>
            <a:off x="41987" y="2245201"/>
            <a:ext cx="12108026" cy="3424014"/>
          </a:xfrm>
          <a:prstGeom prst="rect">
            <a:avLst/>
          </a:prstGeom>
        </p:spPr>
        <p:txBody>
          <a:bodyPr wrap="square">
            <a:spAutoFit/>
          </a:bodyPr>
          <a:lstStyle/>
          <a:p>
            <a:pPr>
              <a:tabLst>
                <a:tab pos="3887470" algn="l"/>
              </a:tabLst>
            </a:pPr>
            <a:r>
              <a:rPr lang="ar-SA" sz="2000" b="1" dirty="0">
                <a:latin typeface="Calibri" panose="020F0502020204030204" pitchFamily="34" charset="0"/>
                <a:ea typeface="Times New Roman" panose="02020603050405020304" pitchFamily="18" charset="0"/>
                <a:cs typeface="Times New Roman" panose="02020603050405020304" pitchFamily="18" charset="0"/>
              </a:rPr>
              <a:t>محاسبة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تقوم محاسبة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بجمع بيانات الاستخدام والإبلاغ عنها. يمكن استخدام هذه البيانات لأغراض مثل التدقيق أو إعداد الفواتير. قد تتضمن البيانات التي تم جمعها أوقات بدء الاتصال وإيقافه ، والأوامر المنفذة ، وعدد الحزم ، وعدد البايت.</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marL="457200">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الاستخدام الأساسي للمحاسبة هو دمجها مع مصادقة</a:t>
            </a:r>
            <a:r>
              <a:rPr lang="en-US" dirty="0">
                <a:latin typeface="Times New Roman" panose="02020603050405020304" pitchFamily="18" charset="0"/>
                <a:ea typeface="Times New Roman" panose="02020603050405020304" pitchFamily="18" charset="0"/>
                <a:cs typeface="Times New Roman" panose="02020603050405020304" pitchFamily="18" charset="0"/>
              </a:rPr>
              <a:t>AAA. </a:t>
            </a:r>
            <a:r>
              <a:rPr lang="ar-SA" dirty="0">
                <a:latin typeface="Times New Roman" panose="02020603050405020304" pitchFamily="18" charset="0"/>
                <a:ea typeface="Times New Roman" panose="02020603050405020304" pitchFamily="18" charset="0"/>
                <a:cs typeface="Times New Roman" panose="02020603050405020304" pitchFamily="18" charset="0"/>
              </a:rPr>
              <a:t> </a:t>
            </a:r>
            <a:r>
              <a:rPr lang="ar-SA" dirty="0">
                <a:latin typeface="Calibri" panose="020F0502020204030204" pitchFamily="34" charset="0"/>
                <a:ea typeface="Times New Roman" panose="02020603050405020304" pitchFamily="18" charset="0"/>
                <a:cs typeface="Times New Roman" panose="02020603050405020304" pitchFamily="18" charset="0"/>
              </a:rPr>
              <a:t>يحتفظ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بسجل مفصل لما يفعله المستخدم المصادق بالضبط على الجهاز ، يتضمن ذلك جميع أوامر </a:t>
            </a:r>
            <a:r>
              <a:rPr lang="en-US" dirty="0">
                <a:latin typeface="Times New Roman" panose="02020603050405020304" pitchFamily="18" charset="0"/>
                <a:ea typeface="Times New Roman" panose="02020603050405020304" pitchFamily="18" charset="0"/>
                <a:cs typeface="Times New Roman" panose="02020603050405020304" pitchFamily="18" charset="0"/>
              </a:rPr>
              <a:t>EXEC</a:t>
            </a:r>
            <a:r>
              <a:rPr lang="ar-SA" dirty="0">
                <a:latin typeface="Calibri" panose="020F0502020204030204" pitchFamily="34" charset="0"/>
                <a:ea typeface="Times New Roman" panose="02020603050405020304" pitchFamily="18" charset="0"/>
                <a:cs typeface="Times New Roman" panose="02020603050405020304" pitchFamily="18" charset="0"/>
              </a:rPr>
              <a:t> والتكوين الصادرة عن المستخدم. يحتوي السجل على العديد من حقول البيانات ، بما في ذلك اسم المستخدم والتاريخ والوقت والأمر الفعلي الذي أدخله المستخدم. هذه المعلومات مفيدة عند استكشاف أخطاء الأجهزة وإصلاحها. كما أنه يقدم دليلاً على قيام الأفراد بأفعال ضارة.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marL="457200">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العميل البعيد خادم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عندما تتم مصادقة المستخدم ، تُنشئ عملية محاسبة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r>
              <a:rPr lang="ar-SA" dirty="0">
                <a:latin typeface="Calibri" panose="020F0502020204030204" pitchFamily="34" charset="0"/>
                <a:ea typeface="Times New Roman" panose="02020603050405020304" pitchFamily="18" charset="0"/>
                <a:cs typeface="Times New Roman" panose="02020603050405020304" pitchFamily="18" charset="0"/>
              </a:rPr>
              <a:t> رسالة بدء لبدء عملية المحاسبة.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عندما ينتهي المستخدم ، يتم تسجيل رسالة إيقاف وتنتهي عملية المحاسبة.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spcBef>
                <a:spcPts val="300"/>
              </a:spcBef>
              <a:spcAft>
                <a:spcPts val="300"/>
              </a:spcAft>
            </a:pPr>
            <a:r>
              <a:rPr lang="ar-SA" sz="1400" dirty="0">
                <a:solidFill>
                  <a:srgbClr val="000000"/>
                </a:solidFill>
                <a:latin typeface="Arial" panose="020B0604020202020204" pitchFamily="34" charset="0"/>
                <a:ea typeface="Calibri" panose="020F0502020204030204" pitchFamily="34" charset="0"/>
                <a:cs typeface="Times New Roman" panose="02020603050405020304" pitchFamily="18" charset="0"/>
              </a:rPr>
              <a:t> </a:t>
            </a:r>
            <a:endParaRPr lang="en-US" sz="1100" dirty="0">
              <a:latin typeface="Arial" panose="020B0604020202020204" pitchFamily="34" charset="0"/>
              <a:ea typeface="Calibri" panose="020F0502020204030204" pitchFamily="34" charset="0"/>
              <a:cs typeface="Times New Roman" panose="02020603050405020304" pitchFamily="18" charset="0"/>
            </a:endParaRPr>
          </a:p>
        </p:txBody>
      </p:sp>
      <p:sp>
        <p:nvSpPr>
          <p:cNvPr id="7" name="مربع نص 6">
            <a:extLst>
              <a:ext uri="{FF2B5EF4-FFF2-40B4-BE49-F238E27FC236}">
                <a16:creationId xmlns:a16="http://schemas.microsoft.com/office/drawing/2014/main" id="{9B6BF0C8-6160-45DD-9046-32AD1AD98EBC}"/>
              </a:ext>
            </a:extLst>
          </p:cNvPr>
          <p:cNvSpPr txBox="1"/>
          <p:nvPr/>
        </p:nvSpPr>
        <p:spPr>
          <a:xfrm>
            <a:off x="2794000" y="6411724"/>
            <a:ext cx="6350000"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31</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8733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41441" y="1293296"/>
            <a:ext cx="4150559" cy="369332"/>
          </a:xfrm>
          <a:prstGeom prst="rect">
            <a:avLst/>
          </a:prstGeom>
        </p:spPr>
        <p:txBody>
          <a:bodyPr wrap="none">
            <a:spAutoFit/>
          </a:bodyPr>
          <a:lstStyle/>
          <a:p>
            <a:pPr>
              <a:spcBef>
                <a:spcPts val="300"/>
              </a:spcBef>
              <a:spcAft>
                <a:spcPts val="300"/>
              </a:spcAft>
            </a:pPr>
            <a:r>
              <a:rPr lang="ar-SA" dirty="0">
                <a:solidFill>
                  <a:srgbClr val="000000"/>
                </a:solidFill>
                <a:latin typeface="Arial" panose="020B0604020202020204" pitchFamily="34" charset="0"/>
                <a:ea typeface="Calibri" panose="020F0502020204030204" pitchFamily="34" charset="0"/>
                <a:cs typeface="Times New Roman" panose="02020603050405020304" pitchFamily="18" charset="0"/>
              </a:rPr>
              <a:t>يتم تمكين نموذج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AAA </a:t>
            </a:r>
            <a:r>
              <a:rPr lang="ar-SA" dirty="0">
                <a:solidFill>
                  <a:srgbClr val="000000"/>
                </a:solidFill>
                <a:latin typeface="Arial" panose="020B0604020202020204" pitchFamily="34" charset="0"/>
                <a:ea typeface="Calibri" panose="020F0502020204030204" pitchFamily="34" charset="0"/>
                <a:cs typeface="Times New Roman" panose="02020603050405020304" pitchFamily="18" charset="0"/>
              </a:rPr>
              <a:t>الجديد للمصادقة مع أمر واحد</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US" sz="1400" dirty="0">
              <a:latin typeface="Arial" panose="020B060402020202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6096000" y="0"/>
            <a:ext cx="6096000" cy="584775"/>
          </a:xfrm>
          <a:prstGeom prst="rect">
            <a:avLst/>
          </a:prstGeom>
        </p:spPr>
        <p:txBody>
          <a:bodyPr>
            <a:spAutoFit/>
          </a:bodyPr>
          <a:lstStyle/>
          <a:p>
            <a:r>
              <a:rPr lang="ar-SA" sz="20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en-US"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19453080"/>
              </p:ext>
            </p:extLst>
          </p:nvPr>
        </p:nvGraphicFramePr>
        <p:xfrm>
          <a:off x="6787003" y="1955383"/>
          <a:ext cx="5287301" cy="307583"/>
        </p:xfrm>
        <a:graphic>
          <a:graphicData uri="http://schemas.openxmlformats.org/drawingml/2006/table">
            <a:tbl>
              <a:tblPr firstRow="1" firstCol="1" bandRow="1">
                <a:tableStyleId>{5C22544A-7EE6-4342-B048-85BDC9FD1C3A}</a:tableStyleId>
              </a:tblPr>
              <a:tblGrid>
                <a:gridCol w="5287301">
                  <a:extLst>
                    <a:ext uri="{9D8B030D-6E8A-4147-A177-3AD203B41FA5}">
                      <a16:colId xmlns:a16="http://schemas.microsoft.com/office/drawing/2014/main" val="20000"/>
                    </a:ext>
                  </a:extLst>
                </a:gridCol>
              </a:tblGrid>
              <a:tr h="307583">
                <a:tc>
                  <a:txBody>
                    <a:bodyPr/>
                    <a:lstStyle/>
                    <a:p>
                      <a:pPr marL="0" marR="0" algn="l">
                        <a:spcBef>
                          <a:spcPts val="300"/>
                        </a:spcBef>
                        <a:spcAft>
                          <a:spcPts val="300"/>
                        </a:spcAft>
                      </a:pPr>
                      <a:r>
                        <a:rPr lang="en-US" sz="1100" dirty="0">
                          <a:solidFill>
                            <a:schemeClr val="tx1"/>
                          </a:solidFill>
                          <a:effectLst/>
                        </a:rPr>
                        <a:t>R1(</a:t>
                      </a:r>
                      <a:r>
                        <a:rPr lang="en-US" sz="1100" dirty="0" err="1">
                          <a:solidFill>
                            <a:schemeClr val="tx1"/>
                          </a:solidFill>
                          <a:effectLst/>
                        </a:rPr>
                        <a:t>config</a:t>
                      </a:r>
                      <a:r>
                        <a:rPr lang="en-US" sz="1100" dirty="0">
                          <a:solidFill>
                            <a:schemeClr val="tx1"/>
                          </a:solidFill>
                          <a:effectLst/>
                        </a:rPr>
                        <a:t>)#</a:t>
                      </a:r>
                      <a:r>
                        <a:rPr lang="en-US" sz="1100" dirty="0" err="1">
                          <a:solidFill>
                            <a:srgbClr val="FF0000"/>
                          </a:solidFill>
                          <a:effectLst/>
                        </a:rPr>
                        <a:t>aaa</a:t>
                      </a:r>
                      <a:r>
                        <a:rPr lang="en-US" sz="1100" dirty="0">
                          <a:solidFill>
                            <a:srgbClr val="FF0000"/>
                          </a:solidFill>
                          <a:effectLst/>
                        </a:rPr>
                        <a:t> new-model</a:t>
                      </a:r>
                      <a:r>
                        <a:rPr lang="en-US" sz="1200" dirty="0">
                          <a:solidFill>
                            <a:schemeClr val="tx1"/>
                          </a:solidFill>
                          <a:effectLst/>
                        </a:rPr>
                        <a:t> </a:t>
                      </a:r>
                      <a:endParaRPr lang="en-US" sz="1000" dirty="0">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5" name="Rectangle 4"/>
          <p:cNvSpPr/>
          <p:nvPr/>
        </p:nvSpPr>
        <p:spPr>
          <a:xfrm>
            <a:off x="6130212" y="2762061"/>
            <a:ext cx="6096000" cy="738664"/>
          </a:xfrm>
          <a:prstGeom prst="rect">
            <a:avLst/>
          </a:prstGeom>
        </p:spPr>
        <p:txBody>
          <a:bodyPr>
            <a:spAutoFit/>
          </a:bodyPr>
          <a:lstStyle/>
          <a:p>
            <a:pPr>
              <a:spcBef>
                <a:spcPts val="300"/>
              </a:spcBef>
              <a:spcAft>
                <a:spcPts val="300"/>
              </a:spcAft>
            </a:pPr>
            <a:r>
              <a:rPr lang="ar-SA" sz="1400" dirty="0">
                <a:latin typeface="Arial" panose="020B0604020202020204" pitchFamily="34" charset="0"/>
                <a:ea typeface="Calibri" panose="020F0502020204030204" pitchFamily="34" charset="0"/>
                <a:cs typeface="Times New Roman" panose="02020603050405020304" pitchFamily="18" charset="0"/>
              </a:rPr>
              <a:t>لمصادقة المستخدمين الذين يريدون الوصول إلى </a:t>
            </a:r>
            <a:r>
              <a:rPr lang="en-US" sz="1400" dirty="0">
                <a:latin typeface="Arial" panose="020B0604020202020204" pitchFamily="34" charset="0"/>
                <a:ea typeface="Calibri" panose="020F0502020204030204" pitchFamily="34" charset="0"/>
                <a:cs typeface="Times New Roman" panose="02020603050405020304" pitchFamily="18" charset="0"/>
              </a:rPr>
              <a:t>exec </a:t>
            </a:r>
            <a:r>
              <a:rPr lang="ar-SA" sz="1400" dirty="0">
                <a:latin typeface="Arial" panose="020B0604020202020204" pitchFamily="34" charset="0"/>
                <a:ea typeface="Calibri" panose="020F0502020204030204" pitchFamily="34" charset="0"/>
                <a:cs typeface="Times New Roman" panose="02020603050405020304" pitchFamily="18" charset="0"/>
              </a:rPr>
              <a:t> في خادم الوصول (</a:t>
            </a:r>
            <a:r>
              <a:rPr lang="en-US" sz="1400" dirty="0" err="1">
                <a:latin typeface="Arial" panose="020B0604020202020204" pitchFamily="34" charset="0"/>
                <a:ea typeface="Calibri" panose="020F0502020204030204" pitchFamily="34" charset="0"/>
                <a:cs typeface="Times New Roman" panose="02020603050405020304" pitchFamily="18" charset="0"/>
              </a:rPr>
              <a:t>tty</a:t>
            </a:r>
            <a:r>
              <a:rPr lang="en-US" sz="1400" dirty="0">
                <a:latin typeface="Arial" panose="020B0604020202020204" pitchFamily="34" charset="0"/>
                <a:ea typeface="Calibri" panose="020F0502020204030204" pitchFamily="34" charset="0"/>
                <a:cs typeface="Times New Roman" panose="02020603050405020304" pitchFamily="18" charset="0"/>
              </a:rPr>
              <a:t>، </a:t>
            </a:r>
            <a:r>
              <a:rPr lang="en-US" sz="1400" dirty="0" err="1">
                <a:latin typeface="Arial" panose="020B0604020202020204" pitchFamily="34" charset="0"/>
                <a:ea typeface="Calibri" panose="020F0502020204030204" pitchFamily="34" charset="0"/>
                <a:cs typeface="Times New Roman" panose="02020603050405020304" pitchFamily="18" charset="0"/>
              </a:rPr>
              <a:t>vty</a:t>
            </a:r>
            <a:r>
              <a:rPr lang="en-US" sz="1400" dirty="0">
                <a:latin typeface="Arial" panose="020B0604020202020204" pitchFamily="34" charset="0"/>
                <a:ea typeface="Calibri" panose="020F0502020204030204" pitchFamily="34" charset="0"/>
                <a:cs typeface="Times New Roman" panose="02020603050405020304" pitchFamily="18" charset="0"/>
              </a:rPr>
              <a:t>، </a:t>
            </a:r>
            <a:r>
              <a:rPr lang="ar-SA" sz="1400" dirty="0">
                <a:latin typeface="Arial" panose="020B0604020202020204" pitchFamily="34" charset="0"/>
                <a:ea typeface="Calibri" panose="020F0502020204030204" pitchFamily="34" charset="0"/>
                <a:cs typeface="Times New Roman" panose="02020603050405020304" pitchFamily="18" charset="0"/>
              </a:rPr>
              <a:t>وحدة التحكم و </a:t>
            </a:r>
            <a:r>
              <a:rPr lang="en-US" sz="1400" dirty="0">
                <a:latin typeface="Arial" panose="020B0604020202020204" pitchFamily="34" charset="0"/>
                <a:ea typeface="Calibri" panose="020F0502020204030204" pitchFamily="34" charset="0"/>
                <a:cs typeface="Times New Roman" panose="02020603050405020304" pitchFamily="18" charset="0"/>
              </a:rPr>
              <a:t>aux</a:t>
            </a:r>
            <a:r>
              <a:rPr lang="ar-SA" sz="1400" dirty="0">
                <a:latin typeface="Arial" panose="020B0604020202020204" pitchFamily="34" charset="0"/>
                <a:ea typeface="Calibri" panose="020F0502020204030204" pitchFamily="34" charset="0"/>
                <a:cs typeface="Times New Roman" panose="02020603050405020304" pitchFamily="18" charset="0"/>
              </a:rPr>
              <a:t>)</a:t>
            </a:r>
            <a:r>
              <a:rPr lang="en-US" sz="1400" dirty="0">
                <a:latin typeface="Arial" panose="020B0604020202020204" pitchFamily="34" charset="0"/>
                <a:ea typeface="Calibri" panose="020F0502020204030204" pitchFamily="34" charset="0"/>
                <a:cs typeface="Times New Roman" panose="02020603050405020304" pitchFamily="18" charset="0"/>
              </a:rPr>
              <a:t>، </a:t>
            </a:r>
            <a:r>
              <a:rPr lang="ar-SA" sz="1400" dirty="0">
                <a:latin typeface="Arial" panose="020B0604020202020204" pitchFamily="34" charset="0"/>
                <a:ea typeface="Calibri" panose="020F0502020204030204" pitchFamily="34" charset="0"/>
                <a:cs typeface="Times New Roman" panose="02020603050405020304" pitchFamily="18" charset="0"/>
              </a:rPr>
              <a:t>والقائمة المسماة هي الافتراضية (افتراضي)، وهناك طريقتان المصادقة (نصف قطر المجموعة والمحلية)</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86334625"/>
              </p:ext>
            </p:extLst>
          </p:nvPr>
        </p:nvGraphicFramePr>
        <p:xfrm>
          <a:off x="6724229" y="3881497"/>
          <a:ext cx="5268595" cy="365760"/>
        </p:xfrm>
        <a:graphic>
          <a:graphicData uri="http://schemas.openxmlformats.org/drawingml/2006/table">
            <a:tbl>
              <a:tblPr firstRow="1" firstCol="1" bandRow="1"/>
              <a:tblGrid>
                <a:gridCol w="5268595">
                  <a:extLst>
                    <a:ext uri="{9D8B030D-6E8A-4147-A177-3AD203B41FA5}">
                      <a16:colId xmlns:a16="http://schemas.microsoft.com/office/drawing/2014/main" val="20000"/>
                    </a:ext>
                  </a:extLst>
                </a:gridCol>
              </a:tblGrid>
              <a:tr h="0">
                <a:tc>
                  <a:txBody>
                    <a:bodyPr/>
                    <a:lstStyle/>
                    <a:p>
                      <a:pPr marL="0" marR="0" algn="l" rtl="0">
                        <a:spcBef>
                          <a:spcPts val="0"/>
                        </a:spcBef>
                        <a:spcAft>
                          <a:spcPts val="0"/>
                        </a:spcAft>
                      </a:pPr>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R1(</a:t>
                      </a:r>
                      <a:r>
                        <a:rPr lang="en-US" sz="1200" dirty="0" err="1">
                          <a:effectLst/>
                          <a:latin typeface="Courier New" panose="02070309020205020404" pitchFamily="49" charset="0"/>
                          <a:ea typeface="Times New Roman" panose="02020603050405020304" pitchFamily="18" charset="0"/>
                          <a:cs typeface="Times New Roman" panose="02020603050405020304" pitchFamily="18" charset="0"/>
                        </a:rPr>
                        <a:t>config</a:t>
                      </a:r>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a:t>
                      </a:r>
                      <a:r>
                        <a:rPr lang="en-US" sz="1200" dirty="0" err="1">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aaa</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 authentication login default group radius local </a:t>
                      </a:r>
                      <a:endParaRPr lang="en-US" sz="12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9" name="Rectangle 8"/>
          <p:cNvSpPr/>
          <p:nvPr/>
        </p:nvSpPr>
        <p:spPr>
          <a:xfrm>
            <a:off x="6145763" y="4712160"/>
            <a:ext cx="6096000" cy="1200329"/>
          </a:xfrm>
          <a:prstGeom prst="rect">
            <a:avLst/>
          </a:prstGeom>
        </p:spPr>
        <p:txBody>
          <a:bodyPr>
            <a:spAutoFit/>
          </a:bodyPr>
          <a:lstStyle/>
          <a:p>
            <a:r>
              <a:rPr lang="en-US" dirty="0"/>
              <a:t> EXEC</a:t>
            </a:r>
            <a:r>
              <a:rPr lang="ar-SA" dirty="0"/>
              <a:t>تحويل </a:t>
            </a:r>
            <a:r>
              <a:rPr lang="en-US" dirty="0"/>
              <a:t> AAA</a:t>
            </a:r>
            <a:r>
              <a:rPr lang="ar-SA" dirty="0"/>
              <a:t>يحدد إذا كان يجب بدء تشغيل المستخدم في </a:t>
            </a:r>
            <a:r>
              <a:rPr lang="en-US" dirty="0"/>
              <a:t>shell exec) </a:t>
            </a:r>
            <a:r>
              <a:rPr lang="ar-SA" dirty="0"/>
              <a:t>وضع </a:t>
            </a:r>
            <a:r>
              <a:rPr lang="en-US" dirty="0"/>
              <a:t> exec </a:t>
            </a:r>
            <a:r>
              <a:rPr lang="ar-SA" dirty="0"/>
              <a:t>امتياز) ، يسمح لك مستوى</a:t>
            </a:r>
            <a:r>
              <a:rPr lang="en-US" dirty="0"/>
              <a:t> EXEC </a:t>
            </a:r>
            <a:r>
              <a:rPr lang="ar-SA" dirty="0"/>
              <a:t>بالوصول إلى أوامر المراقبة الأساسية فقط؛ امتياز </a:t>
            </a:r>
            <a:r>
              <a:rPr lang="en-US" dirty="0"/>
              <a:t> EXEC </a:t>
            </a:r>
            <a:r>
              <a:rPr lang="ar-SA" dirty="0"/>
              <a:t>المستوى يسمح لك بالوصول إلى جميع أوامر جهاز التوجيه:</a:t>
            </a: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4020937625"/>
              </p:ext>
            </p:extLst>
          </p:nvPr>
        </p:nvGraphicFramePr>
        <p:xfrm>
          <a:off x="6678962" y="6049563"/>
          <a:ext cx="5268595" cy="167640"/>
        </p:xfrm>
        <a:graphic>
          <a:graphicData uri="http://schemas.openxmlformats.org/drawingml/2006/table">
            <a:tbl>
              <a:tblPr firstRow="1" firstCol="1" bandRow="1"/>
              <a:tblGrid>
                <a:gridCol w="5268595">
                  <a:extLst>
                    <a:ext uri="{9D8B030D-6E8A-4147-A177-3AD203B41FA5}">
                      <a16:colId xmlns:a16="http://schemas.microsoft.com/office/drawing/2014/main" val="20000"/>
                    </a:ext>
                  </a:extLst>
                </a:gridCol>
              </a:tblGrid>
              <a:tr h="0">
                <a:tc>
                  <a:txBody>
                    <a:bodyPr/>
                    <a:lstStyle/>
                    <a:p>
                      <a:pPr marL="0" marR="0">
                        <a:spcBef>
                          <a:spcPts val="300"/>
                        </a:spcBef>
                        <a:spcAft>
                          <a:spcPts val="300"/>
                        </a:spcAft>
                      </a:pPr>
                      <a:r>
                        <a:rPr lang="en-US" sz="1100" dirty="0">
                          <a:effectLst/>
                          <a:latin typeface="Courier New" panose="02070309020205020404" pitchFamily="49" charset="0"/>
                          <a:ea typeface="Calibri" panose="020F0502020204030204" pitchFamily="34" charset="0"/>
                          <a:cs typeface="Times New Roman" panose="02020603050405020304" pitchFamily="18" charset="0"/>
                        </a:rPr>
                        <a:t>R1(</a:t>
                      </a:r>
                      <a:r>
                        <a:rPr lang="en-US" sz="1100" dirty="0" err="1">
                          <a:effectLst/>
                          <a:latin typeface="Courier New" panose="02070309020205020404" pitchFamily="49" charset="0"/>
                          <a:ea typeface="Calibri" panose="020F0502020204030204" pitchFamily="34" charset="0"/>
                          <a:cs typeface="Times New Roman" panose="02020603050405020304" pitchFamily="18" charset="0"/>
                        </a:rPr>
                        <a:t>config</a:t>
                      </a:r>
                      <a:r>
                        <a:rPr lang="en-US" sz="1100" dirty="0">
                          <a:effectLst/>
                          <a:latin typeface="Courier New" panose="02070309020205020404" pitchFamily="49" charset="0"/>
                          <a:ea typeface="Calibri" panose="020F0502020204030204" pitchFamily="34" charset="0"/>
                          <a:cs typeface="Times New Roman" panose="02020603050405020304" pitchFamily="18" charset="0"/>
                        </a:rPr>
                        <a:t>)#</a:t>
                      </a:r>
                      <a:r>
                        <a:rPr lang="en-US" sz="1100" dirty="0" err="1">
                          <a:solidFill>
                            <a:srgbClr val="FF0000"/>
                          </a:solidFill>
                          <a:effectLst/>
                          <a:latin typeface="Courier New" panose="02070309020205020404" pitchFamily="49" charset="0"/>
                          <a:ea typeface="Calibri" panose="020F0502020204030204" pitchFamily="34" charset="0"/>
                          <a:cs typeface="Times New Roman" panose="02020603050405020304" pitchFamily="18" charset="0"/>
                        </a:rPr>
                        <a:t>aaa</a:t>
                      </a:r>
                      <a:r>
                        <a:rPr lang="en-US" sz="1100" dirty="0">
                          <a:solidFill>
                            <a:srgbClr val="FF0000"/>
                          </a:solidFill>
                          <a:effectLst/>
                          <a:latin typeface="Courier New" panose="02070309020205020404" pitchFamily="49" charset="0"/>
                          <a:ea typeface="Calibri" panose="020F0502020204030204" pitchFamily="34" charset="0"/>
                          <a:cs typeface="Times New Roman" panose="02020603050405020304" pitchFamily="18" charset="0"/>
                        </a:rPr>
                        <a:t> authorization exec default group radius local</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3" name="Rectangle 12"/>
          <p:cNvSpPr/>
          <p:nvPr/>
        </p:nvSpPr>
        <p:spPr>
          <a:xfrm>
            <a:off x="-502498" y="231857"/>
            <a:ext cx="6096000" cy="923330"/>
          </a:xfrm>
          <a:prstGeom prst="rect">
            <a:avLst/>
          </a:prstGeom>
        </p:spPr>
        <p:txBody>
          <a:bodyPr>
            <a:spAutoFit/>
          </a:bodyPr>
          <a:lstStyle/>
          <a:p>
            <a:r>
              <a:rPr lang="ar-SA" dirty="0"/>
              <a:t>ينشط المحاسبة على جميع جلسات عمل </a:t>
            </a:r>
            <a:r>
              <a:rPr lang="en-US" dirty="0"/>
              <a:t> EXEC </a:t>
            </a:r>
            <a:r>
              <a:rPr lang="ar-SA" dirty="0"/>
              <a:t>(أي أوامر دخلت بعد تمكين الأمر) ويرسل معلومات المحاسبة في بداية ونهاية كل مجموعة من مجموعة </a:t>
            </a:r>
            <a:r>
              <a:rPr lang="en-US" dirty="0"/>
              <a:t>RADIUS:</a:t>
            </a:r>
          </a:p>
        </p:txBody>
      </p:sp>
      <p:graphicFrame>
        <p:nvGraphicFramePr>
          <p:cNvPr id="17" name="Table 16"/>
          <p:cNvGraphicFramePr>
            <a:graphicFrameLocks noGrp="1"/>
          </p:cNvGraphicFramePr>
          <p:nvPr>
            <p:extLst>
              <p:ext uri="{D42A27DB-BD31-4B8C-83A1-F6EECF244321}">
                <p14:modId xmlns:p14="http://schemas.microsoft.com/office/powerpoint/2010/main" val="1766217633"/>
              </p:ext>
            </p:extLst>
          </p:nvPr>
        </p:nvGraphicFramePr>
        <p:xfrm>
          <a:off x="103128" y="1494988"/>
          <a:ext cx="5268595" cy="335280"/>
        </p:xfrm>
        <a:graphic>
          <a:graphicData uri="http://schemas.openxmlformats.org/drawingml/2006/table">
            <a:tbl>
              <a:tblPr firstRow="1" firstCol="1" bandRow="1"/>
              <a:tblGrid>
                <a:gridCol w="5268595">
                  <a:extLst>
                    <a:ext uri="{9D8B030D-6E8A-4147-A177-3AD203B41FA5}">
                      <a16:colId xmlns:a16="http://schemas.microsoft.com/office/drawing/2014/main" val="20000"/>
                    </a:ext>
                  </a:extLst>
                </a:gridCol>
              </a:tblGrid>
              <a:tr h="0">
                <a:tc>
                  <a:txBody>
                    <a:bodyPr/>
                    <a:lstStyle/>
                    <a:p>
                      <a:pPr marL="0" marR="0" algn="l">
                        <a:spcBef>
                          <a:spcPts val="300"/>
                        </a:spcBef>
                        <a:spcAft>
                          <a:spcPts val="300"/>
                        </a:spcAft>
                      </a:pPr>
                      <a:r>
                        <a:rPr lang="en-US" sz="1100" dirty="0">
                          <a:effectLst/>
                          <a:latin typeface="Courier New" panose="02070309020205020404" pitchFamily="49" charset="0"/>
                          <a:ea typeface="Calibri" panose="020F0502020204030204" pitchFamily="34" charset="0"/>
                          <a:cs typeface="Times New Roman" panose="02020603050405020304" pitchFamily="18" charset="0"/>
                        </a:rPr>
                        <a:t>R1(</a:t>
                      </a:r>
                      <a:r>
                        <a:rPr lang="en-US" sz="1100" dirty="0" err="1">
                          <a:effectLst/>
                          <a:latin typeface="Courier New" panose="02070309020205020404" pitchFamily="49" charset="0"/>
                          <a:ea typeface="Calibri" panose="020F0502020204030204" pitchFamily="34" charset="0"/>
                          <a:cs typeface="Times New Roman" panose="02020603050405020304" pitchFamily="18" charset="0"/>
                        </a:rPr>
                        <a:t>config</a:t>
                      </a:r>
                      <a:r>
                        <a:rPr lang="en-US" sz="1100" dirty="0">
                          <a:effectLst/>
                          <a:latin typeface="Courier New" panose="02070309020205020404" pitchFamily="49" charset="0"/>
                          <a:ea typeface="Calibri" panose="020F0502020204030204" pitchFamily="34" charset="0"/>
                          <a:cs typeface="Times New Roman" panose="02020603050405020304" pitchFamily="18" charset="0"/>
                        </a:rPr>
                        <a:t>)#</a:t>
                      </a:r>
                      <a:r>
                        <a:rPr lang="en-US" sz="1100" dirty="0" err="1">
                          <a:solidFill>
                            <a:srgbClr val="FF0000"/>
                          </a:solidFill>
                          <a:effectLst/>
                          <a:latin typeface="Courier New" panose="02070309020205020404" pitchFamily="49" charset="0"/>
                          <a:ea typeface="Calibri" panose="020F0502020204030204" pitchFamily="34" charset="0"/>
                          <a:cs typeface="Times New Roman" panose="02020603050405020304" pitchFamily="18" charset="0"/>
                        </a:rPr>
                        <a:t>aaa</a:t>
                      </a:r>
                      <a:r>
                        <a:rPr lang="en-US" sz="1100" dirty="0">
                          <a:solidFill>
                            <a:srgbClr val="FF0000"/>
                          </a:solidFill>
                          <a:effectLst/>
                          <a:latin typeface="Courier New" panose="02070309020205020404" pitchFamily="49" charset="0"/>
                          <a:ea typeface="Calibri" panose="020F0502020204030204" pitchFamily="34" charset="0"/>
                          <a:cs typeface="Times New Roman" panose="02020603050405020304" pitchFamily="18" charset="0"/>
                        </a:rPr>
                        <a:t> accounting exec console start-stop group radius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2" name="Rectangle 21"/>
          <p:cNvSpPr/>
          <p:nvPr/>
        </p:nvSpPr>
        <p:spPr>
          <a:xfrm>
            <a:off x="-724277" y="2762061"/>
            <a:ext cx="6096000" cy="646331"/>
          </a:xfrm>
          <a:prstGeom prst="rect">
            <a:avLst/>
          </a:prstGeom>
        </p:spPr>
        <p:txBody>
          <a:bodyPr>
            <a:spAutoFit/>
          </a:bodyPr>
          <a:lstStyle/>
          <a:p>
            <a:r>
              <a:rPr lang="ar-SA" dirty="0"/>
              <a:t>لتكوين خادم </a:t>
            </a:r>
            <a:r>
              <a:rPr lang="en-US" dirty="0"/>
              <a:t>RADIUS، </a:t>
            </a:r>
            <a:r>
              <a:rPr lang="ar-SA" dirty="0"/>
              <a:t>استخدم الأمر المضيف نصف الطرف الخادم،192.168.1.3 عنوان </a:t>
            </a:r>
            <a:r>
              <a:rPr lang="en-US" dirty="0"/>
              <a:t>IP RADIUS </a:t>
            </a:r>
            <a:r>
              <a:rPr lang="ar-SA" dirty="0"/>
              <a:t>و 1645 هو المنفذ:</a:t>
            </a:r>
            <a:endParaRPr lang="en-US" dirty="0"/>
          </a:p>
        </p:txBody>
      </p:sp>
      <p:graphicFrame>
        <p:nvGraphicFramePr>
          <p:cNvPr id="26" name="Table 25"/>
          <p:cNvGraphicFramePr>
            <a:graphicFrameLocks noGrp="1"/>
          </p:cNvGraphicFramePr>
          <p:nvPr>
            <p:extLst>
              <p:ext uri="{D42A27DB-BD31-4B8C-83A1-F6EECF244321}">
                <p14:modId xmlns:p14="http://schemas.microsoft.com/office/powerpoint/2010/main" val="737460043"/>
              </p:ext>
            </p:extLst>
          </p:nvPr>
        </p:nvGraphicFramePr>
        <p:xfrm>
          <a:off x="103128" y="3769239"/>
          <a:ext cx="5268595" cy="167640"/>
        </p:xfrm>
        <a:graphic>
          <a:graphicData uri="http://schemas.openxmlformats.org/drawingml/2006/table">
            <a:tbl>
              <a:tblPr firstRow="1" firstCol="1" bandRow="1"/>
              <a:tblGrid>
                <a:gridCol w="5268595">
                  <a:extLst>
                    <a:ext uri="{9D8B030D-6E8A-4147-A177-3AD203B41FA5}">
                      <a16:colId xmlns:a16="http://schemas.microsoft.com/office/drawing/2014/main" val="20000"/>
                    </a:ext>
                  </a:extLst>
                </a:gridCol>
              </a:tblGrid>
              <a:tr h="141342">
                <a:tc>
                  <a:txBody>
                    <a:bodyPr/>
                    <a:lstStyle/>
                    <a:p>
                      <a:pPr marL="0" marR="0" algn="l">
                        <a:spcBef>
                          <a:spcPts val="300"/>
                        </a:spcBef>
                        <a:spcAft>
                          <a:spcPts val="300"/>
                        </a:spcAft>
                      </a:pPr>
                      <a:r>
                        <a:rPr lang="en-US" sz="1100" dirty="0">
                          <a:effectLst/>
                          <a:latin typeface="Courier New" panose="02070309020205020404" pitchFamily="49" charset="0"/>
                          <a:ea typeface="Calibri" panose="020F0502020204030204" pitchFamily="34" charset="0"/>
                          <a:cs typeface="Times New Roman" panose="02020603050405020304" pitchFamily="18" charset="0"/>
                        </a:rPr>
                        <a:t>R1(</a:t>
                      </a:r>
                      <a:r>
                        <a:rPr lang="en-US" sz="1100" dirty="0" err="1">
                          <a:effectLst/>
                          <a:latin typeface="Courier New" panose="02070309020205020404" pitchFamily="49" charset="0"/>
                          <a:ea typeface="Calibri" panose="020F0502020204030204" pitchFamily="34" charset="0"/>
                          <a:cs typeface="Times New Roman" panose="02020603050405020304" pitchFamily="18" charset="0"/>
                        </a:rPr>
                        <a:t>config</a:t>
                      </a:r>
                      <a:r>
                        <a:rPr lang="en-US" sz="1100" dirty="0">
                          <a:effectLst/>
                          <a:latin typeface="Courier New" panose="02070309020205020404" pitchFamily="49" charset="0"/>
                          <a:ea typeface="Calibri" panose="020F0502020204030204" pitchFamily="34" charset="0"/>
                          <a:cs typeface="Times New Roman" panose="02020603050405020304" pitchFamily="18" charset="0"/>
                        </a:rPr>
                        <a:t>)#</a:t>
                      </a:r>
                      <a:r>
                        <a:rPr lang="en-US" sz="1100" dirty="0">
                          <a:solidFill>
                            <a:srgbClr val="FF0000"/>
                          </a:solidFill>
                          <a:effectLst/>
                          <a:latin typeface="Courier New" panose="02070309020205020404" pitchFamily="49" charset="0"/>
                          <a:ea typeface="Calibri" panose="020F0502020204030204" pitchFamily="34" charset="0"/>
                          <a:cs typeface="Times New Roman" panose="02020603050405020304" pitchFamily="18" charset="0"/>
                        </a:rPr>
                        <a:t>radius-server host 192.168.1.3 </a:t>
                      </a:r>
                      <a:r>
                        <a:rPr lang="en-US" sz="1100" dirty="0" err="1">
                          <a:solidFill>
                            <a:srgbClr val="FF0000"/>
                          </a:solidFill>
                          <a:effectLst/>
                          <a:latin typeface="Courier New" panose="02070309020205020404" pitchFamily="49" charset="0"/>
                          <a:ea typeface="Calibri" panose="020F0502020204030204" pitchFamily="34" charset="0"/>
                          <a:cs typeface="Times New Roman" panose="02020603050405020304" pitchFamily="18" charset="0"/>
                        </a:rPr>
                        <a:t>auth</a:t>
                      </a:r>
                      <a:r>
                        <a:rPr lang="en-US" sz="1100" dirty="0">
                          <a:solidFill>
                            <a:srgbClr val="FF0000"/>
                          </a:solidFill>
                          <a:effectLst/>
                          <a:latin typeface="Courier New" panose="02070309020205020404" pitchFamily="49" charset="0"/>
                          <a:ea typeface="Calibri" panose="020F0502020204030204" pitchFamily="34" charset="0"/>
                          <a:cs typeface="Times New Roman" panose="02020603050405020304" pitchFamily="18" charset="0"/>
                        </a:rPr>
                        <a:t>-port 1645</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8" name="Rectangle 27"/>
          <p:cNvSpPr/>
          <p:nvPr/>
        </p:nvSpPr>
        <p:spPr>
          <a:xfrm>
            <a:off x="1812404" y="5127658"/>
            <a:ext cx="1917512" cy="369332"/>
          </a:xfrm>
          <a:prstGeom prst="rect">
            <a:avLst/>
          </a:prstGeom>
        </p:spPr>
        <p:txBody>
          <a:bodyPr wrap="none">
            <a:spAutoFit/>
          </a:bodyPr>
          <a:lstStyle/>
          <a:p>
            <a:r>
              <a:rPr lang="ar-SA" dirty="0"/>
              <a:t>20369 هو مفتاح </a:t>
            </a:r>
            <a:r>
              <a:rPr lang="en-US" dirty="0"/>
              <a:t>R1:</a:t>
            </a:r>
          </a:p>
        </p:txBody>
      </p:sp>
      <p:graphicFrame>
        <p:nvGraphicFramePr>
          <p:cNvPr id="30" name="Table 29"/>
          <p:cNvGraphicFramePr>
            <a:graphicFrameLocks noGrp="1"/>
          </p:cNvGraphicFramePr>
          <p:nvPr>
            <p:extLst>
              <p:ext uri="{D42A27DB-BD31-4B8C-83A1-F6EECF244321}">
                <p14:modId xmlns:p14="http://schemas.microsoft.com/office/powerpoint/2010/main" val="3686597588"/>
              </p:ext>
            </p:extLst>
          </p:nvPr>
        </p:nvGraphicFramePr>
        <p:xfrm>
          <a:off x="103128" y="6096771"/>
          <a:ext cx="5268595" cy="167640"/>
        </p:xfrm>
        <a:graphic>
          <a:graphicData uri="http://schemas.openxmlformats.org/drawingml/2006/table">
            <a:tbl>
              <a:tblPr firstRow="1" firstCol="1" bandRow="1"/>
              <a:tblGrid>
                <a:gridCol w="5268595">
                  <a:extLst>
                    <a:ext uri="{9D8B030D-6E8A-4147-A177-3AD203B41FA5}">
                      <a16:colId xmlns:a16="http://schemas.microsoft.com/office/drawing/2014/main" val="20000"/>
                    </a:ext>
                  </a:extLst>
                </a:gridCol>
              </a:tblGrid>
              <a:tr h="0">
                <a:tc>
                  <a:txBody>
                    <a:bodyPr/>
                    <a:lstStyle/>
                    <a:p>
                      <a:pPr marL="0" marR="0" algn="l">
                        <a:spcBef>
                          <a:spcPts val="300"/>
                        </a:spcBef>
                        <a:spcAft>
                          <a:spcPts val="300"/>
                        </a:spcAft>
                      </a:pPr>
                      <a:r>
                        <a:rPr lang="en-US" sz="1100" dirty="0">
                          <a:effectLst/>
                          <a:latin typeface="Courier New" panose="02070309020205020404" pitchFamily="49" charset="0"/>
                          <a:ea typeface="Calibri" panose="020F0502020204030204" pitchFamily="34" charset="0"/>
                          <a:cs typeface="Times New Roman" panose="02020603050405020304" pitchFamily="18" charset="0"/>
                        </a:rPr>
                        <a:t>R1(</a:t>
                      </a:r>
                      <a:r>
                        <a:rPr lang="en-US" sz="1100" dirty="0" err="1">
                          <a:effectLst/>
                          <a:latin typeface="Courier New" panose="02070309020205020404" pitchFamily="49" charset="0"/>
                          <a:ea typeface="Calibri" panose="020F0502020204030204" pitchFamily="34" charset="0"/>
                          <a:cs typeface="Times New Roman" panose="02020603050405020304" pitchFamily="18" charset="0"/>
                        </a:rPr>
                        <a:t>config</a:t>
                      </a:r>
                      <a:r>
                        <a:rPr lang="en-US" sz="1100" dirty="0">
                          <a:effectLst/>
                          <a:latin typeface="Courier New" panose="02070309020205020404" pitchFamily="49" charset="0"/>
                          <a:ea typeface="Calibri" panose="020F0502020204030204" pitchFamily="34" charset="0"/>
                          <a:cs typeface="Times New Roman" panose="02020603050405020304" pitchFamily="18" charset="0"/>
                        </a:rPr>
                        <a:t>)#</a:t>
                      </a:r>
                      <a:r>
                        <a:rPr lang="en-US" sz="1100" dirty="0">
                          <a:solidFill>
                            <a:srgbClr val="FF0000"/>
                          </a:solidFill>
                          <a:effectLst/>
                          <a:latin typeface="Courier New" panose="02070309020205020404" pitchFamily="49" charset="0"/>
                          <a:ea typeface="Calibri" panose="020F0502020204030204" pitchFamily="34" charset="0"/>
                          <a:cs typeface="Times New Roman" panose="02020603050405020304" pitchFamily="18" charset="0"/>
                        </a:rPr>
                        <a:t>radius-server key 20369</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6" name="مربع نص 15">
            <a:extLst>
              <a:ext uri="{FF2B5EF4-FFF2-40B4-BE49-F238E27FC236}">
                <a16:creationId xmlns:a16="http://schemas.microsoft.com/office/drawing/2014/main" id="{C95DF73E-417D-4FC9-93C2-8C42B10B3698}"/>
              </a:ext>
            </a:extLst>
          </p:cNvPr>
          <p:cNvSpPr txBox="1"/>
          <p:nvPr/>
        </p:nvSpPr>
        <p:spPr>
          <a:xfrm>
            <a:off x="2991556" y="6426796"/>
            <a:ext cx="6152444"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32</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123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0" y="0"/>
            <a:ext cx="6096000" cy="584775"/>
          </a:xfrm>
          <a:prstGeom prst="rect">
            <a:avLst/>
          </a:prstGeom>
        </p:spPr>
        <p:txBody>
          <a:bodyPr>
            <a:spAutoFit/>
          </a:bodyPr>
          <a:lstStyle/>
          <a:p>
            <a:r>
              <a:rPr lang="ar-SA" sz="20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en-US"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Rectangle 3"/>
          <p:cNvSpPr/>
          <p:nvPr/>
        </p:nvSpPr>
        <p:spPr>
          <a:xfrm>
            <a:off x="8022068" y="1373094"/>
            <a:ext cx="1965603" cy="923330"/>
          </a:xfrm>
          <a:prstGeom prst="rect">
            <a:avLst/>
          </a:prstGeom>
        </p:spPr>
        <p:txBody>
          <a:bodyPr wrap="square">
            <a:spAutoFit/>
          </a:bodyPr>
          <a:lstStyle/>
          <a:p>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r>
              <a:rPr lang="ar-SA" dirty="0">
                <a:latin typeface="Calibri" panose="020F0502020204030204" pitchFamily="34" charset="0"/>
                <a:ea typeface="Times New Roman" panose="02020603050405020304" pitchFamily="18" charset="0"/>
                <a:cs typeface="Times New Roman" panose="02020603050405020304" pitchFamily="18" charset="0"/>
              </a:rPr>
              <a:t>اختيار المحاسبة </a:t>
            </a:r>
            <a:r>
              <a:rPr lang="en-US" dirty="0">
                <a:latin typeface="Times New Roman" panose="02020603050405020304" pitchFamily="18" charset="0"/>
                <a:ea typeface="Times New Roman" panose="02020603050405020304" pitchFamily="18" charset="0"/>
                <a:cs typeface="Times New Roman" panose="02020603050405020304" pitchFamily="18" charset="0"/>
              </a:rPr>
              <a:t>AAA</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5" name="صورة 11"/>
          <p:cNvPicPr/>
          <p:nvPr/>
        </p:nvPicPr>
        <p:blipFill>
          <a:blip r:embed="rId3">
            <a:extLst>
              <a:ext uri="{28A0092B-C50C-407E-A947-70E740481C1C}">
                <a14:useLocalDpi xmlns:a14="http://schemas.microsoft.com/office/drawing/2010/main" val="0"/>
              </a:ext>
            </a:extLst>
          </a:blip>
          <a:srcRect/>
          <a:stretch>
            <a:fillRect/>
          </a:stretch>
        </p:blipFill>
        <p:spPr bwMode="auto">
          <a:xfrm>
            <a:off x="6775630" y="2296424"/>
            <a:ext cx="4295775" cy="3454038"/>
          </a:xfrm>
          <a:prstGeom prst="rect">
            <a:avLst/>
          </a:prstGeom>
          <a:noFill/>
          <a:ln>
            <a:noFill/>
          </a:ln>
        </p:spPr>
      </p:pic>
      <p:sp>
        <p:nvSpPr>
          <p:cNvPr id="7" name="Rectangle 6"/>
          <p:cNvSpPr/>
          <p:nvPr/>
        </p:nvSpPr>
        <p:spPr>
          <a:xfrm>
            <a:off x="2478862" y="1927092"/>
            <a:ext cx="1965602" cy="369332"/>
          </a:xfrm>
          <a:prstGeom prst="rect">
            <a:avLst/>
          </a:prstGeom>
        </p:spPr>
        <p:txBody>
          <a:bodyPr wrap="none">
            <a:spAutoFit/>
          </a:bodyPr>
          <a:lstStyle/>
          <a:p>
            <a:r>
              <a:rPr lang="ar-SA" dirty="0"/>
              <a:t>اختيار محاسبة </a:t>
            </a:r>
            <a:r>
              <a:rPr lang="en-US" dirty="0"/>
              <a:t>RASIUS</a:t>
            </a:r>
          </a:p>
        </p:txBody>
      </p:sp>
      <p:pic>
        <p:nvPicPr>
          <p:cNvPr id="8" name="صورة 12"/>
          <p:cNvPicPr/>
          <p:nvPr/>
        </p:nvPicPr>
        <p:blipFill>
          <a:blip r:embed="rId4">
            <a:extLst>
              <a:ext uri="{28A0092B-C50C-407E-A947-70E740481C1C}">
                <a14:useLocalDpi xmlns:a14="http://schemas.microsoft.com/office/drawing/2010/main" val="0"/>
              </a:ext>
            </a:extLst>
          </a:blip>
          <a:srcRect/>
          <a:stretch>
            <a:fillRect/>
          </a:stretch>
        </p:blipFill>
        <p:spPr bwMode="auto">
          <a:xfrm>
            <a:off x="1007706" y="2430356"/>
            <a:ext cx="4907915" cy="3320105"/>
          </a:xfrm>
          <a:prstGeom prst="rect">
            <a:avLst/>
          </a:prstGeom>
          <a:noFill/>
          <a:ln>
            <a:noFill/>
          </a:ln>
        </p:spPr>
      </p:pic>
      <p:sp>
        <p:nvSpPr>
          <p:cNvPr id="9" name="مربع نص 8">
            <a:extLst>
              <a:ext uri="{FF2B5EF4-FFF2-40B4-BE49-F238E27FC236}">
                <a16:creationId xmlns:a16="http://schemas.microsoft.com/office/drawing/2014/main" id="{892BD7EE-C7A3-48FF-97F1-428CC19DC612}"/>
              </a:ext>
            </a:extLst>
          </p:cNvPr>
          <p:cNvSpPr txBox="1"/>
          <p:nvPr/>
        </p:nvSpPr>
        <p:spPr>
          <a:xfrm>
            <a:off x="6062134" y="1038811"/>
            <a:ext cx="6129866" cy="369332"/>
          </a:xfrm>
          <a:prstGeom prst="rect">
            <a:avLst/>
          </a:prstGeom>
          <a:noFill/>
        </p:spPr>
        <p:txBody>
          <a:bodyPr wrap="square">
            <a:spAutoFit/>
          </a:bodyPr>
          <a:lstStyle/>
          <a:p>
            <a:r>
              <a:rPr lang="ar-SA" b="1" dirty="0">
                <a:latin typeface="Calibri" panose="020F0502020204030204" pitchFamily="34" charset="0"/>
                <a:ea typeface="Times New Roman" panose="02020603050405020304" pitchFamily="18" charset="0"/>
                <a:cs typeface="Times New Roman" panose="02020603050405020304" pitchFamily="18" charset="0"/>
              </a:rPr>
              <a:t>التحقق من المحاسبة </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مربع نص 9">
            <a:extLst>
              <a:ext uri="{FF2B5EF4-FFF2-40B4-BE49-F238E27FC236}">
                <a16:creationId xmlns:a16="http://schemas.microsoft.com/office/drawing/2014/main" id="{11892010-72C6-4EE5-B601-9268943801F7}"/>
              </a:ext>
            </a:extLst>
          </p:cNvPr>
          <p:cNvSpPr txBox="1"/>
          <p:nvPr/>
        </p:nvSpPr>
        <p:spPr>
          <a:xfrm>
            <a:off x="3132666" y="6488668"/>
            <a:ext cx="6129866"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33</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4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0" y="0"/>
            <a:ext cx="6096000" cy="584775"/>
          </a:xfrm>
          <a:prstGeom prst="rect">
            <a:avLst/>
          </a:prstGeom>
        </p:spPr>
        <p:txBody>
          <a:bodyPr>
            <a:spAutoFit/>
          </a:bodyPr>
          <a:lstStyle/>
          <a:p>
            <a:r>
              <a:rPr lang="ar-SA" sz="20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32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en-US"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Rectangle 4"/>
          <p:cNvSpPr/>
          <p:nvPr/>
        </p:nvSpPr>
        <p:spPr>
          <a:xfrm>
            <a:off x="0" y="720324"/>
            <a:ext cx="12192000" cy="1754326"/>
          </a:xfrm>
          <a:prstGeom prst="rect">
            <a:avLst/>
          </a:prstGeom>
        </p:spPr>
        <p:txBody>
          <a:bodyPr wrap="square">
            <a:spAutoFit/>
          </a:bodyPr>
          <a:lstStyle/>
          <a:p>
            <a:pPr rtl="0"/>
            <a:r>
              <a:rPr lang="en-US" b="1" dirty="0"/>
              <a:t>L2 Security</a:t>
            </a:r>
          </a:p>
          <a:p>
            <a:endParaRPr lang="en-US" dirty="0"/>
          </a:p>
          <a:p>
            <a:r>
              <a:rPr lang="ar-SA" dirty="0"/>
              <a:t>ثغرات الطبقة الثانية</a:t>
            </a:r>
          </a:p>
          <a:p>
            <a:r>
              <a:rPr lang="ar-SA" dirty="0"/>
              <a:t> في هذا الموضوع ، ستستمر في التعرف على طرق تأمين الشبكة المحلية من خلال التركيز على الإطارات الموجودة في طبقة ارتباط البيانات (الطبقة 2) والمحول.</a:t>
            </a:r>
            <a:endParaRPr lang="en-US" dirty="0"/>
          </a:p>
          <a:p>
            <a:endParaRPr lang="ar-SA" dirty="0"/>
          </a:p>
          <a:p>
            <a:r>
              <a:rPr lang="ar-SA" dirty="0"/>
              <a:t>تذكر أن النموذج المرجعي </a:t>
            </a:r>
            <a:r>
              <a:rPr lang="en-US" dirty="0"/>
              <a:t> OSI </a:t>
            </a:r>
            <a:r>
              <a:rPr lang="ar-SA" dirty="0"/>
              <a:t>مقسم إلى سبع طبقات تعمل بشكل مستقل عن بعضها البعض.وايضا لكل طبقة وظيفة معينة , والعناصر الأساسية التي يمكن استغلالها.</a:t>
            </a:r>
          </a:p>
        </p:txBody>
      </p:sp>
      <p:graphicFrame>
        <p:nvGraphicFramePr>
          <p:cNvPr id="7" name="Table 6"/>
          <p:cNvGraphicFramePr>
            <a:graphicFrameLocks noGrp="1"/>
          </p:cNvGraphicFramePr>
          <p:nvPr>
            <p:extLst>
              <p:ext uri="{D42A27DB-BD31-4B8C-83A1-F6EECF244321}">
                <p14:modId xmlns:p14="http://schemas.microsoft.com/office/powerpoint/2010/main" val="304620488"/>
              </p:ext>
            </p:extLst>
          </p:nvPr>
        </p:nvGraphicFramePr>
        <p:xfrm>
          <a:off x="6724581" y="4634228"/>
          <a:ext cx="5268595" cy="1691640"/>
        </p:xfrm>
        <a:graphic>
          <a:graphicData uri="http://schemas.openxmlformats.org/drawingml/2006/table">
            <a:tbl>
              <a:tblPr firstRow="1" firstCol="1" bandRow="1"/>
              <a:tblGrid>
                <a:gridCol w="5268595">
                  <a:extLst>
                    <a:ext uri="{9D8B030D-6E8A-4147-A177-3AD203B41FA5}">
                      <a16:colId xmlns:a16="http://schemas.microsoft.com/office/drawing/2014/main" val="20000"/>
                    </a:ext>
                  </a:extLst>
                </a:gridCol>
              </a:tblGrid>
              <a:tr h="0">
                <a:tc>
                  <a:txBody>
                    <a:bodyPr/>
                    <a:lstStyle/>
                    <a:p>
                      <a:pPr marL="0" marR="0" algn="l">
                        <a:spcBef>
                          <a:spcPts val="0"/>
                        </a:spcBef>
                        <a:spcAft>
                          <a:spcPts val="0"/>
                        </a:spcAft>
                      </a:pPr>
                      <a:r>
                        <a:rPr lang="en-US" sz="1100" dirty="0">
                          <a:effectLst/>
                          <a:latin typeface="Courier New" panose="02070309020205020404" pitchFamily="49" charset="0"/>
                          <a:ea typeface="Times New Roman" panose="02020603050405020304" pitchFamily="18" charset="0"/>
                          <a:cs typeface="Arial" panose="020B0604020202020204" pitchFamily="34" charset="0"/>
                        </a:rPr>
                        <a:t>SW1(</a:t>
                      </a:r>
                      <a:r>
                        <a:rPr lang="en-US" sz="1100" dirty="0" err="1">
                          <a:effectLst/>
                          <a:latin typeface="Courier New" panose="02070309020205020404" pitchFamily="49" charset="0"/>
                          <a:ea typeface="Times New Roman" panose="02020603050405020304" pitchFamily="18" charset="0"/>
                          <a:cs typeface="Arial" panose="020B0604020202020204" pitchFamily="34" charset="0"/>
                        </a:rPr>
                        <a:t>config</a:t>
                      </a:r>
                      <a:r>
                        <a:rPr lang="en-US" sz="1100" dirty="0">
                          <a:effectLst/>
                          <a:latin typeface="Courier New" panose="02070309020205020404" pitchFamily="49" charset="0"/>
                          <a:ea typeface="Times New Roman" panose="02020603050405020304" pitchFamily="18" charset="0"/>
                          <a:cs typeface="Arial" panose="020B0604020202020204" pitchFamily="34" charset="0"/>
                        </a:rPr>
                        <a:t>)#</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interface range fa0/1-3</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marL="0" marR="0" algn="l">
                        <a:spcBef>
                          <a:spcPts val="0"/>
                        </a:spcBef>
                        <a:spcAft>
                          <a:spcPts val="0"/>
                        </a:spcAft>
                      </a:pPr>
                      <a:r>
                        <a:rPr lang="en-US" sz="1100" dirty="0">
                          <a:effectLst/>
                          <a:latin typeface="Courier New" panose="02070309020205020404" pitchFamily="49" charset="0"/>
                          <a:ea typeface="Times New Roman" panose="02020603050405020304" pitchFamily="18" charset="0"/>
                          <a:cs typeface="Arial" panose="020B0604020202020204" pitchFamily="34" charset="0"/>
                        </a:rPr>
                        <a:t>SW1(</a:t>
                      </a:r>
                      <a:r>
                        <a:rPr lang="en-US" sz="1100" dirty="0" err="1">
                          <a:effectLst/>
                          <a:latin typeface="Courier New" panose="02070309020205020404" pitchFamily="49" charset="0"/>
                          <a:ea typeface="Times New Roman" panose="02020603050405020304" pitchFamily="18" charset="0"/>
                          <a:cs typeface="Arial" panose="020B0604020202020204" pitchFamily="34" charset="0"/>
                        </a:rPr>
                        <a:t>config</a:t>
                      </a:r>
                      <a:r>
                        <a:rPr lang="en-US" sz="1100" dirty="0">
                          <a:effectLst/>
                          <a:latin typeface="Courier New" panose="02070309020205020404" pitchFamily="49" charset="0"/>
                          <a:ea typeface="Times New Roman" panose="02020603050405020304" pitchFamily="18" charset="0"/>
                          <a:cs typeface="Arial" panose="020B0604020202020204" pitchFamily="34" charset="0"/>
                        </a:rPr>
                        <a:t>-if-range)#</a:t>
                      </a:r>
                      <a:r>
                        <a:rPr lang="en-US" sz="1100" dirty="0" err="1">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switchport</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 port-security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marL="0" marR="0" algn="l">
                        <a:spcBef>
                          <a:spcPts val="0"/>
                        </a:spcBef>
                        <a:spcAft>
                          <a:spcPts val="0"/>
                        </a:spcAft>
                      </a:pPr>
                      <a:r>
                        <a:rPr lang="en-US" sz="1100" dirty="0">
                          <a:effectLst/>
                          <a:latin typeface="Courier New" panose="02070309020205020404" pitchFamily="49" charset="0"/>
                          <a:ea typeface="Times New Roman" panose="02020603050405020304" pitchFamily="18" charset="0"/>
                          <a:cs typeface="Arial" panose="020B0604020202020204" pitchFamily="34" charset="0"/>
                        </a:rPr>
                        <a:t>SW1(</a:t>
                      </a:r>
                      <a:r>
                        <a:rPr lang="en-US" sz="1100" dirty="0" err="1">
                          <a:effectLst/>
                          <a:latin typeface="Courier New" panose="02070309020205020404" pitchFamily="49" charset="0"/>
                          <a:ea typeface="Times New Roman" panose="02020603050405020304" pitchFamily="18" charset="0"/>
                          <a:cs typeface="Arial" panose="020B0604020202020204" pitchFamily="34" charset="0"/>
                        </a:rPr>
                        <a:t>config</a:t>
                      </a:r>
                      <a:r>
                        <a:rPr lang="en-US" sz="1100" dirty="0">
                          <a:effectLst/>
                          <a:latin typeface="Courier New" panose="02070309020205020404" pitchFamily="49" charset="0"/>
                          <a:ea typeface="Times New Roman" panose="02020603050405020304" pitchFamily="18" charset="0"/>
                          <a:cs typeface="Arial" panose="020B0604020202020204" pitchFamily="34" charset="0"/>
                        </a:rPr>
                        <a:t>-if-range)#</a:t>
                      </a:r>
                      <a:r>
                        <a:rPr lang="en-US" sz="1100" dirty="0" err="1">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switchport</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 port-security maximum 3</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marL="0" marR="0" algn="l">
                        <a:spcBef>
                          <a:spcPts val="0"/>
                        </a:spcBef>
                        <a:spcAft>
                          <a:spcPts val="0"/>
                        </a:spcAft>
                      </a:pPr>
                      <a:r>
                        <a:rPr lang="en-US" sz="1100" dirty="0">
                          <a:effectLst/>
                          <a:latin typeface="Courier New" panose="02070309020205020404" pitchFamily="49" charset="0"/>
                          <a:ea typeface="Times New Roman" panose="02020603050405020304" pitchFamily="18" charset="0"/>
                          <a:cs typeface="Arial" panose="020B0604020202020204" pitchFamily="34" charset="0"/>
                        </a:rPr>
                        <a:t>SW1(</a:t>
                      </a:r>
                      <a:r>
                        <a:rPr lang="en-US" sz="1100" dirty="0" err="1">
                          <a:effectLst/>
                          <a:latin typeface="Courier New" panose="02070309020205020404" pitchFamily="49" charset="0"/>
                          <a:ea typeface="Times New Roman" panose="02020603050405020304" pitchFamily="18" charset="0"/>
                          <a:cs typeface="Arial" panose="020B0604020202020204" pitchFamily="34" charset="0"/>
                        </a:rPr>
                        <a:t>config</a:t>
                      </a:r>
                      <a:r>
                        <a:rPr lang="en-US" sz="1100" dirty="0">
                          <a:effectLst/>
                          <a:latin typeface="Courier New" panose="02070309020205020404" pitchFamily="49" charset="0"/>
                          <a:ea typeface="Times New Roman" panose="02020603050405020304" pitchFamily="18" charset="0"/>
                          <a:cs typeface="Arial" panose="020B0604020202020204" pitchFamily="34" charset="0"/>
                        </a:rPr>
                        <a:t>-if-range)#</a:t>
                      </a:r>
                      <a:r>
                        <a:rPr lang="en-US" sz="1100" dirty="0" err="1">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switchport</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 port-security mac-address sticky</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marL="0" marR="0" algn="l">
                        <a:spcBef>
                          <a:spcPts val="0"/>
                        </a:spcBef>
                        <a:spcAft>
                          <a:spcPts val="0"/>
                        </a:spcAft>
                      </a:pPr>
                      <a:r>
                        <a:rPr lang="en-US" sz="1100" dirty="0">
                          <a:effectLst/>
                          <a:latin typeface="Courier New" panose="02070309020205020404" pitchFamily="49" charset="0"/>
                          <a:ea typeface="Times New Roman" panose="02020603050405020304" pitchFamily="18" charset="0"/>
                          <a:cs typeface="Arial" panose="020B0604020202020204" pitchFamily="34" charset="0"/>
                        </a:rPr>
                        <a:t>SW1(</a:t>
                      </a:r>
                      <a:r>
                        <a:rPr lang="en-US" sz="1100" dirty="0" err="1">
                          <a:effectLst/>
                          <a:latin typeface="Courier New" panose="02070309020205020404" pitchFamily="49" charset="0"/>
                          <a:ea typeface="Times New Roman" panose="02020603050405020304" pitchFamily="18" charset="0"/>
                          <a:cs typeface="Arial" panose="020B0604020202020204" pitchFamily="34" charset="0"/>
                        </a:rPr>
                        <a:t>config</a:t>
                      </a:r>
                      <a:r>
                        <a:rPr lang="en-US" sz="1100" dirty="0">
                          <a:effectLst/>
                          <a:latin typeface="Courier New" panose="02070309020205020404" pitchFamily="49" charset="0"/>
                          <a:ea typeface="Times New Roman" panose="02020603050405020304" pitchFamily="18" charset="0"/>
                          <a:cs typeface="Arial" panose="020B0604020202020204" pitchFamily="34" charset="0"/>
                        </a:rPr>
                        <a:t>-if-range)#</a:t>
                      </a:r>
                      <a:r>
                        <a:rPr lang="en-US" sz="1100" dirty="0" err="1">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switchport</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 port-security violation restrict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marL="0" marR="0" algn="l">
                        <a:spcBef>
                          <a:spcPts val="0"/>
                        </a:spcBef>
                        <a:spcAft>
                          <a:spcPts val="0"/>
                        </a:spcAft>
                      </a:pPr>
                      <a:r>
                        <a:rPr lang="en-US" sz="1100" dirty="0">
                          <a:effectLst/>
                          <a:latin typeface="Courier New" panose="02070309020205020404" pitchFamily="49" charset="0"/>
                          <a:ea typeface="Times New Roman" panose="02020603050405020304" pitchFamily="18" charset="0"/>
                          <a:cs typeface="Arial" panose="020B0604020202020204" pitchFamily="34" charset="0"/>
                        </a:rPr>
                        <a:t>SW1(</a:t>
                      </a:r>
                      <a:r>
                        <a:rPr lang="en-US" sz="1100" dirty="0" err="1">
                          <a:effectLst/>
                          <a:latin typeface="Courier New" panose="02070309020205020404" pitchFamily="49" charset="0"/>
                          <a:ea typeface="Times New Roman" panose="02020603050405020304" pitchFamily="18" charset="0"/>
                          <a:cs typeface="Arial" panose="020B0604020202020204" pitchFamily="34" charset="0"/>
                        </a:rPr>
                        <a:t>config</a:t>
                      </a:r>
                      <a:r>
                        <a:rPr lang="en-US" sz="1100" dirty="0">
                          <a:effectLst/>
                          <a:latin typeface="Courier New" panose="02070309020205020404" pitchFamily="49" charset="0"/>
                          <a:ea typeface="Times New Roman" panose="02020603050405020304" pitchFamily="18" charset="0"/>
                          <a:cs typeface="Arial" panose="020B0604020202020204" pitchFamily="34" charset="0"/>
                        </a:rPr>
                        <a:t>)#</a:t>
                      </a: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interface range fa0/4-24, g0/1-2</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p>
                      <a:pPr marL="0" marR="0" algn="l" rtl="1">
                        <a:spcBef>
                          <a:spcPts val="0"/>
                        </a:spcBef>
                        <a:spcAft>
                          <a:spcPts val="0"/>
                        </a:spcAft>
                      </a:pPr>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SW1(</a:t>
                      </a:r>
                      <a:r>
                        <a:rPr lang="en-US" sz="1200" dirty="0" err="1">
                          <a:effectLst/>
                          <a:latin typeface="Courier New" panose="02070309020205020404" pitchFamily="49" charset="0"/>
                          <a:ea typeface="Times New Roman" panose="02020603050405020304" pitchFamily="18" charset="0"/>
                          <a:cs typeface="Times New Roman" panose="02020603050405020304" pitchFamily="18" charset="0"/>
                        </a:rPr>
                        <a:t>config</a:t>
                      </a:r>
                      <a:r>
                        <a:rPr lang="en-US" sz="1200" dirty="0">
                          <a:effectLst/>
                          <a:latin typeface="Courier New" panose="02070309020205020404" pitchFamily="49" charset="0"/>
                          <a:ea typeface="Times New Roman" panose="02020603050405020304" pitchFamily="18" charset="0"/>
                          <a:cs typeface="Times New Roman" panose="02020603050405020304" pitchFamily="18" charset="0"/>
                        </a:rPr>
                        <a:t>-if-range)#</a:t>
                      </a:r>
                      <a:r>
                        <a:rPr lang="en-US" sz="1200" dirty="0">
                          <a:solidFill>
                            <a:srgbClr val="FF0000"/>
                          </a:solidFill>
                          <a:effectLst/>
                          <a:latin typeface="Courier New" panose="02070309020205020404" pitchFamily="49" charset="0"/>
                          <a:ea typeface="Times New Roman" panose="02020603050405020304" pitchFamily="18" charset="0"/>
                          <a:cs typeface="Times New Roman" panose="02020603050405020304" pitchFamily="18" charset="0"/>
                        </a:rPr>
                        <a:t>shutdown</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algn="l">
                        <a:spcBef>
                          <a:spcPts val="0"/>
                        </a:spcBef>
                        <a:spcAft>
                          <a:spcPts val="0"/>
                        </a:spcAft>
                      </a:pPr>
                      <a:r>
                        <a:rPr lang="en-US" sz="1100" dirty="0">
                          <a:solidFill>
                            <a:srgbClr val="FF0000"/>
                          </a:solidFill>
                          <a:effectLst/>
                          <a:latin typeface="Courier New" panose="02070309020205020404" pitchFamily="49" charset="0"/>
                          <a:ea typeface="Times New Roman" panose="02020603050405020304" pitchFamily="18" charset="0"/>
                          <a:cs typeface="Arial" panose="020B0604020202020204" pitchFamily="34" charset="0"/>
                        </a:rPr>
                        <a:t>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8" name="Rectangle 7"/>
          <p:cNvSpPr/>
          <p:nvPr/>
        </p:nvSpPr>
        <p:spPr>
          <a:xfrm>
            <a:off x="0" y="2815775"/>
            <a:ext cx="12192000" cy="1200329"/>
          </a:xfrm>
          <a:prstGeom prst="rect">
            <a:avLst/>
          </a:prstGeom>
        </p:spPr>
        <p:txBody>
          <a:bodyPr wrap="square">
            <a:spAutoFit/>
          </a:bodyPr>
          <a:lstStyle/>
          <a:p>
            <a:r>
              <a:rPr lang="ar-SA" dirty="0"/>
              <a:t>يقوم مسؤولي الشبكات بشكل روتيني بتنفيذ حلول الأمان لحماية العناصر الموجودة في الطبقة 3 حتى الطبقة 7. ويستخدمون الشبكات الافتراضية الخاصة وجدران الحماية وأجهزة </a:t>
            </a:r>
            <a:r>
              <a:rPr lang="en-US" dirty="0"/>
              <a:t>IPS </a:t>
            </a:r>
            <a:r>
              <a:rPr lang="ar-SA" dirty="0"/>
              <a:t> لحماية هذه العناصر. ومع ذلك ، إذا تم اختراق الطبقة 2 ، فستتأثر أيضًا جميع الطبقات الموجودة فوقها. على سبيل المثال ، إذا قام أحد الجهات الفاعلة في التهديد الذي لديه حق الوصول إلى الشبكة الداخلية بالتقاط إطارات الطبقة الثانية ، فإن كل الأمان المطبق على الطبقات سيكون عديم الفائدة. يمكن أن يتسبب عامل التهديد في حدوث الكثير من الضرر للبنية التحتية لشبكات </a:t>
            </a:r>
            <a:r>
              <a:rPr lang="en-US" dirty="0"/>
              <a:t>Layer 2 LAN.</a:t>
            </a:r>
          </a:p>
        </p:txBody>
      </p:sp>
      <p:sp>
        <p:nvSpPr>
          <p:cNvPr id="9" name="Rectangle 8"/>
          <p:cNvSpPr/>
          <p:nvPr/>
        </p:nvSpPr>
        <p:spPr>
          <a:xfrm>
            <a:off x="7330669" y="4140500"/>
            <a:ext cx="4520788" cy="369332"/>
          </a:xfrm>
          <a:prstGeom prst="rect">
            <a:avLst/>
          </a:prstGeom>
        </p:spPr>
        <p:txBody>
          <a:bodyPr wrap="none">
            <a:spAutoFit/>
          </a:bodyPr>
          <a:lstStyle/>
          <a:p>
            <a:pPr marL="457200">
              <a:tabLst>
                <a:tab pos="3887470" algn="l"/>
              </a:tabLst>
            </a:pPr>
            <a:r>
              <a:rPr lang="ar-SA" dirty="0">
                <a:latin typeface="Calibri" panose="020F0502020204030204" pitchFamily="34" charset="0"/>
                <a:ea typeface="Times New Roman" panose="02020603050405020304" pitchFamily="18" charset="0"/>
                <a:cs typeface="Times New Roman" panose="02020603050405020304" pitchFamily="18" charset="0"/>
              </a:rPr>
              <a:t>في هذه الاعدادات تم تأمين الشبكة من الهجوم الداخلي </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مربع نص 9">
            <a:extLst>
              <a:ext uri="{FF2B5EF4-FFF2-40B4-BE49-F238E27FC236}">
                <a16:creationId xmlns:a16="http://schemas.microsoft.com/office/drawing/2014/main" id="{36DD83AB-B6B2-4B7A-A72F-612C9CE9FE1A}"/>
              </a:ext>
            </a:extLst>
          </p:cNvPr>
          <p:cNvSpPr txBox="1"/>
          <p:nvPr/>
        </p:nvSpPr>
        <p:spPr>
          <a:xfrm>
            <a:off x="3143955" y="6488668"/>
            <a:ext cx="6129866"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kumimoji="0" lang="en-US" altLang="en-US" sz="1200" b="0" i="0" u="none" strike="noStrike" cap="none" normalizeH="0" baseline="0" dirty="0">
                <a:ln>
                  <a:noFill/>
                </a:ln>
                <a:solidFill>
                  <a:schemeClr val="tx1"/>
                </a:solidFill>
                <a:effectLst/>
                <a:latin typeface="Calibri" panose="020F0502020204030204" pitchFamily="34" charset="0"/>
                <a:cs typeface="Times New Roman" panose="02020603050405020304" pitchFamily="18" charset="0"/>
              </a:rPr>
              <a:t>34</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9588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21076" y="109248"/>
            <a:ext cx="2670924" cy="800219"/>
          </a:xfrm>
          <a:prstGeom prst="rect">
            <a:avLst/>
          </a:prstGeom>
        </p:spPr>
        <p:txBody>
          <a:bodyPr wrap="none">
            <a:spAutoFit/>
          </a:bodyPr>
          <a:lstStyle/>
          <a:p>
            <a:r>
              <a:rPr lang="ar-SA"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28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ar-SA" b="1" dirty="0">
              <a:latin typeface="Calibri" panose="020F0502020204030204" pitchFamily="34" charset="0"/>
              <a:ea typeface="Times New Roman" panose="02020603050405020304" pitchFamily="18" charset="0"/>
              <a:cs typeface="Times New Roman" panose="02020603050405020304" pitchFamily="18" charset="0"/>
            </a:endParaRPr>
          </a:p>
          <a:p>
            <a:r>
              <a:rPr lang="ar-SA" b="1" dirty="0">
                <a:latin typeface="Calibri" panose="020F0502020204030204" pitchFamily="34" charset="0"/>
                <a:ea typeface="Times New Roman" panose="02020603050405020304" pitchFamily="18" charset="0"/>
                <a:cs typeface="Times New Roman" panose="02020603050405020304" pitchFamily="18" charset="0"/>
              </a:rPr>
              <a:t>الفصل الرابع : خاتمه واستنتاجات</a:t>
            </a:r>
            <a:endParaRPr lang="en-US" sz="1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8" name="Rectangle 7"/>
          <p:cNvSpPr/>
          <p:nvPr/>
        </p:nvSpPr>
        <p:spPr>
          <a:xfrm>
            <a:off x="0" y="640913"/>
            <a:ext cx="12192000" cy="3939540"/>
          </a:xfrm>
          <a:prstGeom prst="rect">
            <a:avLst/>
          </a:prstGeom>
        </p:spPr>
        <p:txBody>
          <a:bodyPr wrap="square">
            <a:spAutoFit/>
          </a:bodyPr>
          <a:lstStyle/>
          <a:p>
            <a:pPr algn="just"/>
            <a:r>
              <a:rPr lang="ar-SA" sz="1400" b="1" dirty="0">
                <a:latin typeface="Calibri" panose="020F0502020204030204" pitchFamily="34"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600" b="1" dirty="0">
                <a:latin typeface="Calibri" panose="020F0502020204030204" pitchFamily="34" charset="0"/>
                <a:ea typeface="Times New Roman" panose="02020603050405020304" pitchFamily="18" charset="0"/>
                <a:cs typeface="Times New Roman" panose="02020603050405020304" pitchFamily="18" charset="0"/>
              </a:rPr>
              <a:t>في هاذا الفصل وهي الخاتمه و الاستنتجات من هاذا المشروع ومنها تكوين الشبكة القياسية و الاعدادات و من ضمن هذه الاعدادات تهيئة الاجهزه و اختبار الاتصال بين الاجهزه و تأمين الشبكة و اختبارها من الهجمات</a:t>
            </a:r>
            <a:r>
              <a:rPr lang="en-US" sz="1600" b="1" dirty="0">
                <a:latin typeface="Calibri" panose="020F0502020204030204" pitchFamily="34" charset="0"/>
                <a:ea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b="1"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600" b="1" dirty="0">
                <a:latin typeface="Calibri" panose="020F0502020204030204" pitchFamily="34" charset="0"/>
                <a:ea typeface="Times New Roman" panose="02020603050405020304" pitchFamily="18" charset="0"/>
                <a:cs typeface="Times New Roman" panose="02020603050405020304" pitchFamily="18" charset="0"/>
              </a:rPr>
              <a:t>مكونات الشبكة و الاجهزه</a:t>
            </a:r>
            <a:r>
              <a:rPr lang="en-US" sz="1600" b="1" dirty="0">
                <a:latin typeface="Calibri" panose="020F0502020204030204" pitchFamily="34" charset="0"/>
                <a:ea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l"/>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Router 1</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Router 2</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Router 3</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Switch 1</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Switch 2</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Server 1</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Radius Server 1</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Radius Server 2</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pc 1</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ea typeface="Times New Roman" panose="02020603050405020304" pitchFamily="18" charset="0"/>
                <a:cs typeface="Times New Roman" panose="02020603050405020304" pitchFamily="18" charset="0"/>
              </a:rPr>
              <a:t>pc 2</a:t>
            </a:r>
            <a:endParaRPr lang="en-US" sz="1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Rectangle 9"/>
          <p:cNvSpPr/>
          <p:nvPr/>
        </p:nvSpPr>
        <p:spPr>
          <a:xfrm>
            <a:off x="1" y="4253075"/>
            <a:ext cx="12191999" cy="2308324"/>
          </a:xfrm>
          <a:prstGeom prst="rect">
            <a:avLst/>
          </a:prstGeom>
        </p:spPr>
        <p:txBody>
          <a:bodyPr wrap="square">
            <a:spAutoFit/>
          </a:bodyPr>
          <a:lstStyle/>
          <a:p>
            <a:pPr algn="just"/>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just"/>
            <a:endParaRPr lang="ar-SA" sz="1600" b="1"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600" b="1" dirty="0">
                <a:latin typeface="Calibri" panose="020F0502020204030204" pitchFamily="34" charset="0"/>
                <a:ea typeface="Times New Roman" panose="02020603050405020304" pitchFamily="18" charset="0"/>
                <a:cs typeface="Times New Roman" panose="02020603050405020304" pitchFamily="18" charset="0"/>
              </a:rPr>
              <a:t>الهجمات وانواعها</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400" dirty="0">
                <a:latin typeface="Calibri" panose="020F0502020204030204" pitchFamily="34"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400" b="1" dirty="0">
                <a:latin typeface="Calibri" panose="020F0502020204030204" pitchFamily="34" charset="0"/>
                <a:ea typeface="Times New Roman" panose="02020603050405020304" pitchFamily="18" charset="0"/>
                <a:cs typeface="Times New Roman" panose="02020603050405020304" pitchFamily="18" charset="0"/>
              </a:rPr>
              <a:t>تعد أجهزة الطبقة الثانية الحلقة الأضعف في البنية التحتية الأمنية للشركة،تعد هجمات الطبقة الثانية من أسهل الهجمات التي يستخدمها المتسللون</a:t>
            </a:r>
            <a:r>
              <a:rPr lang="en-US" sz="1400" b="1" dirty="0">
                <a:latin typeface="Calibri" panose="020F0502020204030204" pitchFamily="34" charset="0"/>
                <a:ea typeface="Times New Roman" panose="02020603050405020304" pitchFamily="18" charset="0"/>
                <a:cs typeface="Times New Roman" panose="02020603050405020304" pitchFamily="18" charset="0"/>
              </a:rPr>
              <a:t>.</a:t>
            </a:r>
            <a:endParaRPr lang="en-US" sz="1200" b="1"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1400" b="1" dirty="0">
                <a:latin typeface="Calibri" panose="020F0502020204030204" pitchFamily="34" charset="0"/>
                <a:ea typeface="Times New Roman" panose="02020603050405020304" pitchFamily="18" charset="0"/>
                <a:cs typeface="Times New Roman" panose="02020603050405020304" pitchFamily="18" charset="0"/>
              </a:rPr>
              <a:t>من أكثر الهجمات شيوعًا</a:t>
            </a:r>
            <a:r>
              <a:rPr lang="en-US" sz="1400" b="1" dirty="0">
                <a:latin typeface="Calibri" panose="020F0502020204030204" pitchFamily="34"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ea typeface="Times New Roman" panose="02020603050405020304" pitchFamily="18" charset="0"/>
                <a:cs typeface="Times New Roman" panose="02020603050405020304" pitchFamily="18" charset="0"/>
              </a:rPr>
              <a:t>Port Security -1</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ea typeface="Times New Roman" panose="02020603050405020304" pitchFamily="18" charset="0"/>
                <a:cs typeface="Times New Roman" panose="02020603050405020304" pitchFamily="18" charset="0"/>
              </a:rPr>
              <a:t>Brute force </a:t>
            </a:r>
            <a:r>
              <a:rPr lang="en-US" sz="1400">
                <a:latin typeface="Times New Roman" panose="02020603050405020304" pitchFamily="18" charset="0"/>
                <a:ea typeface="Times New Roman" panose="02020603050405020304" pitchFamily="18" charset="0"/>
                <a:cs typeface="Times New Roman" panose="02020603050405020304" pitchFamily="18" charset="0"/>
              </a:rPr>
              <a:t>-2</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مربع نص 5">
            <a:extLst>
              <a:ext uri="{FF2B5EF4-FFF2-40B4-BE49-F238E27FC236}">
                <a16:creationId xmlns:a16="http://schemas.microsoft.com/office/drawing/2014/main" id="{889C41A1-343A-40ED-84DB-6ACF319BCD4B}"/>
              </a:ext>
            </a:extLst>
          </p:cNvPr>
          <p:cNvSpPr txBox="1"/>
          <p:nvPr/>
        </p:nvSpPr>
        <p:spPr>
          <a:xfrm>
            <a:off x="2878667" y="6488668"/>
            <a:ext cx="6163732"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35</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7747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9149" y="0"/>
            <a:ext cx="6232849" cy="800219"/>
          </a:xfrm>
          <a:prstGeom prst="rect">
            <a:avLst/>
          </a:prstGeom>
        </p:spPr>
        <p:txBody>
          <a:bodyPr wrap="square">
            <a:spAutoFit/>
          </a:bodyPr>
          <a:lstStyle/>
          <a:p>
            <a:r>
              <a:rPr lang="ar-SA"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تأمين الشبكات</a:t>
            </a:r>
            <a:r>
              <a:rPr lang="ar-SA" sz="2800" b="1" dirty="0">
                <a:solidFill>
                  <a:schemeClr val="accent1">
                    <a:lumMod val="50000"/>
                  </a:schemeClr>
                </a:solidFill>
                <a:latin typeface="Calibri" panose="020F0502020204030204" pitchFamily="34" charset="0"/>
                <a:ea typeface="Times New Roman" panose="02020603050405020304" pitchFamily="18" charset="0"/>
                <a:cs typeface="Times New Roman" panose="02020603050405020304" pitchFamily="18" charset="0"/>
              </a:rPr>
              <a:t> </a:t>
            </a:r>
            <a:endParaRPr lang="ar-SA" b="1" dirty="0">
              <a:latin typeface="Calibri" panose="020F0502020204030204" pitchFamily="34" charset="0"/>
              <a:ea typeface="Times New Roman" panose="02020603050405020304" pitchFamily="18" charset="0"/>
              <a:cs typeface="Times New Roman" panose="02020603050405020304" pitchFamily="18" charset="0"/>
            </a:endParaRPr>
          </a:p>
          <a:p>
            <a:r>
              <a:rPr lang="ar-SA" b="1" dirty="0">
                <a:latin typeface="Calibri" panose="020F0502020204030204" pitchFamily="34" charset="0"/>
                <a:ea typeface="Times New Roman" panose="02020603050405020304" pitchFamily="18" charset="0"/>
                <a:cs typeface="Times New Roman" panose="02020603050405020304" pitchFamily="18" charset="0"/>
              </a:rPr>
              <a:t>الفصل الرابع : خاتمه واستنتاجات</a:t>
            </a:r>
            <a:endParaRPr lang="en-US" sz="12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Rectangle 2"/>
          <p:cNvSpPr/>
          <p:nvPr/>
        </p:nvSpPr>
        <p:spPr>
          <a:xfrm>
            <a:off x="136850" y="800219"/>
            <a:ext cx="12055149" cy="2923877"/>
          </a:xfrm>
          <a:prstGeom prst="rect">
            <a:avLst/>
          </a:prstGeom>
        </p:spPr>
        <p:txBody>
          <a:bodyPr wrap="square">
            <a:spAutoFit/>
          </a:bodyPr>
          <a:lstStyle/>
          <a:p>
            <a:pPr algn="just"/>
            <a:r>
              <a:rPr lang="ar-SA" sz="2000" b="1" dirty="0">
                <a:latin typeface="Calibri" panose="020F0502020204030204" pitchFamily="34" charset="0"/>
                <a:ea typeface="Times New Roman" panose="02020603050405020304" pitchFamily="18" charset="0"/>
                <a:cs typeface="Times New Roman" panose="02020603050405020304" pitchFamily="18" charset="0"/>
              </a:rPr>
              <a:t>تأمين الشبكة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b="1" dirty="0">
                <a:latin typeface="Calibri" panose="020F0502020204030204" pitchFamily="34" charset="0"/>
                <a:ea typeface="Times New Roman" panose="02020603050405020304" pitchFamily="18" charset="0"/>
                <a:cs typeface="Times New Roman" panose="02020603050405020304" pitchFamily="18" charset="0"/>
              </a:rPr>
              <a:t>يجب تأمين جميع منافذ المحول</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ar-SA" b="1" dirty="0">
                <a:latin typeface="Calibri" panose="020F0502020204030204" pitchFamily="34" charset="0"/>
                <a:ea typeface="Times New Roman" panose="02020603050405020304" pitchFamily="18" charset="0"/>
                <a:cs typeface="Times New Roman" panose="02020603050405020304" pitchFamily="18" charset="0"/>
              </a:rPr>
              <a:t>الواجهات</a:t>
            </a:r>
            <a:r>
              <a:rPr lang="en-US" b="1" dirty="0">
                <a:latin typeface="Times New Roman" panose="02020603050405020304" pitchFamily="18" charset="0"/>
                <a:ea typeface="Times New Roman" panose="02020603050405020304" pitchFamily="18" charset="0"/>
                <a:cs typeface="Times New Roman" panose="02020603050405020304" pitchFamily="18" charset="0"/>
              </a:rPr>
              <a:t> ( </a:t>
            </a:r>
            <a:r>
              <a:rPr lang="ar-SA" b="1" dirty="0">
                <a:latin typeface="Calibri" panose="020F0502020204030204" pitchFamily="34" charset="0"/>
                <a:ea typeface="Times New Roman" panose="02020603050405020304" pitchFamily="18" charset="0"/>
                <a:cs typeface="Times New Roman" panose="02020603050405020304" pitchFamily="18" charset="0"/>
              </a:rPr>
              <a:t>قبل نشر المحول للاستخدام المنتج</a:t>
            </a:r>
            <a:r>
              <a:rPr lang="en-US" b="1" dirty="0">
                <a:latin typeface="Times New Roman" panose="02020603050405020304" pitchFamily="18" charset="0"/>
                <a:ea typeface="Times New Roman" panose="02020603050405020304" pitchFamily="18" charset="0"/>
                <a:cs typeface="Times New Roman" panose="02020603050405020304" pitchFamily="18" charset="0"/>
              </a:rPr>
              <a:t> , </a:t>
            </a:r>
            <a:r>
              <a:rPr lang="ar-SA" b="1" dirty="0">
                <a:latin typeface="Calibri" panose="020F0502020204030204" pitchFamily="34" charset="0"/>
                <a:ea typeface="Times New Roman" panose="02020603050405020304" pitchFamily="18" charset="0"/>
                <a:cs typeface="Times New Roman" panose="02020603050405020304" pitchFamily="18" charset="0"/>
              </a:rPr>
              <a:t>الطريقة الأبسط والأكثر فاعلية لمنع الهجمات التي تتجاوز جدول عناوين</a:t>
            </a:r>
            <a:r>
              <a:rPr lang="en-US" b="1" dirty="0">
                <a:latin typeface="Times New Roman" panose="02020603050405020304" pitchFamily="18" charset="0"/>
                <a:ea typeface="Times New Roman" panose="02020603050405020304" pitchFamily="18" charset="0"/>
                <a:cs typeface="Times New Roman" panose="02020603050405020304" pitchFamily="18" charset="0"/>
              </a:rPr>
              <a:t> MAC </a:t>
            </a:r>
            <a:r>
              <a:rPr lang="ar-SA" b="1" dirty="0">
                <a:latin typeface="Calibri" panose="020F0502020204030204" pitchFamily="34" charset="0"/>
                <a:ea typeface="Times New Roman" panose="02020603050405020304" pitchFamily="18" charset="0"/>
                <a:cs typeface="Times New Roman" panose="02020603050405020304" pitchFamily="18" charset="0"/>
              </a:rPr>
              <a:t>هي تمكين أمان المنفذ و بسبب الاعتماد على الشبكات في عصرنا والهجمات المتكررة</a:t>
            </a:r>
            <a:endParaRPr lang="en-US" sz="1600" b="1"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sz="2000" b="1" dirty="0">
                <a:latin typeface="Calibri" panose="020F0502020204030204" pitchFamily="34" charset="0"/>
                <a:ea typeface="Times New Roman" panose="02020603050405020304" pitchFamily="18" charset="0"/>
                <a:cs typeface="Times New Roman" panose="02020603050405020304" pitchFamily="18" charset="0"/>
              </a:rPr>
              <a:t>تم إجراء إعدادات التاليه لتأمين الشبكة:</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AAA security</a:t>
            </a:r>
            <a:r>
              <a:rPr lang="en-US" dirty="0">
                <a:latin typeface="Times New Roman" panose="02020603050405020304" pitchFamily="18" charset="0"/>
                <a:ea typeface="Times New Roman" panose="02020603050405020304" pitchFamily="18" charset="0"/>
                <a:cs typeface="Times New Roman" panose="02020603050405020304" pitchFamily="18" charset="0"/>
              </a:rPr>
              <a:t> -1</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ea typeface="Times New Roman" panose="02020603050405020304" pitchFamily="18" charset="0"/>
                <a:cs typeface="Times New Roman" panose="02020603050405020304" pitchFamily="18" charset="0"/>
              </a:rPr>
              <a:t>Switch hardening-2</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ea typeface="Times New Roman" panose="02020603050405020304" pitchFamily="18" charset="0"/>
                <a:cs typeface="Times New Roman" panose="02020603050405020304" pitchFamily="18" charset="0"/>
              </a:rPr>
              <a:t>L2 Security -3</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Rectangle 3"/>
          <p:cNvSpPr/>
          <p:nvPr/>
        </p:nvSpPr>
        <p:spPr>
          <a:xfrm>
            <a:off x="68425" y="3995678"/>
            <a:ext cx="12055150" cy="2062103"/>
          </a:xfrm>
          <a:prstGeom prst="rect">
            <a:avLst/>
          </a:prstGeom>
        </p:spPr>
        <p:txBody>
          <a:bodyPr wrap="square">
            <a:spAutoFit/>
          </a:bodyPr>
          <a:lstStyle/>
          <a:p>
            <a:pPr algn="just"/>
            <a:r>
              <a:rPr lang="ar-SA" sz="2000" b="1" dirty="0">
                <a:latin typeface="Calibri" panose="020F0502020204030204" pitchFamily="34" charset="0"/>
                <a:ea typeface="Times New Roman" panose="02020603050405020304" pitchFamily="18" charset="0"/>
                <a:cs typeface="Times New Roman" panose="02020603050405020304" pitchFamily="18" charset="0"/>
              </a:rPr>
              <a:t>المراجع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الكورس الاول: </a:t>
            </a:r>
            <a:r>
              <a:rPr lang="en-US" dirty="0">
                <a:latin typeface="Times New Roman" panose="02020603050405020304" pitchFamily="18" charset="0"/>
                <a:ea typeface="Times New Roman" panose="02020603050405020304" pitchFamily="18" charset="0"/>
                <a:cs typeface="Times New Roman" panose="02020603050405020304" pitchFamily="18" charset="0"/>
              </a:rPr>
              <a:t>CCNAv7: Introduction to Networks</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u="sng" dirty="0">
                <a:solidFill>
                  <a:srgbClr val="0563C1"/>
                </a:solidFill>
                <a:latin typeface="Times New Roman" panose="02020603050405020304" pitchFamily="18" charset="0"/>
                <a:ea typeface="Times New Roman" panose="02020603050405020304" pitchFamily="18" charset="0"/>
                <a:cs typeface="Times New Roman" panose="02020603050405020304" pitchFamily="18" charset="0"/>
                <a:hlinkClick r:id="rId2"/>
              </a:rPr>
              <a:t>https://www.netacad.com/portal/web/self-enroll/m/course-349581</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الكورس الثاني: </a:t>
            </a:r>
            <a:r>
              <a:rPr lang="en-US" dirty="0">
                <a:latin typeface="Times New Roman" panose="02020603050405020304" pitchFamily="18" charset="0"/>
                <a:ea typeface="Times New Roman" panose="02020603050405020304" pitchFamily="18" charset="0"/>
                <a:cs typeface="Times New Roman" panose="02020603050405020304" pitchFamily="18" charset="0"/>
              </a:rPr>
              <a:t>CCNAv7: Switching, Routing, and Wireless Essentials</a:t>
            </a:r>
            <a:endParaRPr lang="en-US" sz="1600"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ar-SA" dirty="0">
                <a:latin typeface="Calibri" panose="020F0502020204030204" pitchFamily="34" charset="0"/>
                <a:ea typeface="Times New Roman" panose="02020603050405020304" pitchFamily="18" charset="0"/>
                <a:cs typeface="Times New Roman" panose="02020603050405020304" pitchFamily="18" charset="0"/>
              </a:rPr>
              <a:t>الرابط: </a:t>
            </a:r>
            <a:r>
              <a:rPr lang="en-US" u="sng" dirty="0">
                <a:solidFill>
                  <a:srgbClr val="0563C1"/>
                </a:solidFill>
                <a:latin typeface="Times New Roman" panose="02020603050405020304" pitchFamily="18" charset="0"/>
                <a:ea typeface="Times New Roman" panose="02020603050405020304" pitchFamily="18" charset="0"/>
                <a:cs typeface="Times New Roman" panose="02020603050405020304" pitchFamily="18" charset="0"/>
                <a:hlinkClick r:id="rId3"/>
              </a:rPr>
              <a:t>https://www.netacad.com/portal/learning</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مربع نص 5">
            <a:extLst>
              <a:ext uri="{FF2B5EF4-FFF2-40B4-BE49-F238E27FC236}">
                <a16:creationId xmlns:a16="http://schemas.microsoft.com/office/drawing/2014/main" id="{5E27F065-185B-4878-820A-1754A64EB002}"/>
              </a:ext>
            </a:extLst>
          </p:cNvPr>
          <p:cNvSpPr txBox="1"/>
          <p:nvPr/>
        </p:nvSpPr>
        <p:spPr>
          <a:xfrm>
            <a:off x="3099491" y="6488668"/>
            <a:ext cx="6129866" cy="276999"/>
          </a:xfrm>
          <a:prstGeom prst="rect">
            <a:avLst/>
          </a:prstGeom>
          <a:noFill/>
        </p:spPr>
        <p:txBody>
          <a:bodyPr wrap="square">
            <a:spAutoFit/>
          </a:bodyPr>
          <a:lstStyle/>
          <a:p>
            <a:pPr marL="0" marR="0" lvl="0" indent="0" algn="ctr" defTabSz="914400" rtl="1" eaLnBrk="0" fontAlgn="base" latinLnBrk="0" hangingPunct="0">
              <a:lnSpc>
                <a:spcPct val="100000"/>
              </a:lnSpc>
              <a:spcBef>
                <a:spcPct val="0"/>
              </a:spcBef>
              <a:spcAft>
                <a:spcPct val="0"/>
              </a:spcAft>
              <a:buClrTx/>
              <a:buSzTx/>
              <a:buFontTx/>
              <a:buNone/>
              <a:tabLst>
                <a:tab pos="2743200" algn="ctr"/>
                <a:tab pos="5486400" algn="r"/>
              </a:tabLst>
            </a:pPr>
            <a:r>
              <a:rPr lang="en-US" altLang="en-US" sz="1200" dirty="0">
                <a:latin typeface="Calibri" panose="020F0502020204030204" pitchFamily="34" charset="0"/>
                <a:cs typeface="Times New Roman" panose="02020603050405020304" pitchFamily="18" charset="0"/>
              </a:rPr>
              <a:t>36</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8427179"/>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1129</TotalTime>
  <Words>5936</Words>
  <Application>Microsoft Office PowerPoint</Application>
  <PresentationFormat>شاشة عريضة</PresentationFormat>
  <Paragraphs>637</Paragraphs>
  <Slides>36</Slides>
  <Notes>3</Notes>
  <HiddenSlides>0</HiddenSlides>
  <MMClips>0</MMClips>
  <ScaleCrop>false</ScaleCrop>
  <HeadingPairs>
    <vt:vector size="6" baseType="variant">
      <vt:variant>
        <vt:lpstr>الخطوط المستخدمة</vt:lpstr>
      </vt:variant>
      <vt:variant>
        <vt:i4>6</vt:i4>
      </vt:variant>
      <vt:variant>
        <vt:lpstr>نسق</vt:lpstr>
      </vt:variant>
      <vt:variant>
        <vt:i4>1</vt:i4>
      </vt:variant>
      <vt:variant>
        <vt:lpstr>عناوين الشرائح</vt:lpstr>
      </vt:variant>
      <vt:variant>
        <vt:i4>36</vt:i4>
      </vt:variant>
    </vt:vector>
  </HeadingPairs>
  <TitlesOfParts>
    <vt:vector size="43" baseType="lpstr">
      <vt:lpstr>Arial</vt:lpstr>
      <vt:lpstr>Calibri</vt:lpstr>
      <vt:lpstr>Calibri Light</vt:lpstr>
      <vt:lpstr>Courier New</vt:lpstr>
      <vt:lpstr>Symbol</vt:lpstr>
      <vt:lpstr>Times New Roman</vt:lpstr>
      <vt:lpstr>نسق Office</vt:lpstr>
      <vt:lpstr>  العلوم الطبيعية التطبيقية برنامج الأمن السيبراني  </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  DHCPv4    خادم DHCPv4 والعميل   يقوم بروتوكول التكوين الديناميكي للمضيف (DHCPv4) بتعيين عناوين IPv4 ومعلومات تكوين الشبكة الأخرى ديناميكيًا. نظرًا لأن عملاء سطح المكتب يشكلون عادةً الجزء الأكبر من عقد الشبكة ، فإن DHCPv4 يعد أداة مفيدة للغاية وموفرة للوقت لمسؤولي الشبكات.  خادم DHCPv4 المخصص قابل للتطوير وسهل الإدارة نسبيًا. ومع ذلك ، في فرع صغير أو موقع SOHO ، يمكن تكوين موجه Cisco لتوفير خدمات DHCPv4 دون الحاجة إلى خادم مخصص. يدعم برنامج Cisco IOS خادم DHCPv4 اختياري كامل الميزات.  يقوم خادم DHCPv4 ديناميكيًا بتعيين أو تأجير عنوان IPv4 من مجموعة عناوين لفترة زمنية محدودة يختارها الخادم ، أو حتى لا يحتاج العميل إلى العنوان.   يقوم العملاء باستئجار المعلومات من الخادم لفترة محددة إداريًا. يقوم المسؤولون بتكوين خوادم DHCPv4 لتعيين مهلة عقود الإيجار على فترات زمنية مختلفة. عادة ما يكون عقد الإيجار في أي مكان من 24 ساعة إلى أسبوع أو أكثر. عند انتهاء عقد الإيجار ، يجب على العميل أن يطلب عنوانًا آخر ، على الرغم من إعادة تعيين العميل عادةً بنفس العنوان. </vt:lpstr>
      <vt:lpstr>  عملية DHCPv4   يعمل DHCPv4 في وضع العميل / الخادم. عندما يتصل العميل بخادم DHCPv4 ، يقوم الخادم بتعيين أو تأجير عنوان IPv4 لذلك العميل. يتصل العميل بالشبكة بعنوان IPv4 المؤجر هذا حتى انتهاء عقد الإيجار. يجب على العميل الاتصال بخادم  DHCP بشكل دوري لتمديد عقد الإيجار. تضمن آلية التأجير هذه أن العملاء الذين ينتقلون أو يتوقفون عن العمل لا يحتفظون بالعناوين التي لم يعودوا بحاجة إليها. عند انتهاء صلاحية عقد الإيجار ، يقوم خادم DHCP   بإرجاع العنوان إلى التجمع حيث يمكن إعادة تخصيصه حسب الضرورة.   خادم Cisco IOS DHCPv4   الآن لديك فهم أساسي لكيفية عمل DHCPv4  وكيف يمكن أن يجعل عملك أسهل قليلاً. إذا لم يكن لديك خادم DHCPv4  منفصل ، فسيوضح لك هذا الموضوع كيفية تكوين موجه Cisco IOS للعمل كواحد. يمكن تكوين موجه Cisco  الذي يقوم بتشغيل برنامج Cisco IOS  ليعمل كخادم DHCPv4. يقوم خادم Cisco IOS DHCPv4  بتعيين وإدارة عناوين IPv4  من تجمعات العناوين المحددة داخل جهاز التوجيه لعملاء DHCPv4.     خطوات تكوين خادم Cisco IOS DHCPv4   تكوين R1   الخطوة 1. استبعاد عناوين IPv4   يقوم جهاز التوجيه الذي يعمل كخادم DHCPv4  بتعيين كافة عناوين IPv4  في تجمع عناوين DHCPv4  ما لم يتم تكوينه لاستبعاد عناوين محددة. عادةً ما يتم تعيين بعض عناوين IPv4  في التجمع لأجهزة الشبكة التي تتطلب تعيينات عناوين ثابتة. لذلك ، لا ينبغي تعيين عناوين IPv4  هذه لأجهزة أخرى. صيغة الأمر لاستبعاد عناوين IPv4  هي كما يلي: </vt:lpstr>
      <vt:lpstr>الخطوة 2. تحديد اسم تجمع DHCPv4   يتضمن تكوين خادم DHCPv4  تحديد مجموعة من العناوين لتعيينها.   يقوم الأمر ip dhcp pool pool-name  بإنشاء تجمع بالاسم المحدد ويضع جهاز التوجيه في وضع تكوين DHCPv4 ، والذي يتم تحديده بواسطة موجه الموجه (dhcp-config) #.   بناء جملة الأمر لتعريف التجمع هو كما يلي: </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العلوم الطبيعية التطبيقية برنامج الأمن السيبراني</dc:title>
  <dc:creator>YASSER ALHARBI</dc:creator>
  <cp:lastModifiedBy>ali almutairi</cp:lastModifiedBy>
  <cp:revision>60</cp:revision>
  <dcterms:created xsi:type="dcterms:W3CDTF">2021-04-03T18:45:18Z</dcterms:created>
  <dcterms:modified xsi:type="dcterms:W3CDTF">2021-04-25T03:39:03Z</dcterms:modified>
</cp:coreProperties>
</file>